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55"/>
  </p:notesMasterIdLst>
  <p:sldIdLst>
    <p:sldId id="649" r:id="rId2"/>
    <p:sldId id="684" r:id="rId3"/>
    <p:sldId id="685" r:id="rId4"/>
    <p:sldId id="650" r:id="rId5"/>
    <p:sldId id="651" r:id="rId6"/>
    <p:sldId id="690" r:id="rId7"/>
    <p:sldId id="652" r:id="rId8"/>
    <p:sldId id="653" r:id="rId9"/>
    <p:sldId id="686" r:id="rId10"/>
    <p:sldId id="687" r:id="rId11"/>
    <p:sldId id="689" r:id="rId12"/>
    <p:sldId id="688" r:id="rId13"/>
    <p:sldId id="654" r:id="rId14"/>
    <p:sldId id="655" r:id="rId15"/>
    <p:sldId id="656" r:id="rId16"/>
    <p:sldId id="691" r:id="rId17"/>
    <p:sldId id="657" r:id="rId18"/>
    <p:sldId id="692" r:id="rId19"/>
    <p:sldId id="658" r:id="rId20"/>
    <p:sldId id="659" r:id="rId21"/>
    <p:sldId id="660" r:id="rId22"/>
    <p:sldId id="678" r:id="rId23"/>
    <p:sldId id="600" r:id="rId24"/>
    <p:sldId id="693" r:id="rId25"/>
    <p:sldId id="601" r:id="rId26"/>
    <p:sldId id="679" r:id="rId27"/>
    <p:sldId id="680" r:id="rId28"/>
    <p:sldId id="661" r:id="rId29"/>
    <p:sldId id="665" r:id="rId30"/>
    <p:sldId id="670" r:id="rId31"/>
    <p:sldId id="674" r:id="rId32"/>
    <p:sldId id="681" r:id="rId33"/>
    <p:sldId id="682" r:id="rId34"/>
    <p:sldId id="662" r:id="rId35"/>
    <p:sldId id="683" r:id="rId36"/>
    <p:sldId id="663" r:id="rId37"/>
    <p:sldId id="694" r:id="rId38"/>
    <p:sldId id="696" r:id="rId39"/>
    <p:sldId id="695" r:id="rId40"/>
    <p:sldId id="700" r:id="rId41"/>
    <p:sldId id="664" r:id="rId42"/>
    <p:sldId id="675" r:id="rId43"/>
    <p:sldId id="671" r:id="rId44"/>
    <p:sldId id="673" r:id="rId45"/>
    <p:sldId id="672" r:id="rId46"/>
    <p:sldId id="697" r:id="rId47"/>
    <p:sldId id="676" r:id="rId48"/>
    <p:sldId id="677" r:id="rId49"/>
    <p:sldId id="668" r:id="rId50"/>
    <p:sldId id="669" r:id="rId51"/>
    <p:sldId id="667" r:id="rId52"/>
    <p:sldId id="698" r:id="rId53"/>
    <p:sldId id="699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7E4BD"/>
    <a:srgbClr val="DBEEF4"/>
    <a:srgbClr val="00B0F0"/>
    <a:srgbClr val="FFFFFF"/>
    <a:srgbClr val="616161"/>
    <a:srgbClr val="C6D9F1"/>
    <a:srgbClr val="5D5D5D"/>
    <a:srgbClr val="E5E5E5"/>
    <a:srgbClr val="FF0000"/>
    <a:srgbClr val="006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96" autoAdjust="0"/>
    <p:restoredTop sz="95778" autoAdjust="0"/>
  </p:normalViewPr>
  <p:slideViewPr>
    <p:cSldViewPr>
      <p:cViewPr varScale="1">
        <p:scale>
          <a:sx n="128" d="100"/>
          <a:sy n="128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7BBF0-95DB-485B-8F44-219DC193D725}" type="datetimeFigureOut">
              <a:rPr lang="en-US" smtClean="0"/>
              <a:pPr/>
              <a:t>5/20/25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49B44-D953-4C15-A5A6-64A7BF99D1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3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147A2-B1AE-4B49-86D0-95E4AF5C0332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4F78F-1507-45CF-AF0E-7031D4A0A840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DE-2C6C-4DE7-9B70-2F953F71D94E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876F2-C365-486F-BD88-A8BB0E60F8F5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90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4040188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890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28800"/>
            <a:ext cx="4041775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EBE4-9256-4B87-9519-74F101175542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639A4-2BB0-4495-A692-6708B06A12E2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4C9C-56CF-4548-B46E-188A08787E2D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4D78-0834-4499-ABF2-1E3C4B35D3D0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A1C5-53AE-43D7-B59C-D412358FE8BD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8229600" cy="4983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07BC-101A-41B9-9D02-AA9CC044FBEA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7AB0-2CB6-485B-8F59-A703156756D7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CE6C3-2677-4A81-822A-EFD281C79F6F}" type="datetime1">
              <a:rPr lang="en-US" smtClean="0"/>
              <a:pPr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86C0-20AF-4436-9657-2E51CD1213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VeriNum/pardotpro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9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3" Type="http://schemas.openxmlformats.org/officeDocument/2006/relationships/image" Target="../media/image17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image" Target="../media/image160.png"/><Relationship Id="rId16" Type="http://schemas.openxmlformats.org/officeDocument/2006/relationships/image" Target="../media/image3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3" Type="http://schemas.openxmlformats.org/officeDocument/2006/relationships/image" Target="../media/image17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image" Target="../media/image160.png"/><Relationship Id="rId16" Type="http://schemas.openxmlformats.org/officeDocument/2006/relationships/image" Target="../media/image3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10.png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0.pn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VeriNum/pardotprod" TargetMode="Externa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 Dot Product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09028" y="5397049"/>
            <a:ext cx="18810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Princeton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University</a:t>
            </a:r>
          </a:p>
        </p:txBody>
      </p:sp>
      <p:pic>
        <p:nvPicPr>
          <p:cNvPr id="6" name="Picture 7" descr="shiel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5435" y="5260631"/>
            <a:ext cx="1035996" cy="936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15654" y="5958001"/>
            <a:ext cx="503766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FontTx/>
              <a:buNone/>
              <a:defRPr/>
            </a:pPr>
            <a:r>
              <a:rPr lang="en-US" sz="2000" kern="0" dirty="0">
                <a:solidFill>
                  <a:sysClr val="windowText" lastClr="000000"/>
                </a:solidFill>
              </a:rPr>
              <a:t>August 2022 </a:t>
            </a:r>
          </a:p>
          <a:p>
            <a:pPr algn="l">
              <a:spcBef>
                <a:spcPts val="0"/>
              </a:spcBef>
              <a:buFontTx/>
              <a:buNone/>
              <a:defRPr/>
            </a:pPr>
            <a:r>
              <a:rPr lang="en-US" sz="1700" kern="0" dirty="0">
                <a:solidFill>
                  <a:sysClr val="windowText" lastClr="000000"/>
                </a:solidFill>
              </a:rPr>
              <a:t>narration put into writing, May 2025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90500" y="4755144"/>
            <a:ext cx="396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2800" b="1" kern="0" dirty="0">
                <a:solidFill>
                  <a:sysClr val="windowText" lastClr="000000"/>
                </a:solidFill>
              </a:rPr>
              <a:t>Andrew W. Appel</a:t>
            </a:r>
            <a:endParaRPr lang="en-US" sz="2000" b="1" kern="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@VeriNum">
            <a:extLst>
              <a:ext uri="{FF2B5EF4-FFF2-40B4-BE49-F238E27FC236}">
                <a16:creationId xmlns:a16="http://schemas.microsoft.com/office/drawing/2014/main" id="{31E5841B-5C6B-E2CE-CF85-9C55B0F16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31355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511435-286F-6B41-7318-AB525F892993}"/>
              </a:ext>
            </a:extLst>
          </p:cNvPr>
          <p:cNvSpPr txBox="1"/>
          <p:nvPr/>
        </p:nvSpPr>
        <p:spPr>
          <a:xfrm>
            <a:off x="2399074" y="35901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https://github.com/VeriNum/pardotprod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9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B8FB-BDFA-41D3-B2F4-89F6C563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952E-C3BB-704B-0965-69ECE9612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We demonstrate how to use the Verified Software Toolchain</a:t>
            </a:r>
          </a:p>
          <a:p>
            <a:pPr marL="0" indent="0">
              <a:buNone/>
            </a:pPr>
            <a:r>
              <a:rPr lang="en-US" sz="1800" dirty="0"/>
              <a:t>to prove correctness of a parallel program that uses barrier</a:t>
            </a:r>
          </a:p>
          <a:p>
            <a:pPr marL="0" indent="0">
              <a:buNone/>
            </a:pPr>
            <a:r>
              <a:rPr lang="en-US" sz="1800" dirty="0"/>
              <a:t>synchronization implemented with binary semaphores.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That is: master thread breaks the job into T separate tasks, hands off T-1 tasks</a:t>
            </a:r>
          </a:p>
          <a:p>
            <a:pPr marL="0" indent="0">
              <a:buNone/>
            </a:pPr>
            <a:r>
              <a:rPr lang="en-US" sz="1800" dirty="0"/>
              <a:t>to other threads (that are already waiting for them) by releasing per-thread semaphores.  Then the master works on one task, then waits on T-1 semaphores</a:t>
            </a:r>
          </a:p>
          <a:p>
            <a:pPr marL="0" indent="0">
              <a:buNone/>
            </a:pPr>
            <a:r>
              <a:rPr lang="en-US" sz="1800" dirty="0"/>
              <a:t>for all the other threads to finish their task.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As an example, we demonstrate parallel dot product.  But the work-splitting</a:t>
            </a:r>
          </a:p>
          <a:p>
            <a:pPr marL="0" indent="0">
              <a:buNone/>
            </a:pPr>
            <a:r>
              <a:rPr lang="en-US" sz="1800" dirty="0"/>
              <a:t>API is quite general.  It would easily apply to more useful parallel “clients” such as blocked matrix multiply or other algorithms that can use barrier synchronization.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0045A-BE34-54BE-CC9C-41ADEB2B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Verified Software Toolchain">
            <a:extLst>
              <a:ext uri="{FF2B5EF4-FFF2-40B4-BE49-F238E27FC236}">
                <a16:creationId xmlns:a16="http://schemas.microsoft.com/office/drawing/2014/main" id="{A7E84CAE-EB58-A639-DA2F-8CC8CFF809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1245220"/>
            <a:ext cx="1266375" cy="103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7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5594-759B-C91D-EC64-5B1C2C55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1:  The client program and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C793-52E2-622F-0222-F167B90E9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part 1 we don’t use formal methods at all.  We just present the C program that we intend to prove correct.   The program is divided into</a:t>
            </a:r>
          </a:p>
          <a:p>
            <a:r>
              <a:rPr lang="en-US" dirty="0"/>
              <a:t>a parallelism API (for handling work that’s split into T tasks) and</a:t>
            </a:r>
          </a:p>
          <a:p>
            <a:r>
              <a:rPr lang="en-US" dirty="0"/>
              <a:t>an application “client” program that uses the API (in this case, parallel dot-product).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D3AE-37EE-C7C4-07EB-C28E0E47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6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6743-2A82-FEF5-7A3C-C32DAC5A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Task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631B-0AB4-4597-3809-E7FBADECC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Have a function to compute on big data</a:t>
            </a:r>
          </a:p>
          <a:p>
            <a:endParaRPr lang="en-US" dirty="0"/>
          </a:p>
          <a:p>
            <a:r>
              <a:rPr lang="en-US" dirty="0"/>
              <a:t>Have T processors</a:t>
            </a:r>
          </a:p>
          <a:p>
            <a:endParaRPr lang="en-US" dirty="0"/>
          </a:p>
          <a:p>
            <a:r>
              <a:rPr lang="en-US" dirty="0"/>
              <a:t>Divide computation into T subfunctions </a:t>
            </a:r>
            <a:r>
              <a:rPr lang="en-US" sz="1800" dirty="0"/>
              <a:t>(compute in parallel)</a:t>
            </a:r>
          </a:p>
          <a:p>
            <a:endParaRPr lang="en-US" dirty="0"/>
          </a:p>
          <a:p>
            <a:r>
              <a:rPr lang="en-US" dirty="0"/>
              <a:t>Combine </a:t>
            </a:r>
            <a:r>
              <a:rPr lang="en-US" dirty="0" err="1"/>
              <a:t>subresults</a:t>
            </a:r>
            <a:r>
              <a:rPr lang="en-US" dirty="0"/>
              <a:t>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D1FE35-96E4-F1DF-8EA0-B896ECAA142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≝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D1FE35-96E4-F1DF-8EA0-B896ECAA1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815C6-FDC1-3CD6-EB7A-9132F730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2561346-8D36-B967-FDF1-03212042F504}"/>
              </a:ext>
            </a:extLst>
          </p:cNvPr>
          <p:cNvSpPr/>
          <p:nvPr/>
        </p:nvSpPr>
        <p:spPr>
          <a:xfrm>
            <a:off x="7315199" y="838200"/>
            <a:ext cx="1676401" cy="599060"/>
          </a:xfrm>
          <a:prstGeom prst="wedgeEllipseCallout">
            <a:avLst>
              <a:gd name="adj1" fmla="val -106851"/>
              <a:gd name="adj2" fmla="val 4176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All ranges are [</a:t>
            </a:r>
            <a:r>
              <a:rPr lang="en-US" sz="1600" dirty="0" err="1"/>
              <a:t>lo,hi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56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API for work-splitting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4419600" cy="228728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    unsigned t,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    void (*f)(void *),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    void *closure);</a:t>
            </a: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64E04849-36D2-447E-8EDE-04993B89012F}"/>
              </a:ext>
            </a:extLst>
          </p:cNvPr>
          <p:cNvSpPr/>
          <p:nvPr/>
        </p:nvSpPr>
        <p:spPr>
          <a:xfrm>
            <a:off x="5638800" y="1066800"/>
            <a:ext cx="2832234" cy="533400"/>
          </a:xfrm>
          <a:prstGeom prst="wedgeEllipseCallout">
            <a:avLst>
              <a:gd name="adj1" fmla="val -105002"/>
              <a:gd name="adj2" fmla="val 35432"/>
            </a:avLst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 T-1  threads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(plus parent makes 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93B5922F-420B-CCDB-8BFC-E843108F9E29}"/>
                  </a:ext>
                </a:extLst>
              </p:cNvPr>
              <p:cNvSpPr/>
              <p:nvPr/>
            </p:nvSpPr>
            <p:spPr>
              <a:xfrm>
                <a:off x="5334000" y="1831364"/>
                <a:ext cx="3505200" cy="1064235"/>
              </a:xfrm>
              <a:prstGeom prst="wedgeEllipseCallout">
                <a:avLst>
                  <a:gd name="adj1" fmla="val -72325"/>
                  <a:gd name="adj2" fmla="val 11012"/>
                </a:avLst>
              </a:prstGeom>
              <a:solidFill>
                <a:srgbClr val="FFFF00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Tell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aseline="30000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thread where to find its work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93B5922F-420B-CCDB-8BFC-E843108F9E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831364"/>
                <a:ext cx="3505200" cy="1064235"/>
              </a:xfrm>
              <a:prstGeom prst="wedgeEllipseCallout">
                <a:avLst>
                  <a:gd name="adj1" fmla="val -72325"/>
                  <a:gd name="adj2" fmla="val 11012"/>
                </a:avLst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E2869C38-C0E3-906D-A93B-ACB8F52155EC}"/>
              </a:ext>
            </a:extLst>
          </p:cNvPr>
          <p:cNvSpPr/>
          <p:nvPr/>
        </p:nvSpPr>
        <p:spPr>
          <a:xfrm>
            <a:off x="5334000" y="3135586"/>
            <a:ext cx="3505200" cy="1064235"/>
          </a:xfrm>
          <a:prstGeom prst="wedgeEllipseCallout">
            <a:avLst>
              <a:gd name="adj1" fmla="val -63538"/>
              <a:gd name="adj2" fmla="val -36018"/>
            </a:avLst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 all the threads on their work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(can do this again and again)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DFAD1-E0E1-C54B-18DB-3ECDE26626BD}"/>
              </a:ext>
            </a:extLst>
          </p:cNvPr>
          <p:cNvSpPr txBox="1"/>
          <p:nvPr/>
        </p:nvSpPr>
        <p:spPr>
          <a:xfrm>
            <a:off x="672966" y="835325"/>
            <a:ext cx="1447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parsplit.h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B2744-2038-43DE-95DE-ACAA1D1C6CCE}"/>
              </a:ext>
            </a:extLst>
          </p:cNvPr>
          <p:cNvSpPr txBox="1"/>
          <p:nvPr/>
        </p:nvSpPr>
        <p:spPr>
          <a:xfrm>
            <a:off x="486937" y="4199821"/>
            <a:ext cx="78621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What’s in a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 task </a:t>
            </a:r>
            <a:r>
              <a:rPr lang="en-US" dirty="0"/>
              <a:t>is the private information of the task-scheduling</a:t>
            </a:r>
          </a:p>
          <a:p>
            <a:r>
              <a:rPr lang="en-US" dirty="0"/>
              <a:t>system (</a:t>
            </a:r>
            <a:r>
              <a:rPr lang="en-US" dirty="0" err="1"/>
              <a:t>parsplit.c</a:t>
            </a:r>
            <a:r>
              <a:rPr lang="en-US" dirty="0"/>
              <a:t>) but you can imagine it contains a couple of semaphores, among other things.</a:t>
            </a:r>
          </a:p>
          <a:p>
            <a:endParaRPr lang="en-US" dirty="0"/>
          </a:p>
          <a:p>
            <a:r>
              <a:rPr lang="en-US" dirty="0"/>
              <a:t>The client decides what operation is to be performed in a task, and passes that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initialize_task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as the function-parameter f accompanied by supplementary client-side information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closure</a:t>
            </a:r>
            <a:r>
              <a:rPr lang="en-US" dirty="0"/>
              <a:t>.  The client will 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initialize_task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 times,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dirty="0"/>
              <a:t>ranging from 0 to T-1, presumably with different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closure </a:t>
            </a:r>
            <a:r>
              <a:rPr lang="en-US" dirty="0"/>
              <a:t>values for each one.</a:t>
            </a:r>
          </a:p>
        </p:txBody>
      </p:sp>
    </p:spTree>
    <p:extLst>
      <p:ext uri="{BB962C8B-B14F-4D97-AF65-F5344CB8AC3E}">
        <p14:creationId xmlns:p14="http://schemas.microsoft.com/office/powerpoint/2010/main" val="294842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850E-D55E-E6A4-B9C5-49D6A3A1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Scenario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D8C275-CC5A-3D97-70A5-CC959AF5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247D14-C22C-F8E5-3A10-03EEAC7D8BBB}"/>
                  </a:ext>
                </a:extLst>
              </p:cNvPr>
              <p:cNvSpPr txBox="1"/>
              <p:nvPr/>
            </p:nvSpPr>
            <p:spPr>
              <a:xfrm>
                <a:off x="762000" y="1371600"/>
                <a:ext cx="7696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processors, and your program is going to compute many dot products on vectors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First, use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make_tasks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to create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threads, and then use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initialize_task</a:t>
                </a:r>
                <a:r>
                  <a:rPr lang="en-US" dirty="0"/>
                  <a:t> to tell each thread what work it’s going to have to do.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247D14-C22C-F8E5-3A10-03EEAC7D8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371600"/>
                <a:ext cx="7696200" cy="1477328"/>
              </a:xfrm>
              <a:prstGeom prst="rect">
                <a:avLst/>
              </a:prstGeom>
              <a:blipFill>
                <a:blip r:embed="rId2"/>
                <a:stretch>
                  <a:fillRect l="-659" t="-1709" r="-494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79">
            <a:extLst>
              <a:ext uri="{FF2B5EF4-FFF2-40B4-BE49-F238E27FC236}">
                <a16:creationId xmlns:a16="http://schemas.microsoft.com/office/drawing/2014/main" id="{D5E49F9B-1875-A1D7-56B5-B21228DD0239}"/>
              </a:ext>
            </a:extLst>
          </p:cNvPr>
          <p:cNvSpPr/>
          <p:nvPr/>
        </p:nvSpPr>
        <p:spPr>
          <a:xfrm>
            <a:off x="1143000" y="2971800"/>
            <a:ext cx="4838640" cy="260736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make_dotprod_tasks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 =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(T);</a:t>
            </a: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. . .  </a:t>
            </a:r>
            <a:r>
              <a:rPr lang="en-US" sz="1400" dirty="0">
                <a:latin typeface="+mj-lt"/>
                <a:ea typeface="Source Sans Pro" panose="020B0503030403020204" pitchFamily="34" charset="0"/>
              </a:rPr>
              <a:t>/* </a:t>
            </a:r>
            <a:r>
              <a:rPr lang="en-US" sz="1400" i="1" dirty="0">
                <a:latin typeface="+mj-lt"/>
                <a:ea typeface="Source Sans Pro" panose="020B0503030403020204" pitchFamily="34" charset="0"/>
              </a:rPr>
              <a:t>more to come</a:t>
            </a:r>
            <a:r>
              <a:rPr lang="en-US" sz="1400" dirty="0">
                <a:latin typeface="+mj-lt"/>
                <a:ea typeface="Source Sans Pro" panose="020B0503030403020204" pitchFamily="34" charset="0"/>
              </a:rPr>
              <a:t> */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 . .</a:t>
            </a: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(t=0; t&lt;T; t++)  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(tasks, t,  ... /* </a:t>
            </a:r>
            <a:r>
              <a:rPr lang="en-US" sz="1400" i="1" dirty="0">
                <a:latin typeface="+mj-lt"/>
                <a:ea typeface="Source Sans Pro" panose="020B0503030403020204" pitchFamily="34" charset="0"/>
              </a:rPr>
              <a:t>more to come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*/ ... 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72DFC0-8254-C9B6-8E50-B31306080089}"/>
                  </a:ext>
                </a:extLst>
              </p:cNvPr>
              <p:cNvSpPr txBox="1"/>
              <p:nvPr/>
            </p:nvSpPr>
            <p:spPr>
              <a:xfrm>
                <a:off x="609600" y="5695411"/>
                <a:ext cx="771939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Later, when the program wants to compute a dot-product, it will</a:t>
                </a:r>
              </a:p>
              <a:p>
                <a:r>
                  <a:rPr lang="en-US" dirty="0"/>
                  <a:t>update the per-task data (i.e., the vectors to be multiplied) and call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do_tasks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to start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threads working.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72DFC0-8254-C9B6-8E50-B3130608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695411"/>
                <a:ext cx="7719391" cy="923330"/>
              </a:xfrm>
              <a:prstGeom prst="rect">
                <a:avLst/>
              </a:prstGeom>
              <a:blipFill>
                <a:blip r:embed="rId3"/>
                <a:stretch>
                  <a:fillRect l="-658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87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B5FB7346-D579-37D6-7B9A-03981E28B48E}"/>
              </a:ext>
            </a:extLst>
          </p:cNvPr>
          <p:cNvSpPr/>
          <p:nvPr/>
        </p:nvSpPr>
        <p:spPr>
          <a:xfrm>
            <a:off x="4456390" y="2945332"/>
            <a:ext cx="2630210" cy="635414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one slice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of 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n=10, T=4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B0D55-2899-D733-0790-D00A6A297361}"/>
              </a:ext>
            </a:extLst>
          </p:cNvPr>
          <p:cNvGrpSpPr/>
          <p:nvPr/>
        </p:nvGrpSpPr>
        <p:grpSpPr>
          <a:xfrm>
            <a:off x="4724400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3AD8E-A8FE-CC0C-BF43-A33550227023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C2CDAD-534E-A9F7-A4D8-B8EE2FAD2457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E1A3C5-7675-5813-4E41-E69C96FD445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11B77E-CF7D-5F21-DC45-B56DF6E2ECB3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95DD48-E6D4-C3A3-30AB-4BC719731758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EB67F5-2927-FCC7-89AA-EA6D71AC4004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C77942-D7F9-1A22-2A4B-4C317F172FAF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D6998B-FAF4-BC04-D3A6-7721AA34F183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B09ED7-E6EC-864F-BD09-42EF451031F5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26622C-594C-D4C5-03FC-5C4775AEDE9F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AFB1D7-AD60-FEBB-1B7A-F57776EA37F2}"/>
              </a:ext>
            </a:extLst>
          </p:cNvPr>
          <p:cNvGrpSpPr/>
          <p:nvPr/>
        </p:nvGrpSpPr>
        <p:grpSpPr>
          <a:xfrm>
            <a:off x="54864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465C35-51BC-017A-34CD-9DD522954162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AC188F-99FF-5C29-DD40-20F9A46C23DA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59149A-EA60-76C6-44DF-CEA47534B12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763DBB-413F-C755-AEEA-61B710DA24A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AC83E4-CEE6-3F5C-AD1A-73BF4DD3F8B0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23B4099-C91D-5ED1-AA20-D66903451068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F45750-211E-E849-158A-53DADC0E81C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1CDDFFB-A031-90F0-A648-7B40B719334F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0DCB0E-F981-9BC5-81A1-FFC0967A3069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5F023D3-BCAC-9260-5DA9-F03A1D6241FC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/>
              <p:nvPr/>
            </p:nvSpPr>
            <p:spPr>
              <a:xfrm>
                <a:off x="4741866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866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/>
              <p:nvPr/>
            </p:nvSpPr>
            <p:spPr>
              <a:xfrm>
                <a:off x="54835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5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8063CEA4-AA20-E02C-5F11-A757FEAFAACA}"/>
              </a:ext>
            </a:extLst>
          </p:cNvPr>
          <p:cNvSpPr txBox="1"/>
          <p:nvPr/>
        </p:nvSpPr>
        <p:spPr>
          <a:xfrm>
            <a:off x="4456390" y="24899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C26302-7B6B-6C84-EAE2-2019EE9D851D}"/>
              </a:ext>
            </a:extLst>
          </p:cNvPr>
          <p:cNvSpPr txBox="1"/>
          <p:nvPr/>
        </p:nvSpPr>
        <p:spPr>
          <a:xfrm>
            <a:off x="4406697" y="461053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D620B9-D145-2772-A342-715924C130B9}"/>
                  </a:ext>
                </a:extLst>
              </p:cNvPr>
              <p:cNvSpPr txBox="1"/>
              <p:nvPr/>
            </p:nvSpPr>
            <p:spPr>
              <a:xfrm>
                <a:off x="1219200" y="2594200"/>
                <a:ext cx="17526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D620B9-D145-2772-A342-715924C13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594200"/>
                <a:ext cx="175260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61BD0F-9C8D-A90A-2772-60EC79E396FB}"/>
                  </a:ext>
                </a:extLst>
              </p:cNvPr>
              <p:cNvSpPr txBox="1"/>
              <p:nvPr/>
            </p:nvSpPr>
            <p:spPr>
              <a:xfrm>
                <a:off x="3371195" y="23176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61BD0F-9C8D-A90A-2772-60EC79E39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95" y="2317618"/>
                <a:ext cx="381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0F7A39-9CA8-0C68-0566-2AB27E835273}"/>
                  </a:ext>
                </a:extLst>
              </p:cNvPr>
              <p:cNvSpPr txBox="1"/>
              <p:nvPr/>
            </p:nvSpPr>
            <p:spPr>
              <a:xfrm>
                <a:off x="3371195" y="2797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0F7A39-9CA8-0C68-0566-2AB27E835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95" y="2797727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9B42AD8-B727-401F-AED8-2F8F34685E24}"/>
                  </a:ext>
                </a:extLst>
              </p:cNvPr>
              <p:cNvSpPr txBox="1"/>
              <p:nvPr/>
            </p:nvSpPr>
            <p:spPr>
              <a:xfrm>
                <a:off x="3371195" y="347580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9B42AD8-B727-401F-AED8-2F8F34685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95" y="347580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3B5789-0FB7-EB21-5228-2E83492D5E9C}"/>
                  </a:ext>
                </a:extLst>
              </p:cNvPr>
              <p:cNvSpPr txBox="1"/>
              <p:nvPr/>
            </p:nvSpPr>
            <p:spPr>
              <a:xfrm>
                <a:off x="3371195" y="39692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3B5789-0FB7-EB21-5228-2E83492D5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95" y="3969219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28B82D-1D07-D94D-6BB5-D4B9173310D1}"/>
                  </a:ext>
                </a:extLst>
              </p:cNvPr>
              <p:cNvSpPr txBox="1"/>
              <p:nvPr/>
            </p:nvSpPr>
            <p:spPr>
              <a:xfrm>
                <a:off x="3380820" y="451171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28B82D-1D07-D94D-6BB5-D4B917331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820" y="4511712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FB05887-85FD-3626-9DFC-8EC61B82908B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3752195" y="2502284"/>
            <a:ext cx="969357" cy="12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C24EEAD-8E5E-8871-EFAC-B9A9E3567B6C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3752195" y="2945331"/>
            <a:ext cx="944933" cy="3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CED66D-7E3E-7DD5-72B1-218FABDAE563}"/>
              </a:ext>
            </a:extLst>
          </p:cNvPr>
          <p:cNvCxnSpPr>
            <a:cxnSpLocks/>
          </p:cNvCxnSpPr>
          <p:nvPr/>
        </p:nvCxnSpPr>
        <p:spPr>
          <a:xfrm flipV="1">
            <a:off x="3795509" y="3609474"/>
            <a:ext cx="901619" cy="7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F37E89-2A66-77B5-A26A-59B8F75AB5D0}"/>
              </a:ext>
            </a:extLst>
          </p:cNvPr>
          <p:cNvCxnSpPr>
            <a:cxnSpLocks/>
          </p:cNvCxnSpPr>
          <p:nvPr/>
        </p:nvCxnSpPr>
        <p:spPr>
          <a:xfrm flipV="1">
            <a:off x="3748184" y="4013735"/>
            <a:ext cx="977820" cy="17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6CE1CC8-4508-91AB-C229-07E23B9CBF1A}"/>
              </a:ext>
            </a:extLst>
          </p:cNvPr>
          <p:cNvCxnSpPr>
            <a:cxnSpLocks/>
          </p:cNvCxnSpPr>
          <p:nvPr/>
        </p:nvCxnSpPr>
        <p:spPr>
          <a:xfrm flipV="1">
            <a:off x="3727287" y="4635366"/>
            <a:ext cx="994265" cy="95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D0D4ED1-DBCA-0979-7532-0F8CE4B04754}"/>
              </a:ext>
            </a:extLst>
          </p:cNvPr>
          <p:cNvGrpSpPr/>
          <p:nvPr/>
        </p:nvGrpSpPr>
        <p:grpSpPr>
          <a:xfrm>
            <a:off x="1066800" y="2945331"/>
            <a:ext cx="4723986" cy="2363365"/>
            <a:chOff x="1066800" y="2945331"/>
            <a:chExt cx="4723986" cy="236336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BE47DEA-63E2-3689-1D5B-3F7A6AB8D4BF}"/>
                </a:ext>
              </a:extLst>
            </p:cNvPr>
            <p:cNvGrpSpPr/>
            <p:nvPr/>
          </p:nvGrpSpPr>
          <p:grpSpPr>
            <a:xfrm>
              <a:off x="1447800" y="4330566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13603F1-A0BD-4EF5-E4C2-7E14C867EFC6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result</a:t>
                </a:r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57558EF-504E-8E56-71F8-AC2CC971A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421" y="2964581"/>
              <a:ext cx="3031958" cy="1443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D3BC76A-57FE-C573-DAA7-98EA4A867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3389" y="2945331"/>
              <a:ext cx="3403011" cy="14729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F79F1DC-388C-C884-CB09-183AB721D2B5}"/>
                </a:ext>
              </a:extLst>
            </p:cNvPr>
            <p:cNvSpPr txBox="1"/>
            <p:nvPr/>
          </p:nvSpPr>
          <p:spPr>
            <a:xfrm>
              <a:off x="1066800" y="4939364"/>
              <a:ext cx="4723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Task description  (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struct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dotprod_task</a:t>
              </a:r>
              <a:r>
                <a:rPr lang="en-US" dirty="0"/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32FD10-28CD-E598-AD93-81F9A13F551B}"/>
                  </a:ext>
                </a:extLst>
              </p:cNvPr>
              <p:cNvSpPr txBox="1"/>
              <p:nvPr/>
            </p:nvSpPr>
            <p:spPr>
              <a:xfrm>
                <a:off x="342913" y="5511616"/>
                <a:ext cx="83810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dot-product client, a 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closure</a:t>
                </a:r>
                <a:r>
                  <a:rPr lang="en-US" dirty="0"/>
                  <a:t> (i.e., task-description) has pointers to vector-slice </a:t>
                </a:r>
                <a14:m>
                  <m:oMath xmlns:m="http://schemas.openxmlformats.org/officeDocument/2006/math">
                    <m:r>
                      <a:rPr lang="en-US" i="1" spc="-15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pc="-15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pc="-1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pc="-1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pc="-1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 vector-slice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pc="-15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pc="-1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pc="-1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pc="-1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length of the vector slices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and a space into which the slice result can be written.  If the original vector length is not exactly a multiple of the number of threads, then some slices will be a bit longer than others.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32FD10-28CD-E598-AD93-81F9A13F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13" y="5511616"/>
                <a:ext cx="8381058" cy="1200329"/>
              </a:xfrm>
              <a:prstGeom prst="rect">
                <a:avLst/>
              </a:prstGeom>
              <a:blipFill>
                <a:blip r:embed="rId13"/>
                <a:stretch>
                  <a:fillRect l="-454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92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0658EE5-9C1E-E92F-1608-172C79BF9C69}"/>
              </a:ext>
            </a:extLst>
          </p:cNvPr>
          <p:cNvSpPr/>
          <p:nvPr/>
        </p:nvSpPr>
        <p:spPr>
          <a:xfrm>
            <a:off x="602489" y="2723197"/>
            <a:ext cx="3635467" cy="25586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*closure)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*w = closure;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double result=0.0;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n = w-&gt;n;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double *vec1= w-&gt;vec1, *vec2= w-&gt;vec2;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=0;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&lt;n;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result += vec1[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]*vec2[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w-&gt;result=result;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Application-specific subtask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B0D55-2899-D733-0790-D00A6A297361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3AD8E-A8FE-CC0C-BF43-A33550227023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C2CDAD-534E-A9F7-A4D8-B8EE2FAD2457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E1A3C5-7675-5813-4E41-E69C96FD445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11B77E-CF7D-5F21-DC45-B56DF6E2ECB3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95DD48-E6D4-C3A3-30AB-4BC719731758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EB67F5-2927-FCC7-89AA-EA6D71AC4004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C77942-D7F9-1A22-2A4B-4C317F172FAF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D6998B-FAF4-BC04-D3A6-7721AA34F183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B09ED7-E6EC-864F-BD09-42EF451031F5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26622C-594C-D4C5-03FC-5C4775AEDE9F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AFB1D7-AD60-FEBB-1B7A-F57776EA37F2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465C35-51BC-017A-34CD-9DD522954162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AC188F-99FF-5C29-DD40-20F9A46C23DA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59149A-EA60-76C6-44DF-CEA47534B12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763DBB-413F-C755-AEEA-61B710DA24A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AC83E4-CEE6-3F5C-AD1A-73BF4DD3F8B0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23B4099-C91D-5ED1-AA20-D66903451068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F45750-211E-E849-158A-53DADC0E81C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1CDDFFB-A031-90F0-A648-7B40B719334F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0DCB0E-F981-9BC5-81A1-FFC0967A3069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5F023D3-BCAC-9260-5DA9-F03A1D6241FC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BE47DEA-63E2-3689-1D5B-3F7A6AB8D4BF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762000" y="4423042"/>
            <a:chExt cx="762000" cy="609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1E7B5EE-0700-4917-CEE1-EAAA004E8716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pc="-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00" b="0" i="1" spc="-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100" i="1" spc="-15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spc="-15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100" b="0" i="1" spc="-15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900" spc="-150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1E7B5EE-0700-4917-CEE1-EAAA004E87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70CD17C-1D09-2E3C-6F11-D4CFB5A40C84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100" b="0" i="1" u="none" strike="noStrike" kern="1200" cap="none" spc="-15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sz="1100" b="0" i="1" u="none" strike="noStrike" kern="1200" cap="none" spc="-15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100" b="0" i="1" u="none" strike="noStrike" kern="1200" cap="none" spc="-15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100" b="0" i="1" u="none" strike="noStrike" kern="1200" cap="none" spc="-15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sz="1100" b="0" i="1" u="none" strike="noStrike" kern="1200" cap="none" spc="-15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US" sz="900" b="0" i="0" u="none" strike="noStrike" kern="1200" cap="none" spc="-15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70CD17C-1D09-2E3C-6F11-D4CFB5A40C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CA2A7CA-4C31-9F68-C563-5141BBAA496F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CA2A7CA-4C31-9F68-C563-5141BBAA49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3603F1-A0BD-4EF5-E4C2-7E14C867EFC6}"/>
                </a:ext>
              </a:extLst>
            </p:cNvPr>
            <p:cNvSpPr/>
            <p:nvPr/>
          </p:nvSpPr>
          <p:spPr>
            <a:xfrm>
              <a:off x="1074417" y="4727441"/>
              <a:ext cx="449583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result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57558EF-504E-8E56-71F8-AC2CC971AED1}"/>
              </a:ext>
            </a:extLst>
          </p:cNvPr>
          <p:cNvCxnSpPr>
            <a:cxnSpLocks/>
          </p:cNvCxnSpPr>
          <p:nvPr/>
        </p:nvCxnSpPr>
        <p:spPr>
          <a:xfrm flipV="1">
            <a:off x="5924550" y="2945331"/>
            <a:ext cx="1535029" cy="10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5172D3-94D3-50A7-394D-9C626216A4C0}"/>
              </a:ext>
            </a:extLst>
          </p:cNvPr>
          <p:cNvCxnSpPr>
            <a:cxnSpLocks/>
          </p:cNvCxnSpPr>
          <p:nvPr/>
        </p:nvCxnSpPr>
        <p:spPr>
          <a:xfrm flipV="1">
            <a:off x="6362700" y="2958715"/>
            <a:ext cx="1632912" cy="179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Left Brace 40">
            <a:extLst>
              <a:ext uri="{FF2B5EF4-FFF2-40B4-BE49-F238E27FC236}">
                <a16:creationId xmlns:a16="http://schemas.microsoft.com/office/drawing/2014/main" id="{B9C5AA0C-EA0F-20A4-7D7E-94A431426FDB}"/>
              </a:ext>
            </a:extLst>
          </p:cNvPr>
          <p:cNvSpPr/>
          <p:nvPr/>
        </p:nvSpPr>
        <p:spPr>
          <a:xfrm>
            <a:off x="7276715" y="2989005"/>
            <a:ext cx="76200" cy="592963"/>
          </a:xfrm>
          <a:prstGeom prst="leftBrace">
            <a:avLst>
              <a:gd name="adj1" fmla="val 60860"/>
              <a:gd name="adj2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CBDB63F-2CDE-722D-D050-35E747F46922}"/>
              </a:ext>
            </a:extLst>
          </p:cNvPr>
          <p:cNvCxnSpPr>
            <a:endCxn id="41" idx="1"/>
          </p:cNvCxnSpPr>
          <p:nvPr/>
        </p:nvCxnSpPr>
        <p:spPr>
          <a:xfrm flipV="1">
            <a:off x="5943600" y="3285487"/>
            <a:ext cx="1333115" cy="841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C1E3163-CBB6-5AE5-F0A2-F9F259583E16}"/>
              </a:ext>
            </a:extLst>
          </p:cNvPr>
          <p:cNvSpPr/>
          <p:nvPr/>
        </p:nvSpPr>
        <p:spPr>
          <a:xfrm>
            <a:off x="5131954" y="1683334"/>
            <a:ext cx="1166091" cy="1337912"/>
          </a:xfrm>
          <a:custGeom>
            <a:avLst/>
            <a:gdLst>
              <a:gd name="connsiteX0" fmla="*/ 1106905 w 1106905"/>
              <a:gd name="connsiteY0" fmla="*/ 0 h 1337912"/>
              <a:gd name="connsiteX1" fmla="*/ 38501 w 1106905"/>
              <a:gd name="connsiteY1" fmla="*/ 760396 h 1337912"/>
              <a:gd name="connsiteX2" fmla="*/ 0 w 1106905"/>
              <a:gd name="connsiteY2" fmla="*/ 1280160 h 1337912"/>
              <a:gd name="connsiteX3" fmla="*/ 462012 w 1106905"/>
              <a:gd name="connsiteY3" fmla="*/ 1337912 h 1337912"/>
              <a:gd name="connsiteX0" fmla="*/ 1183793 w 1183793"/>
              <a:gd name="connsiteY0" fmla="*/ 0 h 1337912"/>
              <a:gd name="connsiteX1" fmla="*/ 115389 w 1183793"/>
              <a:gd name="connsiteY1" fmla="*/ 760396 h 1337912"/>
              <a:gd name="connsiteX2" fmla="*/ 76888 w 1183793"/>
              <a:gd name="connsiteY2" fmla="*/ 1280160 h 1337912"/>
              <a:gd name="connsiteX3" fmla="*/ 538900 w 1183793"/>
              <a:gd name="connsiteY3" fmla="*/ 1337912 h 1337912"/>
              <a:gd name="connsiteX0" fmla="*/ 1215187 w 1215187"/>
              <a:gd name="connsiteY0" fmla="*/ 0 h 1337912"/>
              <a:gd name="connsiteX1" fmla="*/ 146783 w 1215187"/>
              <a:gd name="connsiteY1" fmla="*/ 760396 h 1337912"/>
              <a:gd name="connsiteX2" fmla="*/ 108282 w 1215187"/>
              <a:gd name="connsiteY2" fmla="*/ 1280160 h 1337912"/>
              <a:gd name="connsiteX3" fmla="*/ 570294 w 1215187"/>
              <a:gd name="connsiteY3" fmla="*/ 1337912 h 1337912"/>
              <a:gd name="connsiteX0" fmla="*/ 1215187 w 1215187"/>
              <a:gd name="connsiteY0" fmla="*/ 0 h 1337912"/>
              <a:gd name="connsiteX1" fmla="*/ 146783 w 1215187"/>
              <a:gd name="connsiteY1" fmla="*/ 760396 h 1337912"/>
              <a:gd name="connsiteX2" fmla="*/ 108282 w 1215187"/>
              <a:gd name="connsiteY2" fmla="*/ 1280160 h 1337912"/>
              <a:gd name="connsiteX3" fmla="*/ 570294 w 1215187"/>
              <a:gd name="connsiteY3" fmla="*/ 1337912 h 1337912"/>
              <a:gd name="connsiteX0" fmla="*/ 1219044 w 1219044"/>
              <a:gd name="connsiteY0" fmla="*/ 0 h 1337912"/>
              <a:gd name="connsiteX1" fmla="*/ 150640 w 1219044"/>
              <a:gd name="connsiteY1" fmla="*/ 760396 h 1337912"/>
              <a:gd name="connsiteX2" fmla="*/ 112139 w 1219044"/>
              <a:gd name="connsiteY2" fmla="*/ 1280160 h 1337912"/>
              <a:gd name="connsiteX3" fmla="*/ 574151 w 1219044"/>
              <a:gd name="connsiteY3" fmla="*/ 1337912 h 1337912"/>
              <a:gd name="connsiteX0" fmla="*/ 1144407 w 1144407"/>
              <a:gd name="connsiteY0" fmla="*/ 0 h 1341616"/>
              <a:gd name="connsiteX1" fmla="*/ 153005 w 1144407"/>
              <a:gd name="connsiteY1" fmla="*/ 702644 h 1341616"/>
              <a:gd name="connsiteX2" fmla="*/ 37502 w 1144407"/>
              <a:gd name="connsiteY2" fmla="*/ 1280160 h 1341616"/>
              <a:gd name="connsiteX3" fmla="*/ 499514 w 1144407"/>
              <a:gd name="connsiteY3" fmla="*/ 1337912 h 1341616"/>
              <a:gd name="connsiteX0" fmla="*/ 1169089 w 1169089"/>
              <a:gd name="connsiteY0" fmla="*/ 0 h 1341616"/>
              <a:gd name="connsiteX1" fmla="*/ 177687 w 1169089"/>
              <a:gd name="connsiteY1" fmla="*/ 702644 h 1341616"/>
              <a:gd name="connsiteX2" fmla="*/ 62184 w 1169089"/>
              <a:gd name="connsiteY2" fmla="*/ 1280160 h 1341616"/>
              <a:gd name="connsiteX3" fmla="*/ 524196 w 1169089"/>
              <a:gd name="connsiteY3" fmla="*/ 1337912 h 1341616"/>
              <a:gd name="connsiteX0" fmla="*/ 1166091 w 1166091"/>
              <a:gd name="connsiteY0" fmla="*/ 0 h 1337912"/>
              <a:gd name="connsiteX1" fmla="*/ 174689 w 1166091"/>
              <a:gd name="connsiteY1" fmla="*/ 702644 h 1337912"/>
              <a:gd name="connsiteX2" fmla="*/ 30310 w 1166091"/>
              <a:gd name="connsiteY2" fmla="*/ 1174282 h 1337912"/>
              <a:gd name="connsiteX3" fmla="*/ 521198 w 1166091"/>
              <a:gd name="connsiteY3" fmla="*/ 1337912 h 133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091" h="1337912">
                <a:moveTo>
                  <a:pt x="1166091" y="0"/>
                </a:moveTo>
                <a:cubicBezTo>
                  <a:pt x="1156465" y="330468"/>
                  <a:pt x="363986" y="506930"/>
                  <a:pt x="174689" y="702644"/>
                </a:cubicBezTo>
                <a:cubicBezTo>
                  <a:pt x="-14608" y="898358"/>
                  <a:pt x="-27441" y="1068404"/>
                  <a:pt x="30310" y="1174282"/>
                </a:cubicBezTo>
                <a:cubicBezTo>
                  <a:pt x="88062" y="1280160"/>
                  <a:pt x="367194" y="1318661"/>
                  <a:pt x="521198" y="1337912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/>
              <p:nvPr/>
            </p:nvSpPr>
            <p:spPr>
              <a:xfrm>
                <a:off x="3984533" y="2902627"/>
                <a:ext cx="1089892" cy="763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533" y="2902627"/>
                <a:ext cx="1089892" cy="763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755A463-F487-947D-92AE-29B350B46F26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4529479" y="1683334"/>
            <a:ext cx="499721" cy="121929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807E13-8CA3-4302-110F-46665FA5C08F}"/>
              </a:ext>
            </a:extLst>
          </p:cNvPr>
          <p:cNvSpPr txBox="1"/>
          <p:nvPr/>
        </p:nvSpPr>
        <p:spPr>
          <a:xfrm>
            <a:off x="381471" y="5401918"/>
            <a:ext cx="8381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dotprod_worker</a:t>
            </a:r>
            <a:r>
              <a:rPr lang="en-US" dirty="0"/>
              <a:t> is given a pointer to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closure</a:t>
            </a:r>
            <a:r>
              <a:rPr lang="en-US" dirty="0"/>
              <a:t> and computes the slice dot product for that task-description.  The formal parameter has type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void*</a:t>
            </a:r>
            <a:r>
              <a:rPr lang="en-US" dirty="0"/>
              <a:t> 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dotprod_task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/>
              <a:t>because the task-scheduler (</a:t>
            </a:r>
            <a:r>
              <a:rPr lang="en-US" dirty="0" err="1"/>
              <a:t>parsplit.c</a:t>
            </a:r>
            <a:r>
              <a:rPr lang="en-US" dirty="0"/>
              <a:t>, </a:t>
            </a:r>
            <a:r>
              <a:rPr lang="en-US" dirty="0" err="1"/>
              <a:t>parsplit.h</a:t>
            </a:r>
            <a:r>
              <a:rPr lang="en-US" dirty="0"/>
              <a:t>) must be general enough that it doesn’t even know the type of the task-description.  Hence the assignment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closure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dirty="0"/>
              <a:t> in the first line of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152637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19D8-D8C6-4CF7-4200-8B437CF6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608F-E190-074E-B212-413C672B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the client uses the API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294F3-B11C-56A5-3898-E28C7F18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A3D27D-AA3F-A49E-AF82-862179BBE007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393236-F9B2-E5E5-51B1-40B84FE44D6F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B5324E-ABDC-91DF-161C-BF9A6BF07271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A4A432-D061-D954-7AB8-747F7432A365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F35C30-4A01-4BE4-F8A2-A9488CD6055D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0F4CC2-839F-7AC5-3EA0-AA9FF9134A2B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40DA2A6-0E8A-148C-7101-8EEDF9BD6821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15CB94-0B79-A3E0-F061-6FDFB256E980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6E8A40-AF11-FFA3-E8C3-14E49D697B1E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373554F-DB4A-3C29-AD3C-0C41EDC30D37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3AE671-9ABB-D6A4-7758-BF94F226D484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691600-426E-436D-7CA2-9CDA18EAFB85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CD5A09-1336-C42A-D700-38A7AB87D89F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4629BC-6694-4B66-E21A-CC99B7DEC797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22873A8-C3F3-3E33-591B-3DA6C8AE5EB6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EB80030-E2F7-4CEA-3DB1-08FD97708BDC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6CFC8A-EB39-7299-3405-524B40E1BDEF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7DA36BE-E042-DCD9-905A-C83C2D7FCDA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597BF-429F-A71C-D226-E6EB316B6A14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463E69-951B-D456-DEEA-87BB0F0A827C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3A6CE2-6EDE-8F51-E4B2-4B4892EA6238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FEF82B-9D69-BF7B-C193-F9A5816EBEC1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509BACD-9338-DF46-6999-03E812CC03A0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18DB2E-DF17-47B0-CD3F-7F800D47F1F0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FC5983-203D-ACAA-DFD9-40BE8937FC08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EE71AA-ED57-1FE9-72C6-1E32CB3B64B6}"/>
                  </a:ext>
                </a:extLst>
              </p:cNvPr>
              <p:cNvSpPr txBox="1"/>
              <p:nvPr/>
            </p:nvSpPr>
            <p:spPr>
              <a:xfrm>
                <a:off x="1143000" y="2739757"/>
                <a:ext cx="53249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Suppose you want to compute the dot-product of</a:t>
                </a:r>
              </a:p>
              <a:p>
                <a:r>
                  <a:rPr lang="en-US" dirty="0"/>
                  <a:t>vectors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in parallel.  Each vector has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EE71AA-ED57-1FE9-72C6-1E32CB3B6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739757"/>
                <a:ext cx="5324984" cy="646331"/>
              </a:xfrm>
              <a:prstGeom prst="rect">
                <a:avLst/>
              </a:prstGeom>
              <a:blipFill>
                <a:blip r:embed="rId4"/>
                <a:stretch>
                  <a:fillRect l="-1190" t="-3846" r="-952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: Rounded Corners 79">
            <a:extLst>
              <a:ext uri="{FF2B5EF4-FFF2-40B4-BE49-F238E27FC236}">
                <a16:creationId xmlns:a16="http://schemas.microsoft.com/office/drawing/2014/main" id="{92919989-E5EB-D76D-D348-6E2139573835}"/>
              </a:ext>
            </a:extLst>
          </p:cNvPr>
          <p:cNvSpPr/>
          <p:nvPr/>
        </p:nvSpPr>
        <p:spPr>
          <a:xfrm>
            <a:off x="481862" y="3844347"/>
            <a:ext cx="4838640" cy="271819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double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(double *vec1, double *vec2, unsigned n)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911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500E-070F-F949-939A-4613620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C6B7-D9A6-0776-4D02-BD944897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the task-descriptions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00A575-180D-9ED9-40C6-C4271CEF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6F533A-1795-FAC7-FA75-42BE6A0E6ED9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113EA2-5C28-FFDA-DEB3-BAFDDEE91B65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1006E4-64C4-D923-EE97-BD57C57D34BD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C53EEB-7182-0E20-A85A-6BA17C6AB996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012F2F-A710-6F34-C324-52574B2067D2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595358-1140-22DE-40B2-33C0D20C9DB1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E2C7CC-9A21-A86D-1250-57F0A00266F2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9E8492-BEBA-E763-801E-8114BD90B0D1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4D5CD4-7B54-9AB1-CAF1-EBCF2F35EAC5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C9B165-70EA-F92D-B897-589478219CC2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E62E4C-7DE8-24FA-E7A8-B77711CA1E6F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66EDAFF-1DFC-8C34-D13B-11849208D72F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21E22B-F2D4-4B31-F4DC-7E02F85F00B5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9CE88A8-EB34-3C5E-BC9E-2C1F9AB53B64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57AEE9-04FC-3D6C-C9E5-D63FD67C829E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9B7BFCA-7ECC-7F2D-E3C1-B45722CFC805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6C17386-72A8-12EA-9A30-5592D3E5FE22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15ACF38-138C-D88E-444F-B6C2473678F2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2D71FD5-B2E5-5DDB-5BDD-A8D3228CA2D5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ECD67A-AF5B-1A84-10EA-6A7FF5AC4A2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904B9B8-BF05-9676-555B-581158562899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204EC73-B0EC-F88A-2EED-2E1C21BE8743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7934A1E-EF12-04BD-CB07-7D0449FEA6EE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8B70A5-BC5E-AC3C-4776-9779D44C219A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8B70A5-BC5E-AC3C-4776-9779D44C2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AEE7F0-AEBD-810D-E455-5CC0B4E6A976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AEE7F0-AEBD-810D-E455-5CC0B4E6A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30C9E9-202E-D87A-325F-AA3162103780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5715000" y="2940378"/>
            <a:chExt cx="838200" cy="6096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D20FB94-5C08-DCB3-3DB6-225F9F113C6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30FD2B61-B938-8326-3B30-22994D06B00D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30FD2B61-B938-8326-3B30-22994D06B00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EEF15FE-8998-86FE-899B-BEE0437CCC88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EEF15FE-8998-86FE-899B-BEE0437CCC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4BD8D89B-1AAA-2FC9-4CC0-FF95CDD22B06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4BD8D89B-1AAA-2FC9-4CC0-FF95CDD22B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846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2264F7-808F-0E45-A599-E3FBA7DBC7DF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474EF0-3C89-D1DA-A4CA-BDF7FEE0465F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1861DA-D71E-B529-EA3D-1AB3DA651EB1}"/>
              </a:ext>
            </a:extLst>
          </p:cNvPr>
          <p:cNvGrpSpPr/>
          <p:nvPr/>
        </p:nvGrpSpPr>
        <p:grpSpPr>
          <a:xfrm>
            <a:off x="5715000" y="2333656"/>
            <a:ext cx="838200" cy="609600"/>
            <a:chOff x="5715000" y="2940378"/>
            <a:chExt cx="838200" cy="6096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100309D-1AE6-6EBB-383D-A93B59F47F8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18CC20C-9A3C-D575-5E25-58817AA72F42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18CC20C-9A3C-D575-5E25-58817AA72F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28683548-1312-B5D9-BC30-273FCF22E983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28683548-1312-B5D9-BC30-273FCF22E9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99526EA8-8D00-47F6-F53C-29DA9BCCB1B0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99526EA8-8D00-47F6-F53C-29DA9BCCB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8162D85-925C-AAF4-B168-85F3817F613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E973394-8A31-7618-B767-89968E9B769E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79DC54A-3583-76D4-103C-B18C1B43CC87}"/>
              </a:ext>
            </a:extLst>
          </p:cNvPr>
          <p:cNvGrpSpPr/>
          <p:nvPr/>
        </p:nvGrpSpPr>
        <p:grpSpPr>
          <a:xfrm>
            <a:off x="5715000" y="4150161"/>
            <a:ext cx="838200" cy="609600"/>
            <a:chOff x="5715000" y="2940378"/>
            <a:chExt cx="838200" cy="6096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EABB647-DD43-191E-61AD-4924BF78967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47B7B14-9001-5EB1-EE53-8907EAF2F6ED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47B7B14-9001-5EB1-EE53-8907EAF2F6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8A1A3ED3-DFEB-ED9D-58D4-7B04364C1E1F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8A1A3ED3-DFEB-ED9D-58D4-7B04364C1E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205A26DE-6CE4-9E4F-A790-68AD1DBE69BE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205A26DE-6CE4-9E4F-A790-68AD1DBE69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3907F87-EBE7-C85A-7B65-15D71691DBEB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B5361BD-182C-B03E-54E8-A6F4CFB2E692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D37172E-BDA0-887F-1440-3A8A512EB575}"/>
              </a:ext>
            </a:extLst>
          </p:cNvPr>
          <p:cNvGrpSpPr/>
          <p:nvPr/>
        </p:nvGrpSpPr>
        <p:grpSpPr>
          <a:xfrm>
            <a:off x="5715000" y="3543439"/>
            <a:ext cx="838200" cy="609600"/>
            <a:chOff x="5715000" y="2940378"/>
            <a:chExt cx="838200" cy="609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AED72D9-72A1-07D6-DDFE-CA5C05AF609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9FE3E740-157F-DFCE-C5C0-F0E699F5029D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9FE3E740-157F-DFCE-C5C0-F0E699F502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9604FD3-41DF-A863-71BB-D98F79951C09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9604FD3-41DF-A863-71BB-D98F79951C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E647E9C2-D33C-F3CD-30D4-C75E5230D2B3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E647E9C2-D33C-F3CD-30D4-C75E5230D2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965EA97-414F-1C0F-F98E-BDF7493AC6C5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36C812E-0A9C-DEEA-6EE7-E08E83262F7C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818B668-0BCC-02D7-211B-22D33C5F4367}"/>
              </a:ext>
            </a:extLst>
          </p:cNvPr>
          <p:cNvGrpSpPr/>
          <p:nvPr/>
        </p:nvGrpSpPr>
        <p:grpSpPr>
          <a:xfrm>
            <a:off x="5963774" y="2989005"/>
            <a:ext cx="1389141" cy="592963"/>
            <a:chOff x="5963774" y="2989005"/>
            <a:chExt cx="1389141" cy="592963"/>
          </a:xfrm>
        </p:grpSpPr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F2474472-D59B-8EE1-202E-856CEF5A47F0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49F8B47-DB3E-F9DB-AFE8-B1C95D5A0301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5963774" y="3124200"/>
              <a:ext cx="1312941" cy="1612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0094E0D-818E-0E1D-0898-9E42BF64E52C}"/>
              </a:ext>
            </a:extLst>
          </p:cNvPr>
          <p:cNvGrpSpPr/>
          <p:nvPr/>
        </p:nvGrpSpPr>
        <p:grpSpPr>
          <a:xfrm>
            <a:off x="6019800" y="2497874"/>
            <a:ext cx="1353289" cy="477766"/>
            <a:chOff x="5999626" y="2949898"/>
            <a:chExt cx="1353289" cy="632070"/>
          </a:xfrm>
        </p:grpSpPr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01832E0B-2227-6C86-FE38-07BDA60EAB8F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864C310-021C-13E8-8BDB-169D2DFE1302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5999626" y="2949898"/>
              <a:ext cx="1277089" cy="3355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87513DA-DBA7-0A03-89C9-F676ED7C6DC7}"/>
              </a:ext>
            </a:extLst>
          </p:cNvPr>
          <p:cNvGrpSpPr/>
          <p:nvPr/>
        </p:nvGrpSpPr>
        <p:grpSpPr>
          <a:xfrm>
            <a:off x="5963774" y="3595334"/>
            <a:ext cx="1389141" cy="404910"/>
            <a:chOff x="5963774" y="2989005"/>
            <a:chExt cx="1389141" cy="592963"/>
          </a:xfrm>
        </p:grpSpPr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01E9D4BC-0B76-6CEB-1EBC-8B0A2A805C81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3A81FCE-04A6-E4FE-6A8E-33E4785EDDC1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963774" y="3187749"/>
              <a:ext cx="1312941" cy="9773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1910670-659C-C2EC-D17D-35FF2B744B9A}"/>
              </a:ext>
            </a:extLst>
          </p:cNvPr>
          <p:cNvGrpSpPr/>
          <p:nvPr/>
        </p:nvGrpSpPr>
        <p:grpSpPr>
          <a:xfrm>
            <a:off x="5963774" y="4060994"/>
            <a:ext cx="1393954" cy="592963"/>
            <a:chOff x="5958961" y="2989005"/>
            <a:chExt cx="1393954" cy="592963"/>
          </a:xfrm>
        </p:grpSpPr>
        <p:sp>
          <p:nvSpPr>
            <p:cNvPr id="78" name="Left Brace 77">
              <a:extLst>
                <a:ext uri="{FF2B5EF4-FFF2-40B4-BE49-F238E27FC236}">
                  <a16:creationId xmlns:a16="http://schemas.microsoft.com/office/drawing/2014/main" id="{B1AD969E-77B6-F6E3-1230-D2FB0CA3C359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51F5FFF-A26E-AF34-F69C-4B333578509D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5958961" y="3227388"/>
              <a:ext cx="1317754" cy="580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B52C65-1997-56BD-AFE3-8EA5A74B33ED}"/>
              </a:ext>
            </a:extLst>
          </p:cNvPr>
          <p:cNvGrpSpPr/>
          <p:nvPr/>
        </p:nvGrpSpPr>
        <p:grpSpPr>
          <a:xfrm>
            <a:off x="6013331" y="2649161"/>
            <a:ext cx="585700" cy="2076958"/>
            <a:chOff x="6013331" y="2649161"/>
            <a:chExt cx="585700" cy="207695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F496FB-3C54-4F36-792D-1050C0C1CCB6}"/>
                </a:ext>
              </a:extLst>
            </p:cNvPr>
            <p:cNvSpPr txBox="1"/>
            <p:nvPr/>
          </p:nvSpPr>
          <p:spPr>
            <a:xfrm>
              <a:off x="6033492" y="2649161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222B29E-92A8-68D3-2F6A-32E9148F21B0}"/>
                </a:ext>
              </a:extLst>
            </p:cNvPr>
            <p:cNvSpPr txBox="1"/>
            <p:nvPr/>
          </p:nvSpPr>
          <p:spPr>
            <a:xfrm>
              <a:off x="6023160" y="3284685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9141566-F039-84BE-B1C7-8DD7181C3362}"/>
                </a:ext>
              </a:extLst>
            </p:cNvPr>
            <p:cNvSpPr txBox="1"/>
            <p:nvPr/>
          </p:nvSpPr>
          <p:spPr>
            <a:xfrm>
              <a:off x="6023160" y="3842988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CBDD462-E6BB-FCE7-8F6D-A284D5C8FC96}"/>
                </a:ext>
              </a:extLst>
            </p:cNvPr>
            <p:cNvSpPr txBox="1"/>
            <p:nvPr/>
          </p:nvSpPr>
          <p:spPr>
            <a:xfrm>
              <a:off x="6013331" y="4449120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C8566B-5CC7-2762-B7F3-6F799BEFC1BA}"/>
                  </a:ext>
                </a:extLst>
              </p:cNvPr>
              <p:cNvSpPr txBox="1"/>
              <p:nvPr/>
            </p:nvSpPr>
            <p:spPr>
              <a:xfrm>
                <a:off x="1863972" y="3191172"/>
                <a:ext cx="17526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C8566B-5CC7-2762-B7F3-6F799BEFC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72" y="3191172"/>
                <a:ext cx="1752600" cy="9233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36D5F3-5C8A-D9A5-3A56-04EB8F85B45E}"/>
                  </a:ext>
                </a:extLst>
              </p:cNvPr>
              <p:cNvSpPr txBox="1"/>
              <p:nvPr/>
            </p:nvSpPr>
            <p:spPr>
              <a:xfrm>
                <a:off x="694097" y="2152541"/>
                <a:ext cx="494470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First, compute how you’re going to break</a:t>
                </a:r>
              </a:p>
              <a:p>
                <a:r>
                  <a:rPr lang="en-US" dirty="0"/>
                  <a:t>it into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tasks. 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not an exact multiple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then the sizes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won’t be exactly</a:t>
                </a:r>
              </a:p>
              <a:p>
                <a:r>
                  <a:rPr lang="en-US" dirty="0"/>
                  <a:t>the same.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36D5F3-5C8A-D9A5-3A56-04EB8F85B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97" y="2152541"/>
                <a:ext cx="4944703" cy="1200329"/>
              </a:xfrm>
              <a:prstGeom prst="rect">
                <a:avLst/>
              </a:prstGeom>
              <a:blipFill>
                <a:blip r:embed="rId17"/>
                <a:stretch>
                  <a:fillRect l="-1023"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8E2573A2-54A8-9CA4-F327-8FA1B925A9F0}"/>
              </a:ext>
            </a:extLst>
          </p:cNvPr>
          <p:cNvSpPr txBox="1"/>
          <p:nvPr/>
        </p:nvSpPr>
        <p:spPr>
          <a:xfrm>
            <a:off x="5870264" y="5334735"/>
            <a:ext cx="3051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(For how &amp; when the </a:t>
            </a:r>
            <a:r>
              <a:rPr lang="en-US" dirty="0" err="1"/>
              <a:t>dtasks</a:t>
            </a:r>
            <a:r>
              <a:rPr lang="en-US" dirty="0"/>
              <a:t> array was created, wait a couple of slides.  Here we’re just filling it in. 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Rectangle: Rounded Corners 79">
            <a:extLst>
              <a:ext uri="{FF2B5EF4-FFF2-40B4-BE49-F238E27FC236}">
                <a16:creationId xmlns:a16="http://schemas.microsoft.com/office/drawing/2014/main" id="{1B66198B-C628-75F0-8D0E-540CA411F01B}"/>
              </a:ext>
            </a:extLst>
          </p:cNvPr>
          <p:cNvSpPr/>
          <p:nvPr/>
        </p:nvSpPr>
        <p:spPr>
          <a:xfrm>
            <a:off x="481862" y="4455763"/>
            <a:ext cx="4838640" cy="22657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double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(double *vec1, double *vec2, unsigned n) 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(delta=0, t=0;  t&lt;T;  t++) 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[t].vec1=vec1+delta;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[t].vec2=vec2+delta;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(t+1)*n/T;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[t].n=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-delta;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delta=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. . .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B38C37-DA32-0CB2-3B5F-974C97A9CA1A}"/>
              </a:ext>
            </a:extLst>
          </p:cNvPr>
          <p:cNvSpPr txBox="1"/>
          <p:nvPr/>
        </p:nvSpPr>
        <p:spPr>
          <a:xfrm>
            <a:off x="5582029" y="2003361"/>
            <a:ext cx="875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66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3EC0-7B53-E466-E716-C868CB147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B3BD-59FD-3957-63F9-26A6FE57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dotprod_worker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447759-94E2-6C85-0558-50ABC21B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D93597-97B4-5157-0F19-93EBADECE7E0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3AA7EE-4CAC-2241-B2BA-05D94B10E6F5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B0B5EF-FE7F-ECC1-F0E8-4AE3FDD6B4DD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3554A3-5530-6341-8A06-EE1361F9F2B8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05198A-202C-FCF9-B231-CF93710CC00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2A406A-7F0E-A249-43BF-F41FFDD5F00E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1929D4A-D8EB-D727-9DE8-AAC55441F91E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10DD7E-AEE3-5F62-B388-DD9DFA6B9DFD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0BBE10B-9E92-1F11-B1F2-870A2DF46635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9C074DB-92DB-E2B6-6FBE-E2E021C0A868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69DF9A-98FF-4305-19E8-F9443FBD9DC0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E9C984-9C8A-28EA-5435-856A3A88738E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7DFD37-4199-47B8-CCDC-44B6F4051FB2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01D3835-2633-8CA4-AD04-4E83B2760631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C9F9B84-6AF7-B565-CC04-E5001323C203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651009-9BFB-1875-8C51-058D80986B35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02BCE5-B4D7-0B8B-DFC8-372F17FE8A02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CA3280-A23A-F472-809F-CB8ABE3FE9CC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D2723E8-C5C3-DF7E-9DFB-312F6C036E1D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DF2AA9-6BF2-8772-D1BA-E09BF4090B7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3B189F-95E9-32C8-E67E-DF1AC758EC5D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E10A4FF-4375-54FA-D36C-13DB2F6E56CD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4639AF0-82B0-5851-8C90-A86EFC6B9AC6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5A0040-BB03-860B-5AE0-D454FF2E342B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5A0040-BB03-860B-5AE0-D454FF2E3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84DEC4-709E-A607-CF11-8790C4C91805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84DEC4-709E-A607-CF11-8790C4C91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2C46C80-B914-6630-1939-4A904E8E3A21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5715000" y="2940378"/>
            <a:chExt cx="838200" cy="6096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7BD98F0-CACF-25F4-30E2-2FBC2405A55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6129F48-7571-8A3E-1368-2B543B315CB5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6129F48-7571-8A3E-1368-2B543B315C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43B99CA-BEA8-6CE1-DB19-CBAED6DD8819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43B99CA-BEA8-6CE1-DB19-CBAED6DD88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C649D7C-CC78-6ECC-8AA4-C64E591B0023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C649D7C-CC78-6ECC-8AA4-C64E591B00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846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080E7B-2E45-7F1A-7D2E-F9759655C86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3E3BD7-37C9-930E-D45C-70F5E86BEE26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4DC268B-3DE3-AD26-6CAE-0BD78A898F5A}"/>
              </a:ext>
            </a:extLst>
          </p:cNvPr>
          <p:cNvGrpSpPr/>
          <p:nvPr/>
        </p:nvGrpSpPr>
        <p:grpSpPr>
          <a:xfrm>
            <a:off x="5715000" y="2333656"/>
            <a:ext cx="838200" cy="609600"/>
            <a:chOff x="5715000" y="2940378"/>
            <a:chExt cx="838200" cy="6096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599B74-3588-D1C8-2F76-873C4F5DCE1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7282224-9F4B-4B9A-A740-7323A4179D3C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7282224-9F4B-4B9A-A740-7323A4179D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D6EC94B7-C69B-FEF9-9332-B92A305540A8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D6EC94B7-C69B-FEF9-9332-B92A305540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15D58F69-7044-328F-18A8-59516D561444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15D58F69-7044-328F-18A8-59516D5614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3DA83A-19C9-5F4A-3F31-6B69C508A291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F3B46B-6140-02E3-41AA-44FB8A95DE85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88C2164-7808-DEBF-4CBB-94F6F0238228}"/>
              </a:ext>
            </a:extLst>
          </p:cNvPr>
          <p:cNvGrpSpPr/>
          <p:nvPr/>
        </p:nvGrpSpPr>
        <p:grpSpPr>
          <a:xfrm>
            <a:off x="5715000" y="4150161"/>
            <a:ext cx="838200" cy="609600"/>
            <a:chOff x="5715000" y="2940378"/>
            <a:chExt cx="838200" cy="6096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6D7DA57-8C6C-0BCF-4F3C-F91DBB9D85C9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EA01D2DB-E35C-008D-60B2-9D10A7498FCF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EA01D2DB-E35C-008D-60B2-9D10A7498FC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B1844B40-F253-ED8D-2D66-F5F43DF279BF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B1844B40-F253-ED8D-2D66-F5F43DF279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2791828-E5AF-15D1-847A-B6A9E43582F7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2791828-E5AF-15D1-847A-B6A9E43582F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2D72232-F023-CBF4-BA3C-AC2A01BE441C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C2B5821-9D0E-A1AC-555C-89467F9F5CF1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6B312B0-90BB-C138-E5F9-C76A60190167}"/>
              </a:ext>
            </a:extLst>
          </p:cNvPr>
          <p:cNvGrpSpPr/>
          <p:nvPr/>
        </p:nvGrpSpPr>
        <p:grpSpPr>
          <a:xfrm>
            <a:off x="5715000" y="3543439"/>
            <a:ext cx="838200" cy="609600"/>
            <a:chOff x="5715000" y="2940378"/>
            <a:chExt cx="838200" cy="609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B4FFC5B-F00F-283D-8AC5-6D695C721C01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5E56D94B-CDC4-9A97-C260-16A9C019FA72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5E56D94B-CDC4-9A97-C260-16A9C019FA7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53DB094-53E2-085C-3977-9CE4F34D4F42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53DB094-53E2-085C-3977-9CE4F34D4F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A3D2942-AF15-AEA6-6333-FCF55CFBFBBD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A3D2942-AF15-AEA6-6333-FCF55CFBFB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89ACE6A-262A-6311-ADDD-CA40571D9EDA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E58431-6A6D-D43E-D2B0-E7D93A141D0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A9AC01-73E8-91EB-BE18-262CF212DBAB}"/>
              </a:ext>
            </a:extLst>
          </p:cNvPr>
          <p:cNvGrpSpPr/>
          <p:nvPr/>
        </p:nvGrpSpPr>
        <p:grpSpPr>
          <a:xfrm>
            <a:off x="5963774" y="2989005"/>
            <a:ext cx="1389141" cy="592963"/>
            <a:chOff x="5963774" y="2989005"/>
            <a:chExt cx="1389141" cy="592963"/>
          </a:xfrm>
        </p:grpSpPr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11E5F22D-85D1-C7C7-44A5-7D2A15E5F08C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538E56C-C993-53A1-702E-34E9D7754A01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5963774" y="3124200"/>
              <a:ext cx="1312941" cy="1612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4546154-298F-4E01-FDE9-F99ECB9A5CCA}"/>
              </a:ext>
            </a:extLst>
          </p:cNvPr>
          <p:cNvGrpSpPr/>
          <p:nvPr/>
        </p:nvGrpSpPr>
        <p:grpSpPr>
          <a:xfrm>
            <a:off x="6019800" y="2497874"/>
            <a:ext cx="1353289" cy="477766"/>
            <a:chOff x="5999626" y="2949898"/>
            <a:chExt cx="1353289" cy="632070"/>
          </a:xfrm>
        </p:grpSpPr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08C92081-BFA7-03EC-8BEA-EDC1E5D9C1C3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9E6552F-5228-882B-3B30-3D8B5BAAEE97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5999626" y="2949898"/>
              <a:ext cx="1277089" cy="3355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36329B-6EE2-31F7-E742-B84F76639225}"/>
              </a:ext>
            </a:extLst>
          </p:cNvPr>
          <p:cNvGrpSpPr/>
          <p:nvPr/>
        </p:nvGrpSpPr>
        <p:grpSpPr>
          <a:xfrm>
            <a:off x="5963774" y="3595334"/>
            <a:ext cx="1389141" cy="404910"/>
            <a:chOff x="5963774" y="2989005"/>
            <a:chExt cx="1389141" cy="592963"/>
          </a:xfrm>
        </p:grpSpPr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FFA605C9-5734-211F-49C6-FE3A9F27CA34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D9507C8-A73F-BEF8-534B-02738FD08DA0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963774" y="3187749"/>
              <a:ext cx="1312941" cy="9773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FEE7A1F-823F-EB27-A153-23B799D385E0}"/>
              </a:ext>
            </a:extLst>
          </p:cNvPr>
          <p:cNvGrpSpPr/>
          <p:nvPr/>
        </p:nvGrpSpPr>
        <p:grpSpPr>
          <a:xfrm>
            <a:off x="5963774" y="4060994"/>
            <a:ext cx="1393954" cy="592963"/>
            <a:chOff x="5958961" y="2989005"/>
            <a:chExt cx="1393954" cy="592963"/>
          </a:xfrm>
        </p:grpSpPr>
        <p:sp>
          <p:nvSpPr>
            <p:cNvPr id="78" name="Left Brace 77">
              <a:extLst>
                <a:ext uri="{FF2B5EF4-FFF2-40B4-BE49-F238E27FC236}">
                  <a16:creationId xmlns:a16="http://schemas.microsoft.com/office/drawing/2014/main" id="{12F59281-094D-3440-779F-671D6D6EB857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C409E9D-FC5A-972A-DAEE-FD8BD1802D92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5958961" y="3227388"/>
              <a:ext cx="1317754" cy="580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2E0D59-79D8-42DC-2DF3-B40E62E55AB0}"/>
              </a:ext>
            </a:extLst>
          </p:cNvPr>
          <p:cNvGrpSpPr/>
          <p:nvPr/>
        </p:nvGrpSpPr>
        <p:grpSpPr>
          <a:xfrm>
            <a:off x="6013331" y="2649161"/>
            <a:ext cx="585700" cy="2076958"/>
            <a:chOff x="6013331" y="2649161"/>
            <a:chExt cx="585700" cy="207695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E62982-D864-6EE4-0758-B0D9F94F1780}"/>
                </a:ext>
              </a:extLst>
            </p:cNvPr>
            <p:cNvSpPr txBox="1"/>
            <p:nvPr/>
          </p:nvSpPr>
          <p:spPr>
            <a:xfrm>
              <a:off x="6033492" y="2649161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8422913-6A8D-DFA6-927C-7C7E5C7BEBB2}"/>
                </a:ext>
              </a:extLst>
            </p:cNvPr>
            <p:cNvSpPr txBox="1"/>
            <p:nvPr/>
          </p:nvSpPr>
          <p:spPr>
            <a:xfrm>
              <a:off x="6023160" y="3284685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9FBDEC6-7F8A-507C-A25B-8F06ABB97238}"/>
                </a:ext>
              </a:extLst>
            </p:cNvPr>
            <p:cNvSpPr txBox="1"/>
            <p:nvPr/>
          </p:nvSpPr>
          <p:spPr>
            <a:xfrm>
              <a:off x="6023160" y="3842988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2F5A93A-6745-548B-1C42-3C8B2AEECF9B}"/>
                </a:ext>
              </a:extLst>
            </p:cNvPr>
            <p:cNvSpPr txBox="1"/>
            <p:nvPr/>
          </p:nvSpPr>
          <p:spPr>
            <a:xfrm>
              <a:off x="6013331" y="4449120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74F10C-6798-7993-1B19-F8F4A69169F2}"/>
              </a:ext>
            </a:extLst>
          </p:cNvPr>
          <p:cNvCxnSpPr>
            <a:cxnSpLocks/>
          </p:cNvCxnSpPr>
          <p:nvPr/>
        </p:nvCxnSpPr>
        <p:spPr>
          <a:xfrm flipV="1">
            <a:off x="4086158" y="2640732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1EA1032-F5A8-96F7-7EDE-F4DF795BFC28}"/>
              </a:ext>
            </a:extLst>
          </p:cNvPr>
          <p:cNvCxnSpPr>
            <a:cxnSpLocks/>
          </p:cNvCxnSpPr>
          <p:nvPr/>
        </p:nvCxnSpPr>
        <p:spPr>
          <a:xfrm flipV="1">
            <a:off x="4086158" y="320743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1420D8-F6B0-4B1F-D3F2-AF95D32F5713}"/>
              </a:ext>
            </a:extLst>
          </p:cNvPr>
          <p:cNvCxnSpPr>
            <a:cxnSpLocks/>
          </p:cNvCxnSpPr>
          <p:nvPr/>
        </p:nvCxnSpPr>
        <p:spPr>
          <a:xfrm flipV="1">
            <a:off x="4067294" y="381317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61AAB07-0C33-BD7A-3475-A4928DA3FC33}"/>
              </a:ext>
            </a:extLst>
          </p:cNvPr>
          <p:cNvCxnSpPr>
            <a:cxnSpLocks/>
          </p:cNvCxnSpPr>
          <p:nvPr/>
        </p:nvCxnSpPr>
        <p:spPr>
          <a:xfrm flipV="1">
            <a:off x="4032646" y="438032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02191F-1BD7-476E-F905-77B6D1394AAB}"/>
                  </a:ext>
                </a:extLst>
              </p:cNvPr>
              <p:cNvSpPr txBox="1"/>
              <p:nvPr/>
            </p:nvSpPr>
            <p:spPr>
              <a:xfrm>
                <a:off x="838200" y="3124200"/>
                <a:ext cx="325262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Each of these pointers is</a:t>
                </a:r>
              </a:p>
              <a:p>
                <a:r>
                  <a:rPr lang="en-US" dirty="0"/>
                  <a:t>a “closure” that can be passed</a:t>
                </a:r>
              </a:p>
              <a:p>
                <a:r>
                  <a:rPr lang="en-US" dirty="0"/>
                  <a:t>to the </a:t>
                </a:r>
                <a:r>
                  <a:rPr lang="en-US" dirty="0" err="1"/>
                  <a:t>dotprod_worker</a:t>
                </a:r>
                <a:endParaRPr lang="en-US" dirty="0"/>
              </a:p>
              <a:p>
                <a:r>
                  <a:rPr lang="en-US" dirty="0"/>
                  <a:t>function.  The next step is to</a:t>
                </a:r>
              </a:p>
              <a:p>
                <a:r>
                  <a:rPr lang="en-US" dirty="0"/>
                  <a:t>register each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closures with the task manager</a:t>
                </a: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02191F-1BD7-476E-F905-77B6D1394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3252622" cy="1754326"/>
              </a:xfrm>
              <a:prstGeom prst="rect">
                <a:avLst/>
              </a:prstGeom>
              <a:blipFill>
                <a:blip r:embed="rId16"/>
                <a:stretch>
                  <a:fillRect l="-1946" t="-2174" r="-389" b="-5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1B99AF32-4149-278E-922C-22F9213BA14A}"/>
              </a:ext>
            </a:extLst>
          </p:cNvPr>
          <p:cNvSpPr txBox="1"/>
          <p:nvPr/>
        </p:nvSpPr>
        <p:spPr>
          <a:xfrm>
            <a:off x="5582029" y="2003361"/>
            <a:ext cx="875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6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818D-049F-683B-D3DE-D5B096C5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7A0C-C0BC-CC87-9EB2-2A6F3C63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do_tasks</a:t>
            </a:r>
            <a:r>
              <a:rPr lang="en-US" dirty="0"/>
              <a:t>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C4B60E-B01C-012D-6707-0A9BDD34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1F7FD4-BEF3-12B9-7882-D76D5C1BA63A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8E3B8B-6F22-70E8-0C0D-62D16B0AB6A1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62299F-81FC-1598-8ABA-D34A048AAFBF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865587-ED18-C5FF-2FC1-6E34F3504B7E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FB0902-C35B-35DA-7133-CF18C46CE01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4B825E-0EA5-2EA2-0003-0EFD8887105E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C38FE72-4FA8-14C4-B89E-68A6C21A9362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4BE505-DD2D-1590-6E6D-E27E3E5F4C87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2D016E-50CC-88BD-E461-9B7CAEEF091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3F74F6-0AA0-7448-3AB4-322A53AFD0E8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2CB1F25-EAF0-56CC-943F-DDC61ADAD837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BA75A7-2951-4D4E-0989-F7D5EB13BF6C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12C0E2-E0E6-5FE6-AF43-4D82B21AE30B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6CCE3-2843-31CE-5BBD-38A55AFF36FE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F5B98B-ADD5-B7AC-3134-F58C3B9974CE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D9A5A4-3091-F321-ED69-B9D01888AB09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A5A4ECB-3E01-3193-07A3-230642169227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5912374-B7C7-21FE-4DAE-9B8160C2E417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0BFF846-B524-E77F-A735-83F3106C1827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D649BCF-D6BB-1AF5-6B89-D6C6D5615F6B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7BB1D3C-8CDB-EC74-CE69-1FCBC22C043D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14814D-2FCE-2CF1-930D-992B7FEAA8DB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CEA50A1-9E36-53FA-CA22-DE62EEB5DFF2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AAEA51-D206-EC26-C611-BDAE86352595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AAEA51-D206-EC26-C611-BDAE86352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F05E86-D4CF-CE17-4614-586DB5A27B08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F05E86-D4CF-CE17-4614-586DB5A27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4A3915-7292-9EDE-114F-2AA2E5C97272}"/>
                  </a:ext>
                </a:extLst>
              </p:cNvPr>
              <p:cNvSpPr txBox="1"/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4A3915-7292-9EDE-114F-2AA2E5C9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blipFill>
                <a:blip r:embed="rId4"/>
                <a:stretch>
                  <a:fillRect l="-70930" t="-119355" b="-1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5F231D2-CA67-D367-183C-D03B6A97E97F}"/>
              </a:ext>
            </a:extLst>
          </p:cNvPr>
          <p:cNvCxnSpPr>
            <a:cxnSpLocks/>
          </p:cNvCxnSpPr>
          <p:nvPr/>
        </p:nvCxnSpPr>
        <p:spPr>
          <a:xfrm>
            <a:off x="5053263" y="1655545"/>
            <a:ext cx="63683" cy="32565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A0FAEE5-0ACF-F976-0850-7C9CC66729E4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5715000" y="2940378"/>
            <a:chExt cx="838200" cy="6096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8C56ADF-62DD-98BD-7EB8-FA5E48AE0B57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D2F6022-8888-E357-1BC2-FC916E0798DC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D2F6022-8888-E357-1BC2-FC916E0798D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483950F-1A90-9207-6686-703667D09506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483950F-1A90-9207-6686-703667D095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10BB7FFE-36AF-1087-0CCD-66C558D3937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10BB7FFE-36AF-1087-0CCD-66C558D3937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846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81F4B86-CA55-598F-1EEC-34F2B6C8B695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46A402-A002-DCF4-C831-19506860DDF7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4711E0-7606-E33D-D43B-B8859336B14E}"/>
              </a:ext>
            </a:extLst>
          </p:cNvPr>
          <p:cNvGrpSpPr/>
          <p:nvPr/>
        </p:nvGrpSpPr>
        <p:grpSpPr>
          <a:xfrm>
            <a:off x="5715000" y="2333656"/>
            <a:ext cx="838200" cy="609600"/>
            <a:chOff x="5715000" y="2940378"/>
            <a:chExt cx="838200" cy="6096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5E09A67-0493-DD61-D7B5-9FCE7C9AED2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DDE7612-B4B9-F8AA-0699-C197A5866993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DDE7612-B4B9-F8AA-0699-C197A586699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CC5A3D0-2773-A251-E92E-E6D641080314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CC5A3D0-2773-A251-E92E-E6D6410803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9E00530-7AED-4663-A460-4CF588DAF98B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9E00530-7AED-4663-A460-4CF588DAF9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A698BA5-74D5-B592-AD87-F1B198BD9B18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AE40331-2600-194E-D985-40BABD237A33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13D9B0F-D667-2EBE-354A-186E0F751F14}"/>
              </a:ext>
            </a:extLst>
          </p:cNvPr>
          <p:cNvGrpSpPr/>
          <p:nvPr/>
        </p:nvGrpSpPr>
        <p:grpSpPr>
          <a:xfrm>
            <a:off x="5715000" y="4150161"/>
            <a:ext cx="838200" cy="609600"/>
            <a:chOff x="5715000" y="2940378"/>
            <a:chExt cx="838200" cy="6096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42DC2B3-DB8A-594E-716B-D1AB65B559D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F19B584A-C9A6-8882-04F8-AA9D3290229C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F19B584A-C9A6-8882-04F8-AA9D329022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BCBE315B-0217-701D-5ACF-DE0A32F8582E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BCBE315B-0217-701D-5ACF-DE0A32F858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26AB9FA4-6671-CFFA-A058-102ABA19FE5A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26AB9FA4-6671-CFFA-A058-102ABA19FE5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BE163D-CCC9-78A5-A164-617E715B5A85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3C21E4F-2263-F7AB-DF46-5819844B2505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73C676B-565A-45BE-B6FA-407301A0F5E8}"/>
              </a:ext>
            </a:extLst>
          </p:cNvPr>
          <p:cNvGrpSpPr/>
          <p:nvPr/>
        </p:nvGrpSpPr>
        <p:grpSpPr>
          <a:xfrm>
            <a:off x="5715000" y="3543439"/>
            <a:ext cx="838200" cy="609600"/>
            <a:chOff x="5715000" y="2940378"/>
            <a:chExt cx="838200" cy="609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DAAC1A2-739F-B14A-A0E6-F8D97811964B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86AFF0EB-76FF-5143-3CC7-CC786BE6EF49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86AFF0EB-76FF-5143-3CC7-CC786BE6EF4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E1F33F2-99F6-245A-272A-76721B73B4E8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E1F33F2-99F6-245A-272A-76721B73B4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AA1F23DF-EDE1-2358-7334-FAECD3C0A326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AA1F23DF-EDE1-2358-7334-FAECD3C0A3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AEBF567-286D-96D5-AF53-D6286A6FB45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F04403-C4E6-64B4-A52D-E98436B9031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CEF90F-1952-BCDB-EA04-6183F9AF1DF2}"/>
              </a:ext>
            </a:extLst>
          </p:cNvPr>
          <p:cNvGrpSpPr/>
          <p:nvPr/>
        </p:nvGrpSpPr>
        <p:grpSpPr>
          <a:xfrm>
            <a:off x="5963774" y="2989005"/>
            <a:ext cx="1389141" cy="592963"/>
            <a:chOff x="5963774" y="2989005"/>
            <a:chExt cx="1389141" cy="592963"/>
          </a:xfrm>
        </p:grpSpPr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5D24928A-E6A6-5F38-48F3-2E172A0DCBB3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CAC815F-B40B-437E-F540-03AD9607DC16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5963774" y="3124200"/>
              <a:ext cx="1312941" cy="1612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6B14CA9-9E72-D6F8-7874-02068AB474AF}"/>
              </a:ext>
            </a:extLst>
          </p:cNvPr>
          <p:cNvGrpSpPr/>
          <p:nvPr/>
        </p:nvGrpSpPr>
        <p:grpSpPr>
          <a:xfrm>
            <a:off x="6019800" y="2497874"/>
            <a:ext cx="1353289" cy="477766"/>
            <a:chOff x="5999626" y="2949898"/>
            <a:chExt cx="1353289" cy="632070"/>
          </a:xfrm>
        </p:grpSpPr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DACCC21A-ADE6-AF87-895D-E1ABF44D021C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1A503D9-D19E-A92F-6C77-57522420ABE9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5999626" y="2949898"/>
              <a:ext cx="1277089" cy="3355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3F8E794-10FA-72B0-D5FD-92CEAEBB6DD2}"/>
              </a:ext>
            </a:extLst>
          </p:cNvPr>
          <p:cNvGrpSpPr/>
          <p:nvPr/>
        </p:nvGrpSpPr>
        <p:grpSpPr>
          <a:xfrm>
            <a:off x="5963774" y="3595334"/>
            <a:ext cx="1389141" cy="404910"/>
            <a:chOff x="5963774" y="2989005"/>
            <a:chExt cx="1389141" cy="592963"/>
          </a:xfrm>
        </p:grpSpPr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8FAD62DB-3941-22D4-A842-E3C775179637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104D2AC-BB20-0C35-B4F4-515CC1715A5D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963774" y="3187749"/>
              <a:ext cx="1312941" cy="9773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55F0744-EDB6-855E-0506-D23CF76AE926}"/>
              </a:ext>
            </a:extLst>
          </p:cNvPr>
          <p:cNvGrpSpPr/>
          <p:nvPr/>
        </p:nvGrpSpPr>
        <p:grpSpPr>
          <a:xfrm>
            <a:off x="5963774" y="4060994"/>
            <a:ext cx="1393954" cy="592963"/>
            <a:chOff x="5958961" y="2989005"/>
            <a:chExt cx="1393954" cy="592963"/>
          </a:xfrm>
        </p:grpSpPr>
        <p:sp>
          <p:nvSpPr>
            <p:cNvPr id="78" name="Left Brace 77">
              <a:extLst>
                <a:ext uri="{FF2B5EF4-FFF2-40B4-BE49-F238E27FC236}">
                  <a16:creationId xmlns:a16="http://schemas.microsoft.com/office/drawing/2014/main" id="{E2EC6303-FDAB-CFAE-71C9-275DC8F018B9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129966D-B87D-2FF5-D4BB-A5D091CCACD2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5958961" y="3227388"/>
              <a:ext cx="1317754" cy="580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773A340-597E-2FE1-B3AF-9E002C38DEE1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83A2EAD-2EAE-0A84-8403-F1540D21351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5CDC5E5-755A-87DC-93C0-4846107B8CF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4D0C416-E62F-3465-09A2-3AD8BE2A06D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FA5B27F-DF14-3672-4FE7-23BC0A5A33C1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94A88AD-03D2-08C9-B4A7-23381FBFC077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A2ABC42-AA94-6341-F5E6-7E4C63AFF97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DB6521C-1E1E-A2B7-6E41-6CA18AF4D7BF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51999083-9B19-172F-4C3B-D9E08140CEC6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BDBD56A-C211-6B79-9F14-C4FF56BE1AEF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173ECE0-7135-3B79-3201-0A870EC23E59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936DF297-2D2D-708F-607E-D039D7B9FB01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7DDF01D-64CE-6D1E-767F-117F8FDF6473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E258D59-E1D6-6926-1978-6CBA17D4AE71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353A4F9-5394-9CAC-50C1-2033EC4FBB4A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024994C-199B-64A3-59D3-532EB77B145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997C68C-BC6F-00F4-5B98-4BAEF22E47D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EB8FCC8-3ADF-51C3-0769-0C4627E60C1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4FDF954-133A-43E9-7ED3-AB847DE8B87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10ACC82-E1C1-F94A-F8D0-AD182CF9F1F4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22D3641-0612-B85B-84B2-A0374F0733CF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980C4E8-E47A-20CD-23D5-E27AE2C9EB3D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8230A06-B083-F00B-B2CC-2CFD192CBFBC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87A0CA73-4F11-8D0C-22D8-B0912396F4A9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EDC2670-8F0A-8942-8592-CCA2C9B9369B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6822A2-F7FD-3671-AA52-0B24EB052CC7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926C14A-107E-D6E3-CAFE-47825D172C3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D1ECDB7-75AE-B422-5805-D57D852F124E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702B844-0E48-1D8E-B996-D6F1F55AD88F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4086158" y="2640732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2C5C437-E15F-27C8-B4A8-9C83D7449DB5}"/>
              </a:ext>
            </a:extLst>
          </p:cNvPr>
          <p:cNvCxnSpPr>
            <a:cxnSpLocks/>
          </p:cNvCxnSpPr>
          <p:nvPr/>
        </p:nvCxnSpPr>
        <p:spPr>
          <a:xfrm flipV="1">
            <a:off x="4132160" y="2295409"/>
            <a:ext cx="457732" cy="76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69F322A-EDA4-9DCE-4CB2-0E2F071EF2C1}"/>
              </a:ext>
            </a:extLst>
          </p:cNvPr>
          <p:cNvCxnSpPr>
            <a:cxnSpLocks/>
          </p:cNvCxnSpPr>
          <p:nvPr/>
        </p:nvCxnSpPr>
        <p:spPr>
          <a:xfrm flipV="1">
            <a:off x="4117116" y="2473844"/>
            <a:ext cx="487820" cy="125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30A2E78-B24A-A4DA-FC49-03EE74B84A15}"/>
              </a:ext>
            </a:extLst>
          </p:cNvPr>
          <p:cNvCxnSpPr>
            <a:cxnSpLocks/>
          </p:cNvCxnSpPr>
          <p:nvPr/>
        </p:nvCxnSpPr>
        <p:spPr>
          <a:xfrm flipV="1">
            <a:off x="4063440" y="2497874"/>
            <a:ext cx="572454" cy="180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56F359D-609A-6359-6FBE-C293ACD26365}"/>
              </a:ext>
            </a:extLst>
          </p:cNvPr>
          <p:cNvCxnSpPr>
            <a:cxnSpLocks/>
          </p:cNvCxnSpPr>
          <p:nvPr/>
        </p:nvCxnSpPr>
        <p:spPr>
          <a:xfrm flipV="1">
            <a:off x="4086158" y="320743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AF52E1E-289E-4239-D114-00FF78DF6F24}"/>
              </a:ext>
            </a:extLst>
          </p:cNvPr>
          <p:cNvCxnSpPr>
            <a:cxnSpLocks/>
          </p:cNvCxnSpPr>
          <p:nvPr/>
        </p:nvCxnSpPr>
        <p:spPr>
          <a:xfrm flipV="1">
            <a:off x="4067294" y="381317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5263AB0-2ABF-EC10-A0E7-F8999963E0E6}"/>
              </a:ext>
            </a:extLst>
          </p:cNvPr>
          <p:cNvCxnSpPr>
            <a:cxnSpLocks/>
          </p:cNvCxnSpPr>
          <p:nvPr/>
        </p:nvCxnSpPr>
        <p:spPr>
          <a:xfrm flipV="1">
            <a:off x="4032646" y="438032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6EC162D-D1F4-C890-EE76-E0E67F09A3E3}"/>
              </a:ext>
            </a:extLst>
          </p:cNvPr>
          <p:cNvCxnSpPr/>
          <p:nvPr/>
        </p:nvCxnSpPr>
        <p:spPr>
          <a:xfrm>
            <a:off x="2209800" y="2382070"/>
            <a:ext cx="127866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B577F48-DCF4-B8DE-0B0B-2892A13EDEA6}"/>
              </a:ext>
            </a:extLst>
          </p:cNvPr>
          <p:cNvSpPr txBox="1"/>
          <p:nvPr/>
        </p:nvSpPr>
        <p:spPr>
          <a:xfrm>
            <a:off x="1466111" y="2180004"/>
            <a:ext cx="694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2B7079F-C989-B7BC-32A6-C9043A24DAEA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4132160" y="2145886"/>
            <a:ext cx="439840" cy="322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CCFBF5-B994-56EF-2A17-9E16B5FCC244}"/>
              </a:ext>
            </a:extLst>
          </p:cNvPr>
          <p:cNvGrpSpPr/>
          <p:nvPr/>
        </p:nvGrpSpPr>
        <p:grpSpPr>
          <a:xfrm>
            <a:off x="6013331" y="2649161"/>
            <a:ext cx="585700" cy="2076958"/>
            <a:chOff x="6013331" y="2649161"/>
            <a:chExt cx="585700" cy="207695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D28AA2-C9A9-FD22-BC53-91CA48792A32}"/>
                </a:ext>
              </a:extLst>
            </p:cNvPr>
            <p:cNvSpPr txBox="1"/>
            <p:nvPr/>
          </p:nvSpPr>
          <p:spPr>
            <a:xfrm>
              <a:off x="6033492" y="2649161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CFECF83-CA88-7932-34CE-8B3F95A453E2}"/>
                </a:ext>
              </a:extLst>
            </p:cNvPr>
            <p:cNvSpPr txBox="1"/>
            <p:nvPr/>
          </p:nvSpPr>
          <p:spPr>
            <a:xfrm>
              <a:off x="6023160" y="3284685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B84741B-7DF3-C063-3560-738E366118FD}"/>
                </a:ext>
              </a:extLst>
            </p:cNvPr>
            <p:cNvSpPr txBox="1"/>
            <p:nvPr/>
          </p:nvSpPr>
          <p:spPr>
            <a:xfrm>
              <a:off x="6023160" y="3842988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E58F510-4391-69F1-7568-62FCC99AFEB3}"/>
                </a:ext>
              </a:extLst>
            </p:cNvPr>
            <p:cNvSpPr txBox="1"/>
            <p:nvPr/>
          </p:nvSpPr>
          <p:spPr>
            <a:xfrm>
              <a:off x="6013331" y="4449120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D2B9E8-4F07-7A6B-3B7F-007B195FD987}"/>
              </a:ext>
            </a:extLst>
          </p:cNvPr>
          <p:cNvSpPr txBox="1"/>
          <p:nvPr/>
        </p:nvSpPr>
        <p:spPr>
          <a:xfrm>
            <a:off x="5582029" y="2003361"/>
            <a:ext cx="875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FC1DE1-FB23-DCDA-82E4-D10C15601093}"/>
              </a:ext>
            </a:extLst>
          </p:cNvPr>
          <p:cNvSpPr txBox="1"/>
          <p:nvPr/>
        </p:nvSpPr>
        <p:spPr>
          <a:xfrm>
            <a:off x="457200" y="3842987"/>
            <a:ext cx="632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tasks array has the</a:t>
            </a:r>
          </a:p>
          <a:p>
            <a:r>
              <a:rPr lang="en-US" dirty="0"/>
              <a:t>scheduler-side information</a:t>
            </a:r>
          </a:p>
          <a:p>
            <a:r>
              <a:rPr lang="en-US" dirty="0"/>
              <a:t>about each task; </a:t>
            </a:r>
          </a:p>
          <a:p>
            <a:r>
              <a:rPr lang="en-US" dirty="0"/>
              <a:t>that includes,</a:t>
            </a:r>
          </a:p>
          <a:p>
            <a:r>
              <a:rPr lang="en-US" dirty="0"/>
              <a:t>as shown here, pointer to what function f to execute and the specific closure information for each task. </a:t>
            </a:r>
          </a:p>
        </p:txBody>
      </p:sp>
    </p:spTree>
    <p:extLst>
      <p:ext uri="{BB962C8B-B14F-4D97-AF65-F5344CB8AC3E}">
        <p14:creationId xmlns:p14="http://schemas.microsoft.com/office/powerpoint/2010/main" val="393046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make_tasks</a:t>
            </a:r>
            <a:r>
              <a:rPr lang="en-US" dirty="0"/>
              <a:t>( ), </a:t>
            </a:r>
            <a:r>
              <a:rPr lang="en-US" dirty="0" err="1"/>
              <a:t>initialize_task</a:t>
            </a:r>
            <a:r>
              <a:rPr lang="en-US" dirty="0"/>
              <a:t>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B0D55-2899-D733-0790-D00A6A297361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3AD8E-A8FE-CC0C-BF43-A33550227023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C2CDAD-534E-A9F7-A4D8-B8EE2FAD2457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E1A3C5-7675-5813-4E41-E69C96FD445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11B77E-CF7D-5F21-DC45-B56DF6E2ECB3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95DD48-E6D4-C3A3-30AB-4BC719731758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EB67F5-2927-FCC7-89AA-EA6D71AC4004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C77942-D7F9-1A22-2A4B-4C317F172FAF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D6998B-FAF4-BC04-D3A6-7721AA34F183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B09ED7-E6EC-864F-BD09-42EF451031F5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26622C-594C-D4C5-03FC-5C4775AEDE9F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AFB1D7-AD60-FEBB-1B7A-F57776EA37F2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465C35-51BC-017A-34CD-9DD522954162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AC188F-99FF-5C29-DD40-20F9A46C23DA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59149A-EA60-76C6-44DF-CEA47534B12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763DBB-413F-C755-AEEA-61B710DA24A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AC83E4-CEE6-3F5C-AD1A-73BF4DD3F8B0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23B4099-C91D-5ED1-AA20-D66903451068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F45750-211E-E849-158A-53DADC0E81C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1CDDFFB-A031-90F0-A648-7B40B719334F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0DCB0E-F981-9BC5-81A1-FFC0967A3069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5F023D3-BCAC-9260-5DA9-F03A1D6241FC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/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755A463-F487-947D-92AE-29B350B46F26}"/>
              </a:ext>
            </a:extLst>
          </p:cNvPr>
          <p:cNvCxnSpPr>
            <a:cxnSpLocks/>
          </p:cNvCxnSpPr>
          <p:nvPr/>
        </p:nvCxnSpPr>
        <p:spPr>
          <a:xfrm>
            <a:off x="5053263" y="1655545"/>
            <a:ext cx="63683" cy="32565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BF5FE0F-206E-3E55-4E23-8DC54FB630FE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5715000" y="2940378"/>
            <a:chExt cx="838200" cy="6096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BE47DEA-63E2-3689-1D5B-3F7A6AB8D4B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13603F1-A0BD-4EF5-E4C2-7E14C867EFC6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result</a:t>
                </a:r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3AA749-0CC6-48EE-5310-CC1573DA968C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E22B78-1A4A-52FC-192A-409343C2FDC6}"/>
              </a:ext>
            </a:extLst>
          </p:cNvPr>
          <p:cNvGrpSpPr/>
          <p:nvPr/>
        </p:nvGrpSpPr>
        <p:grpSpPr>
          <a:xfrm>
            <a:off x="5715000" y="2333656"/>
            <a:ext cx="838200" cy="609600"/>
            <a:chOff x="5715000" y="2940378"/>
            <a:chExt cx="838200" cy="6096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12794AC-DF22-A969-C31E-73C11C9596C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0965407-F7A2-B3BD-D58B-2B3B02A5F801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0965407-F7A2-B3BD-D58B-2B3B02A5F80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E9463EC-5E8B-1528-EE98-00BF1105147D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E9463EC-5E8B-1528-EE98-00BF1105147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73CF74-DD41-C94D-707A-EF0C992B606C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73CF74-DD41-C94D-707A-EF0C992B60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ACCE79B-0AA7-D357-8734-E9B442F89B80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result</a:t>
                </a:r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D738A50-585B-AD19-6485-435B2630BA1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79389A2-3B15-1B18-C519-139046B07D0F}"/>
              </a:ext>
            </a:extLst>
          </p:cNvPr>
          <p:cNvGrpSpPr/>
          <p:nvPr/>
        </p:nvGrpSpPr>
        <p:grpSpPr>
          <a:xfrm>
            <a:off x="5715000" y="4150161"/>
            <a:ext cx="838200" cy="609600"/>
            <a:chOff x="5715000" y="2940378"/>
            <a:chExt cx="838200" cy="6096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AFC8666-1886-77BC-0C38-F13148A84C52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729B9625-59C0-8AD9-DB30-E47D91863945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729B9625-59C0-8AD9-DB30-E47D918639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748F2B2-4CEE-15E0-9D8E-B96F892CBE85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748F2B2-4CEE-15E0-9D8E-B96F892CBE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E7796B52-FBD4-9075-46EA-909710775F4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E7796B52-FBD4-9075-46EA-909710775F4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BA8600E-C996-C4C4-D592-51445A0B50B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result</a:t>
                </a:r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85F35E5-1A58-50AC-DF43-0E3DD400BE6F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F98D3CF-B3BC-2DDF-69B3-2CCCF39F6F24}"/>
              </a:ext>
            </a:extLst>
          </p:cNvPr>
          <p:cNvGrpSpPr/>
          <p:nvPr/>
        </p:nvGrpSpPr>
        <p:grpSpPr>
          <a:xfrm>
            <a:off x="5715000" y="3543439"/>
            <a:ext cx="838200" cy="609600"/>
            <a:chOff x="5715000" y="2940378"/>
            <a:chExt cx="838200" cy="609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DDEBD91-96C3-4BCE-791A-4E9B77298C2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065B1916-A52A-1CD6-098E-DAEEAB267B28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065B1916-A52A-1CD6-098E-DAEEAB267B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69375B4-300D-4DB5-2AD1-111E5145126F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69375B4-300D-4DB5-2AD1-111E514512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D1338B1-105D-74F7-0E55-C58931B1A9BE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D1338B1-105D-74F7-0E55-C58931B1A9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9C6F36E-2931-EB06-A25B-06525CEAE35B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result</a:t>
                </a:r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BB1F08B-9BE9-1CD0-029B-EC38CE3F7DE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B45FDE-B686-6987-FBC7-18F61FA5D105}"/>
              </a:ext>
            </a:extLst>
          </p:cNvPr>
          <p:cNvGrpSpPr/>
          <p:nvPr/>
        </p:nvGrpSpPr>
        <p:grpSpPr>
          <a:xfrm>
            <a:off x="5943600" y="2989005"/>
            <a:ext cx="1409315" cy="592963"/>
            <a:chOff x="5943600" y="2989005"/>
            <a:chExt cx="1409315" cy="592963"/>
          </a:xfrm>
        </p:grpSpPr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B9C5AA0C-EA0F-20A4-7D7E-94A431426FDB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BDB63F-2CDE-722D-D050-35E747F46922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5943600" y="3285487"/>
              <a:ext cx="1333115" cy="841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51F1689-DC4B-9DC0-0D79-AC9D818E1DC9}"/>
              </a:ext>
            </a:extLst>
          </p:cNvPr>
          <p:cNvGrpSpPr/>
          <p:nvPr/>
        </p:nvGrpSpPr>
        <p:grpSpPr>
          <a:xfrm>
            <a:off x="5963774" y="2527434"/>
            <a:ext cx="1409315" cy="448206"/>
            <a:chOff x="5943600" y="2989005"/>
            <a:chExt cx="1409315" cy="592963"/>
          </a:xfrm>
        </p:grpSpPr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8A47C49D-8244-7BFF-C5F6-F8EC434FA234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78FCACC-782E-E871-1372-63913F3EDAA6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 flipV="1">
              <a:off x="5943600" y="3285487"/>
              <a:ext cx="1333115" cy="841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38EDEE4-63EE-1A71-7381-33C48C7DF066}"/>
              </a:ext>
            </a:extLst>
          </p:cNvPr>
          <p:cNvGrpSpPr/>
          <p:nvPr/>
        </p:nvGrpSpPr>
        <p:grpSpPr>
          <a:xfrm>
            <a:off x="5943600" y="3595334"/>
            <a:ext cx="1409315" cy="404910"/>
            <a:chOff x="5943600" y="2989005"/>
            <a:chExt cx="1409315" cy="592963"/>
          </a:xfrm>
        </p:grpSpPr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57A03A9A-DF86-3A63-B8A3-7558A77CA87E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B0FFE10-2D96-2301-28B4-48EB6F2AC9AC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5943600" y="3285487"/>
              <a:ext cx="1333115" cy="28539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1E848D0-BAEB-A1E5-5B6A-1070AA559E97}"/>
              </a:ext>
            </a:extLst>
          </p:cNvPr>
          <p:cNvGrpSpPr/>
          <p:nvPr/>
        </p:nvGrpSpPr>
        <p:grpSpPr>
          <a:xfrm>
            <a:off x="5963774" y="4060994"/>
            <a:ext cx="1393954" cy="592963"/>
            <a:chOff x="5958961" y="2989005"/>
            <a:chExt cx="1393954" cy="592963"/>
          </a:xfrm>
        </p:grpSpPr>
        <p:sp>
          <p:nvSpPr>
            <p:cNvPr id="78" name="Left Brace 77">
              <a:extLst>
                <a:ext uri="{FF2B5EF4-FFF2-40B4-BE49-F238E27FC236}">
                  <a16:creationId xmlns:a16="http://schemas.microsoft.com/office/drawing/2014/main" id="{35501951-1F3F-AF2B-F08D-48E3D638BDE0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7CE059F-B8C6-661D-E477-706BEE9A95AE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 flipV="1">
              <a:off x="5958961" y="3285487"/>
              <a:ext cx="1317754" cy="19488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4FC5CC-A2E2-6553-58FE-368A1A4F63B5}"/>
              </a:ext>
            </a:extLst>
          </p:cNvPr>
          <p:cNvSpPr/>
          <p:nvPr/>
        </p:nvSpPr>
        <p:spPr>
          <a:xfrm>
            <a:off x="481862" y="4529204"/>
            <a:ext cx="4838640" cy="203333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make_dotprod_tasks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 =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num_threads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=(struct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*)malloc(T*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sizeof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(…));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(t=0; t&lt;T; t++)  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(tasks, t,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dtasks+t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 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730F38-9A76-7AE5-EE78-B1775D1553FB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191DA6-F0FC-6A07-D735-60926EC163D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82D4B7-CC97-F72C-0F17-0ABE0F13D89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16F3F8B-9ED7-7CE5-0F89-2877EE67FD9A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CBD370-4D52-2610-5145-DEA2F59D7A2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68F8F2-E439-487A-FA26-EFED899C270B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E1A3A61-F42E-A620-6768-3A4A01002DFA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2086F7-D199-3322-5FDD-FCC8924F699B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09B9A3E-1346-2F10-9683-0881F1BCEBE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282ABFC-46A4-62FF-000B-8BBA465D102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D7E254E-F8AB-A726-5114-FCF48B97161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D83C699-2B08-CEB8-BBF1-1E47249DAF6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BDEA1887-5FEA-6F60-26B9-22AB4D17459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C91CC5-32DC-6552-3E73-9F0AF05E23B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E81F4C-2909-1835-63FB-E86E614D7FDC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70C8079-261F-304C-0733-DD6F9DFB795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DF7542B-3FA6-3308-899C-B52C1E20660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C55B335-6C2F-EF17-77C2-112BCB941F52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929C35D-3AA7-68C0-ABBB-F7720745DC8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6BCAC0-1300-9739-BFE3-455433FA562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84E38F1-9273-B908-41EC-3FCB6C7C46F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BF5510-67DC-08E0-317F-D97564A68C6B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1A1F41-356A-CFD5-612C-AA57799F2E1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FF68D55-C7A2-29C8-7200-311D37A6A16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B512168-C248-0E65-B58C-97FEA3C28F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6D2361-6FF8-9363-D750-B7EA03815D2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118627-724C-1EBC-2FD0-13E9A4E682E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E7F6130-CE24-395A-6CD2-FE5D199DD5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85E7B24-8932-338C-A682-6A9C2B6AB00E}"/>
              </a:ext>
            </a:extLst>
          </p:cNvPr>
          <p:cNvGrpSpPr/>
          <p:nvPr/>
        </p:nvGrpSpPr>
        <p:grpSpPr>
          <a:xfrm>
            <a:off x="4086158" y="2295409"/>
            <a:ext cx="1628842" cy="1118252"/>
            <a:chOff x="4086158" y="2295409"/>
            <a:chExt cx="1628842" cy="1118252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9C8E5C6-1FEE-815D-50ED-636E42582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0" y="2295409"/>
              <a:ext cx="457732" cy="769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9D0142D2-393D-30BF-5E2A-0EDB6DB1CB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158" y="320743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B88AB66-446D-BE44-7D6D-41240AABD4BB}"/>
              </a:ext>
            </a:extLst>
          </p:cNvPr>
          <p:cNvGrpSpPr/>
          <p:nvPr/>
        </p:nvGrpSpPr>
        <p:grpSpPr>
          <a:xfrm>
            <a:off x="4067294" y="2473844"/>
            <a:ext cx="1628842" cy="1545557"/>
            <a:chOff x="4067294" y="2473844"/>
            <a:chExt cx="1628842" cy="1545557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83068C4-ABA7-906A-0AE7-246AC9784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7116" y="2473844"/>
              <a:ext cx="487820" cy="1257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8FA28E8-710E-758F-8432-8095DCA6E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294" y="381317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409BF1B-E803-F68A-8CB8-57AE50065F36}"/>
              </a:ext>
            </a:extLst>
          </p:cNvPr>
          <p:cNvGrpSpPr/>
          <p:nvPr/>
        </p:nvGrpSpPr>
        <p:grpSpPr>
          <a:xfrm>
            <a:off x="4032646" y="2497874"/>
            <a:ext cx="1628842" cy="2088677"/>
            <a:chOff x="4032646" y="2497874"/>
            <a:chExt cx="1628842" cy="2088677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545CEEB-889C-1182-9322-ABAC92993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3440" y="2497874"/>
              <a:ext cx="572454" cy="180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616F9CF-F61E-2571-F2F8-9E5458B8F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2646" y="438032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8F4D15-E740-ABD1-CBFB-7C5C3A0C15CF}"/>
              </a:ext>
            </a:extLst>
          </p:cNvPr>
          <p:cNvCxnSpPr/>
          <p:nvPr/>
        </p:nvCxnSpPr>
        <p:spPr>
          <a:xfrm>
            <a:off x="2209800" y="2382070"/>
            <a:ext cx="127866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200FB80-065D-C801-F3DE-D8012B3BD2FA}"/>
              </a:ext>
            </a:extLst>
          </p:cNvPr>
          <p:cNvSpPr txBox="1"/>
          <p:nvPr/>
        </p:nvSpPr>
        <p:spPr>
          <a:xfrm>
            <a:off x="1466111" y="2180004"/>
            <a:ext cx="694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tasks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75AEFAE-6DA8-7099-5A88-28799A4AFC85}"/>
              </a:ext>
            </a:extLst>
          </p:cNvPr>
          <p:cNvGrpSpPr/>
          <p:nvPr/>
        </p:nvGrpSpPr>
        <p:grpSpPr>
          <a:xfrm>
            <a:off x="4086158" y="2145886"/>
            <a:ext cx="1628842" cy="701072"/>
            <a:chOff x="4086158" y="2145886"/>
            <a:chExt cx="1628842" cy="701072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B38E91E8-BBD6-D004-4A03-B20205361A42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 flipV="1">
              <a:off x="4086158" y="2640732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3DB6EA3-59F6-4E79-4456-19B83F1A23BC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 flipV="1">
              <a:off x="4132160" y="2145886"/>
              <a:ext cx="439840" cy="322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50033F-4479-88F6-8FAE-9D21CF7E534C}"/>
              </a:ext>
            </a:extLst>
          </p:cNvPr>
          <p:cNvSpPr txBox="1"/>
          <p:nvPr/>
        </p:nvSpPr>
        <p:spPr>
          <a:xfrm>
            <a:off x="5582029" y="2003361"/>
            <a:ext cx="875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7DCAF-9348-3FCE-A6DF-62977104376A}"/>
              </a:ext>
            </a:extLst>
          </p:cNvPr>
          <p:cNvSpPr txBox="1"/>
          <p:nvPr/>
        </p:nvSpPr>
        <p:spPr>
          <a:xfrm>
            <a:off x="5582029" y="4953000"/>
            <a:ext cx="31809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here is the client’s function that creates both the</a:t>
            </a:r>
          </a:p>
          <a:p>
            <a:r>
              <a:rPr lang="en-US" dirty="0"/>
              <a:t>tasks array and the </a:t>
            </a:r>
            <a:r>
              <a:rPr lang="en-US" dirty="0" err="1"/>
              <a:t>dtasks</a:t>
            </a:r>
            <a:r>
              <a:rPr lang="en-US" dirty="0"/>
              <a:t> array, and fills in the tasks.</a:t>
            </a:r>
          </a:p>
          <a:p>
            <a:endParaRPr lang="en-US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num_threads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/>
              <a:t>is a client-side</a:t>
            </a:r>
          </a:p>
          <a:p>
            <a:r>
              <a:rPr lang="en-US" sz="1200" dirty="0"/>
              <a:t>global variable.</a:t>
            </a:r>
          </a:p>
        </p:txBody>
      </p:sp>
    </p:spTree>
    <p:extLst>
      <p:ext uri="{BB962C8B-B14F-4D97-AF65-F5344CB8AC3E}">
        <p14:creationId xmlns:p14="http://schemas.microsoft.com/office/powerpoint/2010/main" val="154461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do_tasks</a:t>
            </a:r>
            <a:r>
              <a:rPr lang="en-US" dirty="0"/>
              <a:t>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B0D55-2899-D733-0790-D00A6A297361}"/>
              </a:ext>
            </a:extLst>
          </p:cNvPr>
          <p:cNvGrpSpPr/>
          <p:nvPr/>
        </p:nvGrpSpPr>
        <p:grpSpPr>
          <a:xfrm>
            <a:off x="7464752" y="2530876"/>
            <a:ext cx="381000" cy="2107933"/>
            <a:chOff x="4724400" y="2530876"/>
            <a:chExt cx="381000" cy="21079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33AD8E-A8FE-CC0C-BF43-A33550227023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C2CDAD-534E-A9F7-A4D8-B8EE2FAD2457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E1A3C5-7675-5813-4E41-E69C96FD445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11B77E-CF7D-5F21-DC45-B56DF6E2ECB3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95DD48-E6D4-C3A3-30AB-4BC719731758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EB67F5-2927-FCC7-89AA-EA6D71AC4004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C77942-D7F9-1A22-2A4B-4C317F172FAF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D6998B-FAF4-BC04-D3A6-7721AA34F183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B09ED7-E6EC-864F-BD09-42EF451031F5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26622C-594C-D4C5-03FC-5C4775AEDE9F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AFB1D7-AD60-FEBB-1B7A-F57776EA37F2}"/>
              </a:ext>
            </a:extLst>
          </p:cNvPr>
          <p:cNvGrpSpPr/>
          <p:nvPr/>
        </p:nvGrpSpPr>
        <p:grpSpPr>
          <a:xfrm>
            <a:off x="8001000" y="2527433"/>
            <a:ext cx="381000" cy="2107933"/>
            <a:chOff x="4724400" y="2530876"/>
            <a:chExt cx="381000" cy="210793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465C35-51BC-017A-34CD-9DD522954162}"/>
                </a:ext>
              </a:extLst>
            </p:cNvPr>
            <p:cNvSpPr/>
            <p:nvPr/>
          </p:nvSpPr>
          <p:spPr>
            <a:xfrm>
              <a:off x="4724400" y="2530876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AC188F-99FF-5C29-DD40-20F9A46C23DA}"/>
                </a:ext>
              </a:extLst>
            </p:cNvPr>
            <p:cNvSpPr/>
            <p:nvPr/>
          </p:nvSpPr>
          <p:spPr>
            <a:xfrm>
              <a:off x="4724400" y="2743200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59149A-EA60-76C6-44DF-CEA47534B12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763DBB-413F-C755-AEEA-61B710DA24A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AC83E4-CEE6-3F5C-AD1A-73BF4DD3F8B0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23B4099-C91D-5ED1-AA20-D66903451068}"/>
                </a:ext>
              </a:extLst>
            </p:cNvPr>
            <p:cNvSpPr/>
            <p:nvPr/>
          </p:nvSpPr>
          <p:spPr>
            <a:xfrm>
              <a:off x="4724400" y="358541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F45750-211E-E849-158A-53DADC0E81C8}"/>
                </a:ext>
              </a:extLst>
            </p:cNvPr>
            <p:cNvSpPr/>
            <p:nvPr/>
          </p:nvSpPr>
          <p:spPr>
            <a:xfrm>
              <a:off x="4724400" y="3793624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1CDDFFB-A031-90F0-A648-7B40B719334F}"/>
                </a:ext>
              </a:extLst>
            </p:cNvPr>
            <p:cNvSpPr/>
            <p:nvPr/>
          </p:nvSpPr>
          <p:spPr>
            <a:xfrm>
              <a:off x="4724400" y="4005948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0DCB0E-F981-9BC5-81A1-FFC0967A3069}"/>
                </a:ext>
              </a:extLst>
            </p:cNvPr>
            <p:cNvSpPr/>
            <p:nvPr/>
          </p:nvSpPr>
          <p:spPr>
            <a:xfrm>
              <a:off x="4724400" y="4214161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5F023D3-BCAC-9260-5DA9-F03A1D6241FC}"/>
                </a:ext>
              </a:extLst>
            </p:cNvPr>
            <p:cNvSpPr/>
            <p:nvPr/>
          </p:nvSpPr>
          <p:spPr>
            <a:xfrm>
              <a:off x="4724400" y="4426485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/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DA42E-1953-761A-7D81-12E18E6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218" y="2197404"/>
                <a:ext cx="3663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/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EF7269-B506-F328-0694-172A2F8A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52" y="2197404"/>
                <a:ext cx="366382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/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00F7B9-5348-8A03-253E-274929089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764339"/>
                <a:ext cx="1089892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755A463-F487-947D-92AE-29B350B46F26}"/>
              </a:ext>
            </a:extLst>
          </p:cNvPr>
          <p:cNvCxnSpPr>
            <a:cxnSpLocks/>
          </p:cNvCxnSpPr>
          <p:nvPr/>
        </p:nvCxnSpPr>
        <p:spPr>
          <a:xfrm>
            <a:off x="5053263" y="1655545"/>
            <a:ext cx="63683" cy="32565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BF5FE0F-206E-3E55-4E23-8DC54FB630FE}"/>
              </a:ext>
            </a:extLst>
          </p:cNvPr>
          <p:cNvGrpSpPr/>
          <p:nvPr/>
        </p:nvGrpSpPr>
        <p:grpSpPr>
          <a:xfrm>
            <a:off x="5715000" y="2940378"/>
            <a:ext cx="838200" cy="609600"/>
            <a:chOff x="5715000" y="2940378"/>
            <a:chExt cx="838200" cy="6096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BE47DEA-63E2-3689-1D5B-3F7A6AB8D4B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1E7B5EE-0700-4917-CEE1-EAAA004E87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70CD17C-1D09-2E3C-6F11-D4CFB5A40C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BCA2A7CA-4C31-9F68-C563-5141BBAA49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13603F1-A0BD-4EF5-E4C2-7E14C867EFC6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3AA749-0CC6-48EE-5310-CC1573DA968C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E22B78-1A4A-52FC-192A-409343C2FDC6}"/>
              </a:ext>
            </a:extLst>
          </p:cNvPr>
          <p:cNvGrpSpPr/>
          <p:nvPr/>
        </p:nvGrpSpPr>
        <p:grpSpPr>
          <a:xfrm>
            <a:off x="5715000" y="2333656"/>
            <a:ext cx="838200" cy="609600"/>
            <a:chOff x="5715000" y="2940378"/>
            <a:chExt cx="838200" cy="6096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12794AC-DF22-A969-C31E-73C11C9596C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0965407-F7A2-B3BD-D58B-2B3B02A5F801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0965407-F7A2-B3BD-D58B-2B3B02A5F80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E9463EC-5E8B-1528-EE98-00BF1105147D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E9463EC-5E8B-1528-EE98-00BF1105147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73CF74-DD41-C94D-707A-EF0C992B606C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73CF74-DD41-C94D-707A-EF0C992B60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ACCE79B-0AA7-D357-8734-E9B442F89B80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D738A50-585B-AD19-6485-435B2630BA1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79389A2-3B15-1B18-C519-139046B07D0F}"/>
              </a:ext>
            </a:extLst>
          </p:cNvPr>
          <p:cNvGrpSpPr/>
          <p:nvPr/>
        </p:nvGrpSpPr>
        <p:grpSpPr>
          <a:xfrm>
            <a:off x="5715000" y="4150161"/>
            <a:ext cx="838200" cy="609600"/>
            <a:chOff x="5715000" y="2940378"/>
            <a:chExt cx="838200" cy="6096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AFC8666-1886-77BC-0C38-F13148A84C52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729B9625-59C0-8AD9-DB30-E47D91863945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729B9625-59C0-8AD9-DB30-E47D918639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748F2B2-4CEE-15E0-9D8E-B96F892CBE85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748F2B2-4CEE-15E0-9D8E-B96F892CBE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E7796B52-FBD4-9075-46EA-909710775F4F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E7796B52-FBD4-9075-46EA-909710775F4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BA8600E-C996-C4C4-D592-51445A0B50B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85F35E5-1A58-50AC-DF43-0E3DD400BE6F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F98D3CF-B3BC-2DDF-69B3-2CCCF39F6F24}"/>
              </a:ext>
            </a:extLst>
          </p:cNvPr>
          <p:cNvGrpSpPr/>
          <p:nvPr/>
        </p:nvGrpSpPr>
        <p:grpSpPr>
          <a:xfrm>
            <a:off x="5715000" y="3543439"/>
            <a:ext cx="838200" cy="609600"/>
            <a:chOff x="5715000" y="2940378"/>
            <a:chExt cx="838200" cy="6096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DDEBD91-96C3-4BCE-791A-4E9B77298C2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065B1916-A52A-1CD6-098E-DAEEAB267B28}"/>
                      </a:ext>
                    </a:extLst>
                  </p:cNvPr>
                  <p:cNvSpPr/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pc="-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pc="-1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900" spc="-150" dirty="0"/>
                  </a:p>
                </p:txBody>
              </p:sp>
            </mc:Choice>
            <mc:Fallback xmlns="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065B1916-A52A-1CD6-098E-DAEEAB267B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423844"/>
                    <a:ext cx="381000" cy="3048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69375B4-300D-4DB5-2AD1-111E5145126F}"/>
                      </a:ext>
                    </a:extLst>
                  </p:cNvPr>
                  <p:cNvSpPr/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1200" cap="none" spc="-15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sz="1100" b="0" i="1" u="none" strike="noStrike" kern="1200" cap="none" spc="-15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9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69375B4-300D-4DB5-2AD1-111E514512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000" y="4423042"/>
                    <a:ext cx="381000" cy="3048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D1338B1-105D-74F7-0E55-C58931B1A9BE}"/>
                      </a:ext>
                    </a:extLst>
                  </p:cNvPr>
                  <p:cNvSpPr/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D1338B1-105D-74F7-0E55-C58931B1A9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4727842"/>
                    <a:ext cx="312417" cy="3048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724" b="-1923"/>
                    </a:stretch>
                  </a:blipFill>
                  <a:ln w="952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9C6F36E-2931-EB06-A25B-06525CEAE35B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BB1F08B-9BE9-1CD0-029B-EC38CE3F7DE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B45FDE-B686-6987-FBC7-18F61FA5D105}"/>
              </a:ext>
            </a:extLst>
          </p:cNvPr>
          <p:cNvGrpSpPr/>
          <p:nvPr/>
        </p:nvGrpSpPr>
        <p:grpSpPr>
          <a:xfrm>
            <a:off x="5963774" y="2989005"/>
            <a:ext cx="1389141" cy="592963"/>
            <a:chOff x="5963774" y="2989005"/>
            <a:chExt cx="1389141" cy="592963"/>
          </a:xfrm>
        </p:grpSpPr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B9C5AA0C-EA0F-20A4-7D7E-94A431426FDB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BDB63F-2CDE-722D-D050-35E747F46922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5963774" y="3124200"/>
              <a:ext cx="1312941" cy="1612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51F1689-DC4B-9DC0-0D79-AC9D818E1DC9}"/>
              </a:ext>
            </a:extLst>
          </p:cNvPr>
          <p:cNvGrpSpPr/>
          <p:nvPr/>
        </p:nvGrpSpPr>
        <p:grpSpPr>
          <a:xfrm>
            <a:off x="6019800" y="2497874"/>
            <a:ext cx="1353289" cy="477766"/>
            <a:chOff x="5999626" y="2949898"/>
            <a:chExt cx="1353289" cy="632070"/>
          </a:xfrm>
        </p:grpSpPr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8A47C49D-8244-7BFF-C5F6-F8EC434FA234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78FCACC-782E-E871-1372-63913F3EDAA6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5999626" y="2949898"/>
              <a:ext cx="1277089" cy="3355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38EDEE4-63EE-1A71-7381-33C48C7DF066}"/>
              </a:ext>
            </a:extLst>
          </p:cNvPr>
          <p:cNvGrpSpPr/>
          <p:nvPr/>
        </p:nvGrpSpPr>
        <p:grpSpPr>
          <a:xfrm>
            <a:off x="5963774" y="3595334"/>
            <a:ext cx="1389141" cy="404910"/>
            <a:chOff x="5963774" y="2989005"/>
            <a:chExt cx="1389141" cy="592963"/>
          </a:xfrm>
        </p:grpSpPr>
        <p:sp>
          <p:nvSpPr>
            <p:cNvPr id="75" name="Left Brace 74">
              <a:extLst>
                <a:ext uri="{FF2B5EF4-FFF2-40B4-BE49-F238E27FC236}">
                  <a16:creationId xmlns:a16="http://schemas.microsoft.com/office/drawing/2014/main" id="{57A03A9A-DF86-3A63-B8A3-7558A77CA87E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B0FFE10-2D96-2301-28B4-48EB6F2AC9AC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963774" y="3187749"/>
              <a:ext cx="1312941" cy="9773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1E848D0-BAEB-A1E5-5B6A-1070AA559E97}"/>
              </a:ext>
            </a:extLst>
          </p:cNvPr>
          <p:cNvGrpSpPr/>
          <p:nvPr/>
        </p:nvGrpSpPr>
        <p:grpSpPr>
          <a:xfrm>
            <a:off x="5963774" y="4060994"/>
            <a:ext cx="1393954" cy="592963"/>
            <a:chOff x="5958961" y="2989005"/>
            <a:chExt cx="1393954" cy="592963"/>
          </a:xfrm>
        </p:grpSpPr>
        <p:sp>
          <p:nvSpPr>
            <p:cNvPr id="78" name="Left Brace 77">
              <a:extLst>
                <a:ext uri="{FF2B5EF4-FFF2-40B4-BE49-F238E27FC236}">
                  <a16:creationId xmlns:a16="http://schemas.microsoft.com/office/drawing/2014/main" id="{35501951-1F3F-AF2B-F08D-48E3D638BDE0}"/>
                </a:ext>
              </a:extLst>
            </p:cNvPr>
            <p:cNvSpPr/>
            <p:nvPr/>
          </p:nvSpPr>
          <p:spPr>
            <a:xfrm>
              <a:off x="7276715" y="2989005"/>
              <a:ext cx="76200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7CE059F-B8C6-661D-E477-706BEE9A95AE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5958961" y="3227388"/>
              <a:ext cx="1317754" cy="580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730F38-9A76-7AE5-EE78-B1775D1553FB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191DA6-F0FC-6A07-D735-60926EC163D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82D4B7-CC97-F72C-0F17-0ABE0F13D89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16F3F8B-9ED7-7CE5-0F89-2877EE67FD9A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CBD370-4D52-2610-5145-DEA2F59D7A2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68F8F2-E439-487A-FA26-EFED899C270B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E1A3A61-F42E-A620-6768-3A4A01002DFA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2086F7-D199-3322-5FDD-FCC8924F699B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09B9A3E-1346-2F10-9683-0881F1BCEBE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282ABFC-46A4-62FF-000B-8BBA465D102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D7E254E-F8AB-A726-5114-FCF48B97161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D83C699-2B08-CEB8-BBF1-1E47249DAF6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BDEA1887-5FEA-6F60-26B9-22AB4D17459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C91CC5-32DC-6552-3E73-9F0AF05E23B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E81F4C-2909-1835-63FB-E86E614D7FDC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70C8079-261F-304C-0733-DD6F9DFB795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DF7542B-3FA6-3308-899C-B52C1E20660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C55B335-6C2F-EF17-77C2-112BCB941F52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929C35D-3AA7-68C0-ABBB-F7720745DC8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6BCAC0-1300-9739-BFE3-455433FA562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84E38F1-9273-B908-41EC-3FCB6C7C46F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BF5510-67DC-08E0-317F-D97564A68C6B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1A1F41-356A-CFD5-612C-AA57799F2E1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FF68D55-C7A2-29C8-7200-311D37A6A16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B512168-C248-0E65-B58C-97FEA3C28F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6D2361-6FF8-9363-D750-B7EA03815D2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118627-724C-1EBC-2FD0-13E9A4E682E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E7F6130-CE24-395A-6CD2-FE5D199DD5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38E91E8-BBD6-D004-4A03-B20205361A42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4086158" y="2640732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9C8E5C6-1FEE-815D-50ED-636E4258241D}"/>
              </a:ext>
            </a:extLst>
          </p:cNvPr>
          <p:cNvCxnSpPr>
            <a:cxnSpLocks/>
          </p:cNvCxnSpPr>
          <p:nvPr/>
        </p:nvCxnSpPr>
        <p:spPr>
          <a:xfrm flipV="1">
            <a:off x="4132160" y="2295409"/>
            <a:ext cx="457732" cy="76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83068C4-ABA7-906A-0AE7-246AC9784643}"/>
              </a:ext>
            </a:extLst>
          </p:cNvPr>
          <p:cNvCxnSpPr>
            <a:cxnSpLocks/>
          </p:cNvCxnSpPr>
          <p:nvPr/>
        </p:nvCxnSpPr>
        <p:spPr>
          <a:xfrm flipV="1">
            <a:off x="4117116" y="2473844"/>
            <a:ext cx="487820" cy="125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545CEEB-889C-1182-9322-ABAC9299371F}"/>
              </a:ext>
            </a:extLst>
          </p:cNvPr>
          <p:cNvCxnSpPr>
            <a:cxnSpLocks/>
          </p:cNvCxnSpPr>
          <p:nvPr/>
        </p:nvCxnSpPr>
        <p:spPr>
          <a:xfrm flipV="1">
            <a:off x="4063440" y="2497874"/>
            <a:ext cx="572454" cy="180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D0142D2-393D-30BF-5E2A-0EDB6DB1CBF5}"/>
              </a:ext>
            </a:extLst>
          </p:cNvPr>
          <p:cNvCxnSpPr>
            <a:cxnSpLocks/>
          </p:cNvCxnSpPr>
          <p:nvPr/>
        </p:nvCxnSpPr>
        <p:spPr>
          <a:xfrm flipV="1">
            <a:off x="4086158" y="320743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8FA28E8-710E-758F-8432-8095DCA6E946}"/>
              </a:ext>
            </a:extLst>
          </p:cNvPr>
          <p:cNvCxnSpPr>
            <a:cxnSpLocks/>
          </p:cNvCxnSpPr>
          <p:nvPr/>
        </p:nvCxnSpPr>
        <p:spPr>
          <a:xfrm flipV="1">
            <a:off x="4067294" y="381317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616F9CF-F61E-2571-F2F8-9E5458B8FC66}"/>
              </a:ext>
            </a:extLst>
          </p:cNvPr>
          <p:cNvCxnSpPr>
            <a:cxnSpLocks/>
          </p:cNvCxnSpPr>
          <p:nvPr/>
        </p:nvCxnSpPr>
        <p:spPr>
          <a:xfrm flipV="1">
            <a:off x="4032646" y="4380325"/>
            <a:ext cx="1628842" cy="20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8F4D15-E740-ABD1-CBFB-7C5C3A0C15CF}"/>
              </a:ext>
            </a:extLst>
          </p:cNvPr>
          <p:cNvCxnSpPr/>
          <p:nvPr/>
        </p:nvCxnSpPr>
        <p:spPr>
          <a:xfrm>
            <a:off x="2209800" y="2382070"/>
            <a:ext cx="127866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200FB80-065D-C801-F3DE-D8012B3BD2FA}"/>
              </a:ext>
            </a:extLst>
          </p:cNvPr>
          <p:cNvSpPr txBox="1"/>
          <p:nvPr/>
        </p:nvSpPr>
        <p:spPr>
          <a:xfrm>
            <a:off x="1466111" y="2180004"/>
            <a:ext cx="82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dtasks</a:t>
            </a:r>
            <a:endParaRPr lang="en-US" dirty="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83DB6EA3-59F6-4E79-4456-19B83F1A23BC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4132160" y="2145886"/>
            <a:ext cx="439840" cy="322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6D8B9E-0342-9F82-63FF-985C6406A048}"/>
              </a:ext>
            </a:extLst>
          </p:cNvPr>
          <p:cNvGrpSpPr/>
          <p:nvPr/>
        </p:nvGrpSpPr>
        <p:grpSpPr>
          <a:xfrm>
            <a:off x="6013331" y="2649161"/>
            <a:ext cx="585700" cy="2076958"/>
            <a:chOff x="6013331" y="2649161"/>
            <a:chExt cx="585700" cy="207695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DE4FC4-440D-A8AF-11ED-6413BF52C66D}"/>
                </a:ext>
              </a:extLst>
            </p:cNvPr>
            <p:cNvSpPr txBox="1"/>
            <p:nvPr/>
          </p:nvSpPr>
          <p:spPr>
            <a:xfrm>
              <a:off x="6033492" y="2649161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3BD6787-EF7A-7E21-A90C-336D06258AE7}"/>
                </a:ext>
              </a:extLst>
            </p:cNvPr>
            <p:cNvSpPr txBox="1"/>
            <p:nvPr/>
          </p:nvSpPr>
          <p:spPr>
            <a:xfrm>
              <a:off x="6023160" y="3284685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4BA600E-DBFA-008D-EA9C-58041AA3BAC8}"/>
                </a:ext>
              </a:extLst>
            </p:cNvPr>
            <p:cNvSpPr txBox="1"/>
            <p:nvPr/>
          </p:nvSpPr>
          <p:spPr>
            <a:xfrm>
              <a:off x="6023160" y="3842988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EFB1174-911F-EE74-2707-B8DABC6B1F51}"/>
                </a:ext>
              </a:extLst>
            </p:cNvPr>
            <p:cNvSpPr txBox="1"/>
            <p:nvPr/>
          </p:nvSpPr>
          <p:spPr>
            <a:xfrm>
              <a:off x="6013331" y="4449120"/>
              <a:ext cx="565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result</a:t>
              </a:r>
            </a:p>
          </p:txBody>
        </p: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4FC5CC-A2E2-6553-58FE-368A1A4F63B5}"/>
              </a:ext>
            </a:extLst>
          </p:cNvPr>
          <p:cNvSpPr/>
          <p:nvPr/>
        </p:nvSpPr>
        <p:spPr>
          <a:xfrm>
            <a:off x="481862" y="3844347"/>
            <a:ext cx="5077890" cy="271819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double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(double *vec1, double *vec2, unsigned n)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(delta=0, t=0;  t&lt;T;  t++)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[t].vec1=vec1+delta;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[t].vec2=vec2+delta;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(t+1)*n/T;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[t].n=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-delta;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delta=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(tasks, T);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(result=0.0, t=0; t&lt;T; t++)    result +=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[t].result;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return result;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4A162-771C-840E-394D-2564AB770375}"/>
              </a:ext>
            </a:extLst>
          </p:cNvPr>
          <p:cNvSpPr txBox="1"/>
          <p:nvPr/>
        </p:nvSpPr>
        <p:spPr>
          <a:xfrm>
            <a:off x="5867400" y="5105400"/>
            <a:ext cx="312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 compute a dot-product,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 the per-task info (shown previously);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do_tasks</a:t>
            </a:r>
            <a:r>
              <a:rPr lang="en-US" sz="1600" dirty="0"/>
              <a:t> to run the parallel jobs;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collect all the results</a:t>
            </a:r>
          </a:p>
        </p:txBody>
      </p:sp>
    </p:spTree>
    <p:extLst>
      <p:ext uri="{BB962C8B-B14F-4D97-AF65-F5344CB8AC3E}">
        <p14:creationId xmlns:p14="http://schemas.microsoft.com/office/powerpoint/2010/main" val="2680327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9B4F70-CAA7-B56E-10B4-367F996129AC}"/>
              </a:ext>
            </a:extLst>
          </p:cNvPr>
          <p:cNvSpPr/>
          <p:nvPr/>
        </p:nvSpPr>
        <p:spPr>
          <a:xfrm>
            <a:off x="479659" y="914401"/>
            <a:ext cx="2978911" cy="20228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dotprod_worker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*closure)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dotprod_task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*w = closure;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double result=0.0;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n = w-&gt;n;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double *vec1= w-&gt;vec1, *vec2= w-&gt;vec2;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=0;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&lt;n;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result += vec1[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]*vec2[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w-&gt;result=result;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That’s the entire </a:t>
            </a:r>
            <a:r>
              <a:rPr lang="en-US" dirty="0" err="1"/>
              <a:t>dotprod.c</a:t>
            </a:r>
            <a:r>
              <a:rPr lang="en-US" dirty="0"/>
              <a:t> client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762000" y="3219341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4FC5CC-A2E2-6553-58FE-368A1A4F63B5}"/>
              </a:ext>
            </a:extLst>
          </p:cNvPr>
          <p:cNvSpPr/>
          <p:nvPr/>
        </p:nvSpPr>
        <p:spPr>
          <a:xfrm>
            <a:off x="4495800" y="830029"/>
            <a:ext cx="4305240" cy="22179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double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(double *vec1, double *vec2, unsigned n)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(delta=0, t=0;  t&lt;T;  t++)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[t].vec1=vec1+delta;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[t].vec2=vec2+delta;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(t+1)*n/T;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[t].n=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-delta;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delta=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delta_next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(tasks, T);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(result=0.0, t=0; t&lt;T; t++)    result +=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[t].result;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return result;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5AAA08A-20BF-AD1C-C908-580EC83D3BBD}"/>
              </a:ext>
            </a:extLst>
          </p:cNvPr>
          <p:cNvSpPr/>
          <p:nvPr/>
        </p:nvSpPr>
        <p:spPr>
          <a:xfrm>
            <a:off x="1562162" y="1226666"/>
            <a:ext cx="4000440" cy="15090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make_dotprod_tasks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(unsigned T)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unsigned 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 =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(T);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num_threads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=T;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=(struct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dotprod_task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*)malloc(T*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sizeof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(…));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(t=0; t&lt;T; t++)  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(tasks, t,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dotprod_worker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dtasks+t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40097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C488-F69E-1D90-14ED-223A8A94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F709-AFE8-1178-63BD-2AEE64E2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Part 2:  How the parallelism is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AE5B-1D63-3B6D-C874-17AB31707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76800"/>
            <a:ext cx="8229600" cy="1249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the API; how do these functions work?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085E2-61D4-588D-0D8E-984CE305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D0CC9F1F-4D95-38CE-3B90-39635DA3C0D8}"/>
              </a:ext>
            </a:extLst>
          </p:cNvPr>
          <p:cNvSpPr/>
          <p:nvPr/>
        </p:nvSpPr>
        <p:spPr>
          <a:xfrm>
            <a:off x="762000" y="3219341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</p:spTree>
    <p:extLst>
      <p:ext uri="{BB962C8B-B14F-4D97-AF65-F5344CB8AC3E}">
        <p14:creationId xmlns:p14="http://schemas.microsoft.com/office/powerpoint/2010/main" val="14018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thread_worker</a:t>
            </a:r>
            <a:r>
              <a:rPr lang="en-US" dirty="0"/>
              <a:t>( ), </a:t>
            </a:r>
            <a:r>
              <a:rPr lang="en-US" dirty="0" err="1"/>
              <a:t>make_tasks</a:t>
            </a:r>
            <a:r>
              <a:rPr lang="en-US" dirty="0"/>
              <a:t>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730F38-9A76-7AE5-EE78-B1775D1553FB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191DA6-F0FC-6A07-D735-60926EC163D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82D4B7-CC97-F72C-0F17-0ABE0F13D89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16F3F8B-9ED7-7CE5-0F89-2877EE67FD9A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CBD370-4D52-2610-5145-DEA2F59D7A2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68F8F2-E439-487A-FA26-EFED899C270B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E1A3A61-F42E-A620-6768-3A4A01002DFA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2086F7-D199-3322-5FDD-FCC8924F699B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09B9A3E-1346-2F10-9683-0881F1BCEBE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282ABFC-46A4-62FF-000B-8BBA465D102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D7E254E-F8AB-A726-5114-FCF48B97161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D83C699-2B08-CEB8-BBF1-1E47249DAF6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BDEA1887-5FEA-6F60-26B9-22AB4D17459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C91CC5-32DC-6552-3E73-9F0AF05E23B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E81F4C-2909-1835-63FB-E86E614D7FDC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70C8079-261F-304C-0733-DD6F9DFB795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DF7542B-3FA6-3308-899C-B52C1E20660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C55B335-6C2F-EF17-77C2-112BCB941F52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929C35D-3AA7-68C0-ABBB-F7720745DC8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6BCAC0-1300-9739-BFE3-455433FA562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84E38F1-9273-B908-41EC-3FCB6C7C46F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BF5510-67DC-08E0-317F-D97564A68C6B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1A1F41-356A-CFD5-612C-AA57799F2E1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FF68D55-C7A2-29C8-7200-311D37A6A16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B512168-C248-0E65-B58C-97FEA3C28F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6D2361-6FF8-9363-D750-B7EA03815D2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118627-724C-1EBC-2FD0-13E9A4E682E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E7F6130-CE24-395A-6CD2-FE5D199DD5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D200FB80-065D-C801-F3DE-D8012B3BD2FA}"/>
              </a:ext>
            </a:extLst>
          </p:cNvPr>
          <p:cNvSpPr txBox="1"/>
          <p:nvPr/>
        </p:nvSpPr>
        <p:spPr>
          <a:xfrm>
            <a:off x="3409507" y="197861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2B06DC2-FEF6-7654-7EE5-84476653AE94}"/>
              </a:ext>
            </a:extLst>
          </p:cNvPr>
          <p:cNvGrpSpPr/>
          <p:nvPr/>
        </p:nvGrpSpPr>
        <p:grpSpPr>
          <a:xfrm>
            <a:off x="5334000" y="3006290"/>
            <a:ext cx="2133600" cy="1641909"/>
            <a:chOff x="5715000" y="2940378"/>
            <a:chExt cx="838200" cy="6096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2989954-EDF1-B062-CF3F-F726818D355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0EFBF68-B64E-4AF7-E27D-5B8AC36856E9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600" spc="-150" dirty="0">
                    <a:solidFill>
                      <a:schemeClr val="tx1"/>
                    </a:solidFill>
                  </a:rPr>
                  <a:t>go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0DDC8BF-9EBE-873F-C50B-83F9FACBACB1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spc="-150" dirty="0">
                    <a:solidFill>
                      <a:prstClr val="black"/>
                    </a:solidFill>
                    <a:latin typeface="Cambria Math"/>
                  </a:rPr>
                  <a:t>f</a:t>
                </a: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B5DCF82-7225-C0E9-9AAA-164CC1CC54D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-1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done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6DE891C-5FDB-8362-CA74-3E6B576A1F9E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71833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200" spc="-300" dirty="0">
                    <a:solidFill>
                      <a:prstClr val="black"/>
                    </a:solidFill>
                    <a:latin typeface="Cambria Math"/>
                  </a:rPr>
                  <a:t>closure</a:t>
                </a:r>
                <a:endParaRPr lang="en-US" sz="800" spc="-3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A7E73B4-ECBE-822D-FEBC-B6A98F4A99D6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009A09-28E2-4077-6B0A-5E72C332C90F}"/>
              </a:ext>
            </a:extLst>
          </p:cNvPr>
          <p:cNvCxnSpPr/>
          <p:nvPr/>
        </p:nvCxnSpPr>
        <p:spPr>
          <a:xfrm flipV="1">
            <a:off x="4326666" y="3019631"/>
            <a:ext cx="1007334" cy="498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022E964-441A-11A3-7452-8D0CB25A1B91}"/>
              </a:ext>
            </a:extLst>
          </p:cNvPr>
          <p:cNvCxnSpPr/>
          <p:nvPr/>
        </p:nvCxnSpPr>
        <p:spPr>
          <a:xfrm>
            <a:off x="4326666" y="4118242"/>
            <a:ext cx="1066800" cy="528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593191F-D482-7A91-98D4-4A0C81175D5C}"/>
              </a:ext>
            </a:extLst>
          </p:cNvPr>
          <p:cNvSpPr/>
          <p:nvPr/>
        </p:nvSpPr>
        <p:spPr>
          <a:xfrm>
            <a:off x="481862" y="4475930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(1)   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BE36DC47-4D8D-D0BF-A02C-D2D2F0B9DBAD}"/>
              </a:ext>
            </a:extLst>
          </p:cNvPr>
          <p:cNvSpPr/>
          <p:nvPr/>
        </p:nvSpPr>
        <p:spPr>
          <a:xfrm rot="16200000">
            <a:off x="2400678" y="3849760"/>
            <a:ext cx="2001816" cy="1578835"/>
          </a:xfrm>
          <a:prstGeom prst="arc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58F49-39B8-663D-692B-BF0B5827381B}"/>
              </a:ext>
            </a:extLst>
          </p:cNvPr>
          <p:cNvSpPr txBox="1"/>
          <p:nvPr/>
        </p:nvSpPr>
        <p:spPr>
          <a:xfrm>
            <a:off x="5295900" y="2658174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Source Sans Pro" panose="020B0503030403020204" pitchFamily="34" charset="0"/>
                <a:cs typeface="Courier New" panose="02070309020205020404" pitchFamily="49" charset="0"/>
              </a:rPr>
              <a:t>struct task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895B2-6199-E093-9779-735EFD789FE0}"/>
              </a:ext>
            </a:extLst>
          </p:cNvPr>
          <p:cNvSpPr txBox="1"/>
          <p:nvPr/>
        </p:nvSpPr>
        <p:spPr>
          <a:xfrm>
            <a:off x="3810000" y="5029200"/>
            <a:ext cx="36533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runs in each thread is simple: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wait for the </a:t>
            </a:r>
            <a:r>
              <a:rPr lang="en-US" b="1" dirty="0"/>
              <a:t>go</a:t>
            </a:r>
            <a:r>
              <a:rPr lang="en-US" dirty="0"/>
              <a:t> signal,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the function f on the closure,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 </a:t>
            </a:r>
            <a:r>
              <a:rPr lang="en-US" b="1" dirty="0"/>
              <a:t>done</a:t>
            </a:r>
            <a:r>
              <a:rPr lang="en-US" dirty="0"/>
              <a:t> signal.</a:t>
            </a:r>
          </a:p>
          <a:p>
            <a:r>
              <a:rPr lang="en-US" dirty="0"/>
              <a:t>Repeat forever.</a:t>
            </a:r>
          </a:p>
        </p:txBody>
      </p:sp>
    </p:spTree>
    <p:extLst>
      <p:ext uri="{BB962C8B-B14F-4D97-AF65-F5344CB8AC3E}">
        <p14:creationId xmlns:p14="http://schemas.microsoft.com/office/powerpoint/2010/main" val="1232710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5332-0F38-6D24-0E1C-340A1BDF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A5E85141-EBC5-DAA6-B8BD-7A9F42A09EA2}"/>
              </a:ext>
            </a:extLst>
          </p:cNvPr>
          <p:cNvSpPr/>
          <p:nvPr/>
        </p:nvSpPr>
        <p:spPr>
          <a:xfrm>
            <a:off x="448394" y="2149777"/>
            <a:ext cx="2825451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(unsigned T)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tasks = malloc(T *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sizeof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(…));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for (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 {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struct task *t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tasks+i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; 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t-&gt;go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makelock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t-&gt;done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makelock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spawn(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t);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return tasks;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1E0FD-C3CE-FDE3-8274-61273557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thread_worker</a:t>
            </a:r>
            <a:r>
              <a:rPr lang="en-US" dirty="0"/>
              <a:t>( ), </a:t>
            </a:r>
            <a:r>
              <a:rPr lang="en-US" dirty="0" err="1"/>
              <a:t>make_tasks</a:t>
            </a:r>
            <a:r>
              <a:rPr lang="en-US" dirty="0"/>
              <a:t>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3926C-AFD4-4614-7D25-D8A6AF85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66DC8E-C79C-DACE-4825-1F1A46FFB07F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2C3E0EE-28DD-A5F9-6C54-B67F2580A2C5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2268AB2-DFDB-FB1B-DFA0-896CB0840C22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D895E3BC-7306-2BE1-9208-3D6B84F0B05F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328F3E4-18BC-5A55-E131-7DA58D4A02FC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4731665-D961-5E6F-A1BF-924D844F14DE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F9063C8-50FF-6F7A-C03F-B5A9D76BE1AC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7005A0-1066-1089-64E7-9F2F5116E59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90F531D-9491-3487-92F5-DEE48CE30023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ADB0E1A-762C-7EB1-21EB-B4D76BEBF44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F54D22A-93AB-5A98-5A64-4A447180DCBF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8A02D4A-8268-83CD-DAB6-FCB136CD3EBC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D5CDEBD-A026-E927-C5C4-E309733B6219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28C0F3F9-C02F-D002-19F9-0739D7507599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377AA1D-D09B-1D96-9EC3-C46F1F8A59E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E1B1DBD-A1AF-2F3C-06ED-017491620DCF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DF311DD-1E85-A1FB-DC7C-F3335275A241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69B0A28-7560-7B78-A9F9-67B54BCDBD22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C33C51C-410D-10B7-1A1A-68A1E830C41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0375DA7C-3296-CCC8-37BD-D9742C7C6FE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5D80E7D-32A5-9B46-BA11-633EE04C6EB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D516C6A-118E-151E-836C-5E21DA68B097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C39E2BE-8F41-148E-2DE8-5F8A66F0C692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E1C2491-B239-AA89-9A4E-A67C282D47B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CF6A5C0-F743-7009-6BC0-DC8D29B31B6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D528DB6-37CF-0AE2-8B18-7F6129718BF5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F8C6FF8-04DE-32C7-485B-B2FB87E6038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BBB8F35-DD45-CC90-6432-00EC8F35C7E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A91B815-6CA0-D1FD-4EF8-B34BDCD2105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0D193327-C6C2-8308-20C5-EC2E0C19034F}"/>
              </a:ext>
            </a:extLst>
          </p:cNvPr>
          <p:cNvSpPr txBox="1"/>
          <p:nvPr/>
        </p:nvSpPr>
        <p:spPr>
          <a:xfrm>
            <a:off x="3409507" y="197861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7A14404-5136-1BEB-A7A6-3DD202DC662E}"/>
              </a:ext>
            </a:extLst>
          </p:cNvPr>
          <p:cNvGrpSpPr/>
          <p:nvPr/>
        </p:nvGrpSpPr>
        <p:grpSpPr>
          <a:xfrm>
            <a:off x="5334000" y="3006290"/>
            <a:ext cx="2133600" cy="1641909"/>
            <a:chOff x="5715000" y="2940378"/>
            <a:chExt cx="838200" cy="6096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58C7A3EC-634D-4093-4F6C-059D3D8DDDB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AD9AECA-540E-3196-8862-17D81FB405AF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600" spc="-150" dirty="0">
                    <a:solidFill>
                      <a:schemeClr val="tx1"/>
                    </a:solidFill>
                  </a:rPr>
                  <a:t>go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36CD76B-577E-5698-E038-736AA03B5DF0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spc="-150" dirty="0">
                    <a:solidFill>
                      <a:prstClr val="black"/>
                    </a:solidFill>
                    <a:latin typeface="Cambria Math"/>
                  </a:rPr>
                  <a:t>f</a:t>
                </a: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A2ED715-905D-28FE-AE50-88D990838EC8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-1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done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F255E93A-2395-9D8B-2086-9631DEB68E45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71833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200" spc="-300" dirty="0">
                    <a:solidFill>
                      <a:prstClr val="black"/>
                    </a:solidFill>
                    <a:latin typeface="Cambria Math"/>
                  </a:rPr>
                  <a:t>closure</a:t>
                </a:r>
                <a:endParaRPr lang="en-US" sz="800" spc="-3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FF18183-697D-CA23-2BD6-C6FB0E297BC2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C81A93-8DB3-B5B6-632B-CD20CDCD9B42}"/>
              </a:ext>
            </a:extLst>
          </p:cNvPr>
          <p:cNvCxnSpPr/>
          <p:nvPr/>
        </p:nvCxnSpPr>
        <p:spPr>
          <a:xfrm flipV="1">
            <a:off x="4326666" y="3019631"/>
            <a:ext cx="1007334" cy="498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B7D2383-27C9-3A93-C3CD-B4D3D06FCB86}"/>
              </a:ext>
            </a:extLst>
          </p:cNvPr>
          <p:cNvCxnSpPr/>
          <p:nvPr/>
        </p:nvCxnSpPr>
        <p:spPr>
          <a:xfrm>
            <a:off x="4326666" y="4118242"/>
            <a:ext cx="1066800" cy="528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CDB0486-AE1D-CC87-30BC-333566B147C0}"/>
              </a:ext>
            </a:extLst>
          </p:cNvPr>
          <p:cNvSpPr/>
          <p:nvPr/>
        </p:nvSpPr>
        <p:spPr>
          <a:xfrm>
            <a:off x="481862" y="4475930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(1)   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3C2407CD-FDD2-3231-2144-28C9EEF55BB0}"/>
              </a:ext>
            </a:extLst>
          </p:cNvPr>
          <p:cNvSpPr/>
          <p:nvPr/>
        </p:nvSpPr>
        <p:spPr>
          <a:xfrm rot="16200000">
            <a:off x="2400678" y="3849760"/>
            <a:ext cx="2001816" cy="1578835"/>
          </a:xfrm>
          <a:prstGeom prst="arc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72237-CBCF-4309-1ACE-B2228F7AC40B}"/>
              </a:ext>
            </a:extLst>
          </p:cNvPr>
          <p:cNvSpPr txBox="1"/>
          <p:nvPr/>
        </p:nvSpPr>
        <p:spPr>
          <a:xfrm>
            <a:off x="5295900" y="2658174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Source Sans Pro" panose="020B0503030403020204" pitchFamily="34" charset="0"/>
                <a:cs typeface="Courier New" panose="02070309020205020404" pitchFamily="49" charset="0"/>
              </a:rPr>
              <a:t>struct task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C99F4-3DEB-3193-B2C4-365DC81A56F3}"/>
              </a:ext>
            </a:extLst>
          </p:cNvPr>
          <p:cNvSpPr txBox="1"/>
          <p:nvPr/>
        </p:nvSpPr>
        <p:spPr>
          <a:xfrm>
            <a:off x="3810000" y="5029200"/>
            <a:ext cx="51053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make_tasks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does is,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all the </a:t>
            </a:r>
            <a:r>
              <a:rPr lang="en-US" b="1" dirty="0"/>
              <a:t>go</a:t>
            </a:r>
            <a:r>
              <a:rPr lang="en-US" dirty="0"/>
              <a:t> and </a:t>
            </a:r>
            <a:r>
              <a:rPr lang="en-US" b="1" dirty="0"/>
              <a:t>done</a:t>
            </a:r>
            <a:r>
              <a:rPr lang="en-US" dirty="0"/>
              <a:t> semaphores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spawn all the threads to run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thread_worker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400" dirty="0"/>
              <a:t>(semaphores are created in the </a:t>
            </a:r>
            <a:r>
              <a:rPr lang="en-US" sz="1400" i="1" dirty="0"/>
              <a:t>locked</a:t>
            </a:r>
            <a:r>
              <a:rPr lang="en-US" sz="1400" dirty="0"/>
              <a:t> state, so the first thing all those threads do is block on the acquire).</a:t>
            </a:r>
          </a:p>
        </p:txBody>
      </p:sp>
    </p:spTree>
    <p:extLst>
      <p:ext uri="{BB962C8B-B14F-4D97-AF65-F5344CB8AC3E}">
        <p14:creationId xmlns:p14="http://schemas.microsoft.com/office/powerpoint/2010/main" val="3597267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initialize_task</a:t>
            </a:r>
            <a:r>
              <a:rPr lang="en-US" dirty="0"/>
              <a:t> 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755A463-F487-947D-92AE-29B350B46F26}"/>
              </a:ext>
            </a:extLst>
          </p:cNvPr>
          <p:cNvCxnSpPr>
            <a:cxnSpLocks/>
          </p:cNvCxnSpPr>
          <p:nvPr/>
        </p:nvCxnSpPr>
        <p:spPr>
          <a:xfrm>
            <a:off x="5053263" y="1655545"/>
            <a:ext cx="63683" cy="32565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730F38-9A76-7AE5-EE78-B1775D1553FB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191DA6-F0FC-6A07-D735-60926EC163D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82D4B7-CC97-F72C-0F17-0ABE0F13D89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16F3F8B-9ED7-7CE5-0F89-2877EE67FD9A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CBD370-4D52-2610-5145-DEA2F59D7A2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68F8F2-E439-487A-FA26-EFED899C270B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E1A3A61-F42E-A620-6768-3A4A01002DFA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2086F7-D199-3322-5FDD-FCC8924F699B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09B9A3E-1346-2F10-9683-0881F1BCEBE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282ABFC-46A4-62FF-000B-8BBA465D102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D7E254E-F8AB-A726-5114-FCF48B97161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D83C699-2B08-CEB8-BBF1-1E47249DAF6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BDEA1887-5FEA-6F60-26B9-22AB4D17459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C91CC5-32DC-6552-3E73-9F0AF05E23B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E81F4C-2909-1835-63FB-E86E614D7FDC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70C8079-261F-304C-0733-DD6F9DFB795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DF7542B-3FA6-3308-899C-B52C1E20660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C55B335-6C2F-EF17-77C2-112BCB941F52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929C35D-3AA7-68C0-ABBB-F7720745DC8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6BCAC0-1300-9739-BFE3-455433FA562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84E38F1-9273-B908-41EC-3FCB6C7C46F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BF5510-67DC-08E0-317F-D97564A68C6B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1A1F41-356A-CFD5-612C-AA57799F2E1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FF68D55-C7A2-29C8-7200-311D37A6A16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B512168-C248-0E65-B58C-97FEA3C28F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6D2361-6FF8-9363-D750-B7EA03815D2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118627-724C-1EBC-2FD0-13E9A4E682E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E7F6130-CE24-395A-6CD2-FE5D199DD5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8F4D15-E740-ABD1-CBFB-7C5C3A0C15CF}"/>
              </a:ext>
            </a:extLst>
          </p:cNvPr>
          <p:cNvCxnSpPr/>
          <p:nvPr/>
        </p:nvCxnSpPr>
        <p:spPr>
          <a:xfrm>
            <a:off x="2209800" y="2382070"/>
            <a:ext cx="127866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200FB80-065D-C801-F3DE-D8012B3BD2FA}"/>
              </a:ext>
            </a:extLst>
          </p:cNvPr>
          <p:cNvSpPr txBox="1"/>
          <p:nvPr/>
        </p:nvSpPr>
        <p:spPr>
          <a:xfrm>
            <a:off x="1466111" y="2180004"/>
            <a:ext cx="694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tasks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2B06DC2-FEF6-7654-7EE5-84476653AE94}"/>
              </a:ext>
            </a:extLst>
          </p:cNvPr>
          <p:cNvGrpSpPr/>
          <p:nvPr/>
        </p:nvGrpSpPr>
        <p:grpSpPr>
          <a:xfrm>
            <a:off x="5334000" y="3006290"/>
            <a:ext cx="2133600" cy="1641909"/>
            <a:chOff x="5715000" y="2940378"/>
            <a:chExt cx="838200" cy="6096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2989954-EDF1-B062-CF3F-F726818D355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0EFBF68-B64E-4AF7-E27D-5B8AC36856E9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600" spc="-150" dirty="0">
                    <a:solidFill>
                      <a:schemeClr val="tx1"/>
                    </a:solidFill>
                  </a:rPr>
                  <a:t>go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0DDC8BF-9EBE-873F-C50B-83F9FACBACB1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spc="-150" dirty="0">
                    <a:solidFill>
                      <a:prstClr val="black"/>
                    </a:solidFill>
                    <a:latin typeface="Cambria Math"/>
                  </a:rPr>
                  <a:t>f</a:t>
                </a: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B5DCF82-7225-C0E9-9AAA-164CC1CC54D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-1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done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6DE891C-5FDB-8362-CA74-3E6B576A1F9E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71833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200" spc="-300" dirty="0">
                    <a:solidFill>
                      <a:prstClr val="black"/>
                    </a:solidFill>
                    <a:latin typeface="Cambria Math"/>
                  </a:rPr>
                  <a:t>closure</a:t>
                </a:r>
                <a:endParaRPr lang="en-US" sz="800" spc="-3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A7E73B4-ECBE-822D-FEBC-B6A98F4A99D6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009A09-28E2-4077-6B0A-5E72C332C90F}"/>
              </a:ext>
            </a:extLst>
          </p:cNvPr>
          <p:cNvCxnSpPr/>
          <p:nvPr/>
        </p:nvCxnSpPr>
        <p:spPr>
          <a:xfrm flipV="1">
            <a:off x="4326666" y="3019631"/>
            <a:ext cx="1007334" cy="498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022E964-441A-11A3-7452-8D0CB25A1B91}"/>
              </a:ext>
            </a:extLst>
          </p:cNvPr>
          <p:cNvCxnSpPr/>
          <p:nvPr/>
        </p:nvCxnSpPr>
        <p:spPr>
          <a:xfrm>
            <a:off x="4326666" y="4118242"/>
            <a:ext cx="1066800" cy="528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593191F-D482-7A91-98D4-4A0C81175D5C}"/>
              </a:ext>
            </a:extLst>
          </p:cNvPr>
          <p:cNvSpPr/>
          <p:nvPr/>
        </p:nvSpPr>
        <p:spPr>
          <a:xfrm>
            <a:off x="481862" y="4846982"/>
            <a:ext cx="4335474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unsigned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void (*f)(void *),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void *closure)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].f=f;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].closure=closure;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BE36DC47-4D8D-D0BF-A02C-D2D2F0B9DBAD}"/>
              </a:ext>
            </a:extLst>
          </p:cNvPr>
          <p:cNvSpPr/>
          <p:nvPr/>
        </p:nvSpPr>
        <p:spPr>
          <a:xfrm rot="16200000">
            <a:off x="2400678" y="3849760"/>
            <a:ext cx="2001816" cy="1578835"/>
          </a:xfrm>
          <a:prstGeom prst="arc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0556-625B-8778-FA3F-282A35FE6168}"/>
              </a:ext>
            </a:extLst>
          </p:cNvPr>
          <p:cNvSpPr txBox="1"/>
          <p:nvPr/>
        </p:nvSpPr>
        <p:spPr>
          <a:xfrm>
            <a:off x="5116946" y="4953000"/>
            <a:ext cx="35451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the client calls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make_tasks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to spawn all the threads, then the client calls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initialize_task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to fill in the info about the function and closure.</a:t>
            </a:r>
          </a:p>
        </p:txBody>
      </p:sp>
    </p:spTree>
    <p:extLst>
      <p:ext uri="{BB962C8B-B14F-4D97-AF65-F5344CB8AC3E}">
        <p14:creationId xmlns:p14="http://schemas.microsoft.com/office/powerpoint/2010/main" val="342258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do_tasks</a:t>
            </a:r>
            <a:r>
              <a:rPr lang="en-US" dirty="0"/>
              <a:t> ( 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685800" y="1217914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755A463-F487-947D-92AE-29B350B46F26}"/>
              </a:ext>
            </a:extLst>
          </p:cNvPr>
          <p:cNvCxnSpPr>
            <a:cxnSpLocks/>
          </p:cNvCxnSpPr>
          <p:nvPr/>
        </p:nvCxnSpPr>
        <p:spPr>
          <a:xfrm>
            <a:off x="5053263" y="1655545"/>
            <a:ext cx="63683" cy="32565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730F38-9A76-7AE5-EE78-B1775D1553FB}"/>
              </a:ext>
            </a:extLst>
          </p:cNvPr>
          <p:cNvGrpSpPr/>
          <p:nvPr/>
        </p:nvGrpSpPr>
        <p:grpSpPr>
          <a:xfrm>
            <a:off x="3488466" y="2308860"/>
            <a:ext cx="838200" cy="609600"/>
            <a:chOff x="5715000" y="2940378"/>
            <a:chExt cx="838200" cy="60960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191DA6-F0FC-6A07-D735-60926EC163D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D82D4B7-CC97-F72C-0F17-0ABE0F13D89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16F3F8B-9ED7-7CE5-0F89-2877EE67FD9A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CBD370-4D52-2610-5145-DEA2F59D7A2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68F8F2-E439-487A-FA26-EFED899C270B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E1A3A61-F42E-A620-6768-3A4A01002DFA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2086F7-D199-3322-5FDD-FCC8924F699B}"/>
              </a:ext>
            </a:extLst>
          </p:cNvPr>
          <p:cNvGrpSpPr/>
          <p:nvPr/>
        </p:nvGrpSpPr>
        <p:grpSpPr>
          <a:xfrm>
            <a:off x="3488466" y="2914129"/>
            <a:ext cx="838200" cy="609600"/>
            <a:chOff x="5715000" y="2940378"/>
            <a:chExt cx="838200" cy="60960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09B9A3E-1346-2F10-9683-0881F1BCEBE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282ABFC-46A4-62FF-000B-8BBA465D102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D7E254E-F8AB-A726-5114-FCF48B97161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D83C699-2B08-CEB8-BBF1-1E47249DAF6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BDEA1887-5FEA-6F60-26B9-22AB4D17459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C91CC5-32DC-6552-3E73-9F0AF05E23B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E81F4C-2909-1835-63FB-E86E614D7FDC}"/>
              </a:ext>
            </a:extLst>
          </p:cNvPr>
          <p:cNvGrpSpPr/>
          <p:nvPr/>
        </p:nvGrpSpPr>
        <p:grpSpPr>
          <a:xfrm>
            <a:off x="3488466" y="3518375"/>
            <a:ext cx="838200" cy="609600"/>
            <a:chOff x="5715000" y="2940378"/>
            <a:chExt cx="838200" cy="6096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70C8079-261F-304C-0733-DD6F9DFB795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DF7542B-3FA6-3308-899C-B52C1E20660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C55B335-6C2F-EF17-77C2-112BCB941F52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929C35D-3AA7-68C0-ABBB-F7720745DC8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6BCAC0-1300-9739-BFE3-455433FA5626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84E38F1-9273-B908-41EC-3FCB6C7C46F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BF5510-67DC-08E0-317F-D97564A68C6B}"/>
              </a:ext>
            </a:extLst>
          </p:cNvPr>
          <p:cNvGrpSpPr/>
          <p:nvPr/>
        </p:nvGrpSpPr>
        <p:grpSpPr>
          <a:xfrm>
            <a:off x="3488466" y="4118242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1A1F41-356A-CFD5-612C-AA57799F2E1A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FF68D55-C7A2-29C8-7200-311D37A6A16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B512168-C248-0E65-B58C-97FEA3C28F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6D2361-6FF8-9363-D750-B7EA03815D2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118627-724C-1EBC-2FD0-13E9A4E682EF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E7F6130-CE24-395A-6CD2-FE5D199DD5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8F4D15-E740-ABD1-CBFB-7C5C3A0C15CF}"/>
              </a:ext>
            </a:extLst>
          </p:cNvPr>
          <p:cNvCxnSpPr/>
          <p:nvPr/>
        </p:nvCxnSpPr>
        <p:spPr>
          <a:xfrm>
            <a:off x="2209800" y="2382070"/>
            <a:ext cx="127866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200FB80-065D-C801-F3DE-D8012B3BD2FA}"/>
              </a:ext>
            </a:extLst>
          </p:cNvPr>
          <p:cNvSpPr txBox="1"/>
          <p:nvPr/>
        </p:nvSpPr>
        <p:spPr>
          <a:xfrm>
            <a:off x="1466111" y="2180004"/>
            <a:ext cx="694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tasks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2B06DC2-FEF6-7654-7EE5-84476653AE94}"/>
              </a:ext>
            </a:extLst>
          </p:cNvPr>
          <p:cNvGrpSpPr/>
          <p:nvPr/>
        </p:nvGrpSpPr>
        <p:grpSpPr>
          <a:xfrm>
            <a:off x="5334000" y="3006290"/>
            <a:ext cx="2133600" cy="1641909"/>
            <a:chOff x="5715000" y="2940378"/>
            <a:chExt cx="838200" cy="6096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2989954-EDF1-B062-CF3F-F726818D3554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0EFBF68-B64E-4AF7-E27D-5B8AC36856E9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600" spc="-150" dirty="0">
                    <a:solidFill>
                      <a:schemeClr val="tx1"/>
                    </a:solidFill>
                  </a:rPr>
                  <a:t>go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0DDC8BF-9EBE-873F-C50B-83F9FACBACB1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spc="-150" dirty="0">
                    <a:solidFill>
                      <a:prstClr val="black"/>
                    </a:solidFill>
                    <a:latin typeface="Cambria Math"/>
                  </a:rPr>
                  <a:t>f</a:t>
                </a: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B5DCF82-7225-C0E9-9AAA-164CC1CC54D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-1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done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6DE891C-5FDB-8362-CA74-3E6B576A1F9E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71833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3200" spc="-300" dirty="0">
                    <a:solidFill>
                      <a:prstClr val="black"/>
                    </a:solidFill>
                    <a:latin typeface="Cambria Math"/>
                  </a:rPr>
                  <a:t>closure</a:t>
                </a:r>
                <a:endParaRPr lang="en-US" sz="800" spc="-3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A7E73B4-ECBE-822D-FEBC-B6A98F4A99D6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009A09-28E2-4077-6B0A-5E72C332C90F}"/>
              </a:ext>
            </a:extLst>
          </p:cNvPr>
          <p:cNvCxnSpPr/>
          <p:nvPr/>
        </p:nvCxnSpPr>
        <p:spPr>
          <a:xfrm flipV="1">
            <a:off x="4326666" y="3019631"/>
            <a:ext cx="1007334" cy="498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022E964-441A-11A3-7452-8D0CB25A1B91}"/>
              </a:ext>
            </a:extLst>
          </p:cNvPr>
          <p:cNvCxnSpPr/>
          <p:nvPr/>
        </p:nvCxnSpPr>
        <p:spPr>
          <a:xfrm>
            <a:off x="4326666" y="4118242"/>
            <a:ext cx="1066800" cy="528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593191F-D482-7A91-98D4-4A0C81175D5C}"/>
              </a:ext>
            </a:extLst>
          </p:cNvPr>
          <p:cNvSpPr/>
          <p:nvPr/>
        </p:nvSpPr>
        <p:spPr>
          <a:xfrm>
            <a:off x="481862" y="4846982"/>
            <a:ext cx="4335474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086DA-C211-6CA7-4D84-B44CA5E60373}"/>
              </a:ext>
            </a:extLst>
          </p:cNvPr>
          <p:cNvSpPr txBox="1"/>
          <p:nvPr/>
        </p:nvSpPr>
        <p:spPr>
          <a:xfrm>
            <a:off x="5116946" y="4846982"/>
            <a:ext cx="3950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compute a parallel dot product, the client calls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do_tasks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which is very simple: send each thread the </a:t>
            </a:r>
            <a:r>
              <a:rPr lang="en-US" b="1" dirty="0"/>
              <a:t>go</a:t>
            </a:r>
            <a:r>
              <a:rPr lang="en-US" dirty="0"/>
              <a:t> signal,</a:t>
            </a:r>
          </a:p>
          <a:p>
            <a:r>
              <a:rPr lang="en-US" dirty="0"/>
              <a:t>compute task 0 locally, wait for each thread to send the </a:t>
            </a:r>
            <a:r>
              <a:rPr lang="en-US" b="1" dirty="0"/>
              <a:t>done</a:t>
            </a:r>
            <a:r>
              <a:rPr lang="en-US" dirty="0"/>
              <a:t> signal.</a:t>
            </a:r>
          </a:p>
        </p:txBody>
      </p:sp>
    </p:spTree>
    <p:extLst>
      <p:ext uri="{BB962C8B-B14F-4D97-AF65-F5344CB8AC3E}">
        <p14:creationId xmlns:p14="http://schemas.microsoft.com/office/powerpoint/2010/main" val="1564803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That’s the entire </a:t>
            </a:r>
            <a:r>
              <a:rPr lang="en-US" dirty="0" err="1"/>
              <a:t>parsplit.c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4C058-BE32-2C44-1B20-AE0D1D1152D1}"/>
              </a:ext>
            </a:extLst>
          </p:cNvPr>
          <p:cNvSpPr/>
          <p:nvPr/>
        </p:nvSpPr>
        <p:spPr>
          <a:xfrm>
            <a:off x="762000" y="3219341"/>
            <a:ext cx="7467600" cy="6397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(unsigned T);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t,  void (*f)(void *), void *closure);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 unsigned T);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68B74B-ED67-4D0C-01F1-F381105E0EF7}"/>
              </a:ext>
            </a:extLst>
          </p:cNvPr>
          <p:cNvSpPr/>
          <p:nvPr/>
        </p:nvSpPr>
        <p:spPr>
          <a:xfrm>
            <a:off x="152400" y="4592491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 task *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make_tasks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(unsigned T)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tasks = malloc(T *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sizeof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(…));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for (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 {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struct task *t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tasks+i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; 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t-&gt;go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makelock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t-&gt;done = 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makelock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spawn(</a:t>
            </a:r>
            <a:r>
              <a:rPr lang="en-US" sz="1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t);</a:t>
            </a:r>
          </a:p>
          <a:p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return tasks;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E2D567-799C-513E-AA64-CCF0E1AF0209}"/>
              </a:ext>
            </a:extLst>
          </p:cNvPr>
          <p:cNvSpPr/>
          <p:nvPr/>
        </p:nvSpPr>
        <p:spPr>
          <a:xfrm>
            <a:off x="2438400" y="40275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(1)   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C4628F-365D-2C60-7985-59C1354046CB}"/>
              </a:ext>
            </a:extLst>
          </p:cNvPr>
          <p:cNvSpPr/>
          <p:nvPr/>
        </p:nvSpPr>
        <p:spPr>
          <a:xfrm>
            <a:off x="5410200" y="4027525"/>
            <a:ext cx="3581400" cy="1026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initialize_task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(struct task *tasks,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unsigned 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void (*f)(void *), void *closure) {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].f=f;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</a:t>
            </a:r>
            <a:r>
              <a:rPr lang="en-US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].closure=closure;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9A5F7A-A5D2-1B0D-EBD5-7CA10C5D2F27}"/>
              </a:ext>
            </a:extLst>
          </p:cNvPr>
          <p:cNvSpPr/>
          <p:nvPr/>
        </p:nvSpPr>
        <p:spPr>
          <a:xfrm>
            <a:off x="4622431" y="5053725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1738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A074-DF67-BAA3-7A05-E8BDDEFC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9F93A-0CF8-C7FB-4ABD-14C93E543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302D3-F52E-B66C-674E-E4C8EC74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9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Separation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190" y="2870588"/>
            <a:ext cx="4204010" cy="802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{Pre}  command  {Post}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96069" y="1687358"/>
            <a:ext cx="1454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state</a:t>
            </a:r>
          </a:p>
          <a:p>
            <a:r>
              <a:rPr lang="en-US" dirty="0">
                <a:solidFill>
                  <a:srgbClr val="FF0000"/>
                </a:solidFill>
              </a:rPr>
              <a:t>satisfies the</a:t>
            </a:r>
          </a:p>
          <a:p>
            <a:r>
              <a:rPr lang="en-US" dirty="0">
                <a:solidFill>
                  <a:srgbClr val="FF0000"/>
                </a:solidFill>
              </a:rPr>
              <a:t>precondition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1" y="1687358"/>
            <a:ext cx="14177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then it’s safe</a:t>
            </a:r>
          </a:p>
          <a:p>
            <a:r>
              <a:rPr lang="en-US" dirty="0">
                <a:solidFill>
                  <a:srgbClr val="FF0000"/>
                </a:solidFill>
              </a:rPr>
              <a:t>to run the </a:t>
            </a:r>
          </a:p>
          <a:p>
            <a:r>
              <a:rPr lang="en-US" dirty="0">
                <a:solidFill>
                  <a:srgbClr val="FF0000"/>
                </a:solidFill>
              </a:rPr>
              <a:t>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9387" y="1687358"/>
            <a:ext cx="1915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and the state</a:t>
            </a:r>
          </a:p>
          <a:p>
            <a:r>
              <a:rPr lang="en-US" dirty="0">
                <a:solidFill>
                  <a:srgbClr val="FF0000"/>
                </a:solidFill>
              </a:rPr>
              <a:t>after will satisfy</a:t>
            </a:r>
          </a:p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dirty="0" err="1">
                <a:solidFill>
                  <a:srgbClr val="FF0000"/>
                </a:solidFill>
              </a:rPr>
              <a:t>postcondition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49193" y="3576537"/>
            <a:ext cx="7954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P∗Q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575932" y="3411866"/>
            <a:ext cx="55756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66586" y="3411866"/>
            <a:ext cx="30565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4900" y="3514981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separating</a:t>
            </a:r>
          </a:p>
          <a:p>
            <a:r>
              <a:rPr lang="en-US" dirty="0">
                <a:solidFill>
                  <a:srgbClr val="FF0000"/>
                </a:solidFill>
              </a:rPr>
              <a:t>conjunction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8732" y="3576537"/>
            <a:ext cx="888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P′∗Q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475249" y="3411866"/>
            <a:ext cx="55756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965903" y="3411866"/>
            <a:ext cx="30565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046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9596-9806-F5F6-AE77-32EDA2B6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B46E04-87B7-4FB4-9FDD-AE33F6548FDF}"/>
              </a:ext>
            </a:extLst>
          </p:cNvPr>
          <p:cNvSpPr/>
          <p:nvPr/>
        </p:nvSpPr>
        <p:spPr>
          <a:xfrm>
            <a:off x="0" y="4161312"/>
            <a:ext cx="9067800" cy="256016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02613-3BAF-C53F-3B54-EFB8D901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Separation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EEADB-1AFB-E140-324C-CB2A09D34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190" y="2870588"/>
            <a:ext cx="4204010" cy="802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{Pre}  command  {Post}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8A9D2-85F1-B497-0A60-B2EE1194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218A1-D935-961D-2F31-A1B79FFFD7E5}"/>
              </a:ext>
            </a:extLst>
          </p:cNvPr>
          <p:cNvSpPr txBox="1"/>
          <p:nvPr/>
        </p:nvSpPr>
        <p:spPr>
          <a:xfrm>
            <a:off x="1996069" y="1687358"/>
            <a:ext cx="1454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state</a:t>
            </a:r>
          </a:p>
          <a:p>
            <a:r>
              <a:rPr lang="en-US" dirty="0">
                <a:solidFill>
                  <a:srgbClr val="FF0000"/>
                </a:solidFill>
              </a:rPr>
              <a:t>satisfies the</a:t>
            </a:r>
          </a:p>
          <a:p>
            <a:r>
              <a:rPr lang="en-US" dirty="0">
                <a:solidFill>
                  <a:srgbClr val="FF0000"/>
                </a:solidFill>
              </a:rPr>
              <a:t>precondition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F4A01-6A45-2ADE-BA37-FF4F34D323B9}"/>
              </a:ext>
            </a:extLst>
          </p:cNvPr>
          <p:cNvSpPr txBox="1"/>
          <p:nvPr/>
        </p:nvSpPr>
        <p:spPr>
          <a:xfrm>
            <a:off x="3657601" y="1687358"/>
            <a:ext cx="14177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then it’s safe</a:t>
            </a:r>
          </a:p>
          <a:p>
            <a:r>
              <a:rPr lang="en-US" dirty="0">
                <a:solidFill>
                  <a:srgbClr val="FF0000"/>
                </a:solidFill>
              </a:rPr>
              <a:t>to run the </a:t>
            </a:r>
          </a:p>
          <a:p>
            <a:r>
              <a:rPr lang="en-US" dirty="0">
                <a:solidFill>
                  <a:srgbClr val="FF0000"/>
                </a:solidFill>
              </a:rPr>
              <a:t>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B2018-939B-0375-BCCF-D122B274912E}"/>
              </a:ext>
            </a:extLst>
          </p:cNvPr>
          <p:cNvSpPr txBox="1"/>
          <p:nvPr/>
        </p:nvSpPr>
        <p:spPr>
          <a:xfrm>
            <a:off x="5249387" y="1687358"/>
            <a:ext cx="1915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and the state</a:t>
            </a:r>
          </a:p>
          <a:p>
            <a:r>
              <a:rPr lang="en-US" dirty="0">
                <a:solidFill>
                  <a:srgbClr val="FF0000"/>
                </a:solidFill>
              </a:rPr>
              <a:t>after will satisfy</a:t>
            </a:r>
          </a:p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dirty="0" err="1">
                <a:solidFill>
                  <a:srgbClr val="FF0000"/>
                </a:solidFill>
              </a:rPr>
              <a:t>postcondition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C0690-86C5-1F19-5D82-5DA32054CD4F}"/>
              </a:ext>
            </a:extLst>
          </p:cNvPr>
          <p:cNvSpPr/>
          <p:nvPr/>
        </p:nvSpPr>
        <p:spPr>
          <a:xfrm>
            <a:off x="2449193" y="3576537"/>
            <a:ext cx="7954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P∗Q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3E44F9-95CF-ED01-8888-1033DEADF115}"/>
              </a:ext>
            </a:extLst>
          </p:cNvPr>
          <p:cNvCxnSpPr/>
          <p:nvPr/>
        </p:nvCxnSpPr>
        <p:spPr>
          <a:xfrm flipH="1">
            <a:off x="2575932" y="3411866"/>
            <a:ext cx="55756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B71DEA-0C16-15D5-DBA7-441B944CA1DE}"/>
              </a:ext>
            </a:extLst>
          </p:cNvPr>
          <p:cNvCxnSpPr/>
          <p:nvPr/>
        </p:nvCxnSpPr>
        <p:spPr>
          <a:xfrm>
            <a:off x="3066586" y="3411866"/>
            <a:ext cx="30565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F7A008-32E0-7BFC-B51A-722C79A7A07A}"/>
              </a:ext>
            </a:extLst>
          </p:cNvPr>
          <p:cNvSpPr txBox="1"/>
          <p:nvPr/>
        </p:nvSpPr>
        <p:spPr>
          <a:xfrm>
            <a:off x="884900" y="3514981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separating</a:t>
            </a:r>
          </a:p>
          <a:p>
            <a:r>
              <a:rPr lang="en-US" dirty="0">
                <a:solidFill>
                  <a:srgbClr val="FF0000"/>
                </a:solidFill>
              </a:rPr>
              <a:t>conjunction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FF43-4020-3042-4FC3-55D1C47DD70C}"/>
              </a:ext>
            </a:extLst>
          </p:cNvPr>
          <p:cNvSpPr/>
          <p:nvPr/>
        </p:nvSpPr>
        <p:spPr>
          <a:xfrm>
            <a:off x="5318732" y="3576537"/>
            <a:ext cx="888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P′∗Q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81A4AB-F68B-6B79-71AA-DBF02528ECF7}"/>
              </a:ext>
            </a:extLst>
          </p:cNvPr>
          <p:cNvCxnSpPr/>
          <p:nvPr/>
        </p:nvCxnSpPr>
        <p:spPr>
          <a:xfrm flipH="1">
            <a:off x="5475249" y="3411866"/>
            <a:ext cx="55756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524822-5B4E-6A37-4EBA-D375513CD82D}"/>
              </a:ext>
            </a:extLst>
          </p:cNvPr>
          <p:cNvCxnSpPr/>
          <p:nvPr/>
        </p:nvCxnSpPr>
        <p:spPr>
          <a:xfrm>
            <a:off x="5965903" y="3411866"/>
            <a:ext cx="30565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8E287F0-D81B-C3A1-973B-2F10C60580B6}"/>
              </a:ext>
            </a:extLst>
          </p:cNvPr>
          <p:cNvGrpSpPr/>
          <p:nvPr/>
        </p:nvGrpSpPr>
        <p:grpSpPr>
          <a:xfrm>
            <a:off x="256552" y="3990859"/>
            <a:ext cx="8612596" cy="2450689"/>
            <a:chOff x="256552" y="3990859"/>
            <a:chExt cx="8612596" cy="245068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57DE50-4CA6-22E5-DFAA-B3F4315AFF4F}"/>
                </a:ext>
              </a:extLst>
            </p:cNvPr>
            <p:cNvSpPr/>
            <p:nvPr/>
          </p:nvSpPr>
          <p:spPr bwMode="auto">
            <a:xfrm>
              <a:off x="1133349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71097F-F0BA-38E4-35F7-2ABF41E51994}"/>
                </a:ext>
              </a:extLst>
            </p:cNvPr>
            <p:cNvSpPr/>
            <p:nvPr/>
          </p:nvSpPr>
          <p:spPr bwMode="auto">
            <a:xfrm>
              <a:off x="1514349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4B14CC3-7707-5D53-AF7F-161EBD100DBF}"/>
                </a:ext>
              </a:extLst>
            </p:cNvPr>
            <p:cNvCxnSpPr/>
            <p:nvPr/>
          </p:nvCxnSpPr>
          <p:spPr bwMode="auto">
            <a:xfrm>
              <a:off x="599949" y="5584622"/>
              <a:ext cx="5334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6E7C420-373D-0E55-4ACA-BFE5A981F122}"/>
                </a:ext>
              </a:extLst>
            </p:cNvPr>
            <p:cNvSpPr/>
            <p:nvPr/>
          </p:nvSpPr>
          <p:spPr>
            <a:xfrm>
              <a:off x="354336" y="4538457"/>
              <a:ext cx="34948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{ x↦(1,y) ∗ y↦(2,z) } 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DF2927-B8E9-2845-8928-711828854208}"/>
                </a:ext>
              </a:extLst>
            </p:cNvPr>
            <p:cNvCxnSpPr/>
            <p:nvPr/>
          </p:nvCxnSpPr>
          <p:spPr>
            <a:xfrm flipH="1">
              <a:off x="2062046" y="3990859"/>
              <a:ext cx="754882" cy="6318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1952623-8923-AA83-699A-0A4153375D0D}"/>
                </a:ext>
              </a:extLst>
            </p:cNvPr>
            <p:cNvSpPr/>
            <p:nvPr/>
          </p:nvSpPr>
          <p:spPr>
            <a:xfrm>
              <a:off x="256552" y="5288415"/>
              <a:ext cx="35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67AB81C-7CC9-0375-D3AE-C32891EEEF72}"/>
                </a:ext>
              </a:extLst>
            </p:cNvPr>
            <p:cNvSpPr/>
            <p:nvPr/>
          </p:nvSpPr>
          <p:spPr bwMode="auto">
            <a:xfrm>
              <a:off x="2328746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712B91D-F262-9074-C714-42EE86F70B89}"/>
                </a:ext>
              </a:extLst>
            </p:cNvPr>
            <p:cNvSpPr/>
            <p:nvPr/>
          </p:nvSpPr>
          <p:spPr bwMode="auto">
            <a:xfrm>
              <a:off x="2709746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7402CF-01B2-4BAD-5C61-93CE3AFC8FC6}"/>
                </a:ext>
              </a:extLst>
            </p:cNvPr>
            <p:cNvCxnSpPr/>
            <p:nvPr/>
          </p:nvCxnSpPr>
          <p:spPr bwMode="auto">
            <a:xfrm>
              <a:off x="1795346" y="5584622"/>
              <a:ext cx="5334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A5112CC-0BF1-8956-E44D-A3BB55E17BBF}"/>
                </a:ext>
              </a:extLst>
            </p:cNvPr>
            <p:cNvCxnSpPr/>
            <p:nvPr/>
          </p:nvCxnSpPr>
          <p:spPr bwMode="auto">
            <a:xfrm flipV="1">
              <a:off x="2015997" y="5740525"/>
              <a:ext cx="280752" cy="47401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482C285-C0B3-BF6E-B391-6518DE667C0F}"/>
                </a:ext>
              </a:extLst>
            </p:cNvPr>
            <p:cNvSpPr/>
            <p:nvPr/>
          </p:nvSpPr>
          <p:spPr>
            <a:xfrm>
              <a:off x="1672600" y="5918328"/>
              <a:ext cx="3658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y</a:t>
              </a:r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C336DAC-69D3-894B-5E08-D0AF70676459}"/>
                </a:ext>
              </a:extLst>
            </p:cNvPr>
            <p:cNvSpPr/>
            <p:nvPr/>
          </p:nvSpPr>
          <p:spPr bwMode="auto">
            <a:xfrm>
              <a:off x="6164109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4E7C6CD-A338-9A49-2841-3881FCD4E198}"/>
                </a:ext>
              </a:extLst>
            </p:cNvPr>
            <p:cNvSpPr/>
            <p:nvPr/>
          </p:nvSpPr>
          <p:spPr bwMode="auto">
            <a:xfrm>
              <a:off x="6545109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2E67FA-7DE6-6353-6922-AD3AB097B464}"/>
                </a:ext>
              </a:extLst>
            </p:cNvPr>
            <p:cNvCxnSpPr/>
            <p:nvPr/>
          </p:nvCxnSpPr>
          <p:spPr bwMode="auto">
            <a:xfrm>
              <a:off x="5630709" y="5584622"/>
              <a:ext cx="5334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C5038B7-3FE1-27ED-8FCB-6F0585B35E7C}"/>
                </a:ext>
              </a:extLst>
            </p:cNvPr>
            <p:cNvSpPr/>
            <p:nvPr/>
          </p:nvSpPr>
          <p:spPr>
            <a:xfrm>
              <a:off x="5452828" y="4512713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{ x↦(3,y) ∗ y↦(2,z) }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8B7B545-2F54-3219-251A-7EF1BA1B252A}"/>
                </a:ext>
              </a:extLst>
            </p:cNvPr>
            <p:cNvSpPr/>
            <p:nvPr/>
          </p:nvSpPr>
          <p:spPr>
            <a:xfrm>
              <a:off x="5287312" y="5288415"/>
              <a:ext cx="35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C55F4BC-0F2D-CE59-9F7C-631ADC89F46E}"/>
                </a:ext>
              </a:extLst>
            </p:cNvPr>
            <p:cNvSpPr/>
            <p:nvPr/>
          </p:nvSpPr>
          <p:spPr bwMode="auto">
            <a:xfrm>
              <a:off x="7359506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142A66C-D131-DA6D-2BAD-C9F828E20CF5}"/>
                </a:ext>
              </a:extLst>
            </p:cNvPr>
            <p:cNvSpPr/>
            <p:nvPr/>
          </p:nvSpPr>
          <p:spPr bwMode="auto">
            <a:xfrm>
              <a:off x="7740506" y="5359525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B3EDF08-8F8B-8880-FEDC-7597F5E8B57E}"/>
                </a:ext>
              </a:extLst>
            </p:cNvPr>
            <p:cNvCxnSpPr/>
            <p:nvPr/>
          </p:nvCxnSpPr>
          <p:spPr bwMode="auto">
            <a:xfrm>
              <a:off x="6826106" y="5584622"/>
              <a:ext cx="5334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775B9F9-3258-5C85-1076-1FE1D19EE90E}"/>
                </a:ext>
              </a:extLst>
            </p:cNvPr>
            <p:cNvCxnSpPr/>
            <p:nvPr/>
          </p:nvCxnSpPr>
          <p:spPr bwMode="auto">
            <a:xfrm flipV="1">
              <a:off x="7046757" y="5740525"/>
              <a:ext cx="280752" cy="47401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915B81-75B6-BC55-2F9C-41275301A254}"/>
                </a:ext>
              </a:extLst>
            </p:cNvPr>
            <p:cNvSpPr/>
            <p:nvPr/>
          </p:nvSpPr>
          <p:spPr>
            <a:xfrm>
              <a:off x="6703360" y="5918328"/>
              <a:ext cx="3658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y</a:t>
              </a:r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9177461-A4AE-974E-9171-7C0D72D6A58A}"/>
                </a:ext>
              </a:extLst>
            </p:cNvPr>
            <p:cNvSpPr/>
            <p:nvPr/>
          </p:nvSpPr>
          <p:spPr>
            <a:xfrm>
              <a:off x="3904015" y="4589159"/>
              <a:ext cx="14542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err="1"/>
                <a:t>x.data</a:t>
              </a:r>
              <a:r>
                <a:rPr lang="en-US" sz="2400" dirty="0"/>
                <a:t>=3;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756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469322" y="1860577"/>
            <a:ext cx="2495826" cy="843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Heaplets</a:t>
            </a:r>
            <a:r>
              <a:rPr lang="en-US" dirty="0"/>
              <a:t> in Separation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18" name="Group 8"/>
          <p:cNvGrpSpPr/>
          <p:nvPr/>
        </p:nvGrpSpPr>
        <p:grpSpPr>
          <a:xfrm>
            <a:off x="2739124" y="2092218"/>
            <a:ext cx="762000" cy="381000"/>
            <a:chOff x="1066800" y="2057400"/>
            <a:chExt cx="762000" cy="381000"/>
          </a:xfrm>
        </p:grpSpPr>
        <p:sp>
          <p:nvSpPr>
            <p:cNvPr id="19" name="Rectangle 18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21" name="Straight Arrow Connector 20"/>
          <p:cNvCxnSpPr>
            <a:endCxn id="19" idx="2"/>
          </p:cNvCxnSpPr>
          <p:nvPr/>
        </p:nvCxnSpPr>
        <p:spPr bwMode="auto">
          <a:xfrm flipV="1">
            <a:off x="2617295" y="2473218"/>
            <a:ext cx="312329" cy="439413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2050264" y="1271150"/>
            <a:ext cx="3058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x↦(1,y) ∗ y↦(2,z)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38400" y="2757183"/>
            <a:ext cx="357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x</a:t>
            </a:r>
            <a:endParaRPr lang="en-US" dirty="0"/>
          </a:p>
        </p:txBody>
      </p:sp>
      <p:grpSp>
        <p:nvGrpSpPr>
          <p:cNvPr id="30" name="Group 8"/>
          <p:cNvGrpSpPr/>
          <p:nvPr/>
        </p:nvGrpSpPr>
        <p:grpSpPr>
          <a:xfrm>
            <a:off x="3934521" y="2092218"/>
            <a:ext cx="762000" cy="381000"/>
            <a:chOff x="1066800" y="2057400"/>
            <a:chExt cx="762000" cy="38100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</p:grpSp>
      <p:cxnSp>
        <p:nvCxnSpPr>
          <p:cNvPr id="33" name="Straight Arrow Connector 32"/>
          <p:cNvCxnSpPr/>
          <p:nvPr/>
        </p:nvCxnSpPr>
        <p:spPr bwMode="auto">
          <a:xfrm>
            <a:off x="3401121" y="2317315"/>
            <a:ext cx="533400" cy="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3621772" y="2473218"/>
            <a:ext cx="280752" cy="47401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3318221" y="2744121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y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2050264" y="4084173"/>
            <a:ext cx="4708340" cy="2343615"/>
            <a:chOff x="2050264" y="4084173"/>
            <a:chExt cx="4708340" cy="2343615"/>
          </a:xfrm>
        </p:grpSpPr>
        <p:sp>
          <p:nvSpPr>
            <p:cNvPr id="48" name="Rectangle 47"/>
            <p:cNvSpPr/>
            <p:nvPr/>
          </p:nvSpPr>
          <p:spPr>
            <a:xfrm>
              <a:off x="5062090" y="4706268"/>
              <a:ext cx="1294296" cy="8481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38400" y="4673600"/>
              <a:ext cx="1294296" cy="8481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" name="Group 8"/>
            <p:cNvGrpSpPr/>
            <p:nvPr/>
          </p:nvGrpSpPr>
          <p:grpSpPr>
            <a:xfrm>
              <a:off x="2739124" y="4905241"/>
              <a:ext cx="762000" cy="381000"/>
              <a:chOff x="1066800" y="2057400"/>
              <a:chExt cx="762000" cy="381000"/>
            </a:xfrm>
          </p:grpSpPr>
          <p:sp>
            <p:nvSpPr>
              <p:cNvPr id="37" name="Rectangle 36"/>
              <p:cNvSpPr/>
              <p:nvPr/>
            </p:nvSpPr>
            <p:spPr bwMode="auto">
              <a:xfrm>
                <a:off x="1066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 bwMode="auto">
              <a:xfrm>
                <a:off x="1447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39" name="Straight Arrow Connector 38"/>
            <p:cNvCxnSpPr>
              <a:stCxn id="41" idx="0"/>
            </p:cNvCxnSpPr>
            <p:nvPr/>
          </p:nvCxnSpPr>
          <p:spPr bwMode="auto">
            <a:xfrm flipV="1">
              <a:off x="2617295" y="5326039"/>
              <a:ext cx="251415" cy="578529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0" name="Rectangle 39"/>
            <p:cNvSpPr/>
            <p:nvPr/>
          </p:nvSpPr>
          <p:spPr>
            <a:xfrm>
              <a:off x="2050264" y="4084173"/>
              <a:ext cx="47083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x↦(1,y)            ∗           y↦(2,z) 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38400" y="5904568"/>
              <a:ext cx="35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x</a:t>
              </a:r>
              <a:endParaRPr lang="en-US" dirty="0"/>
            </a:p>
          </p:txBody>
        </p:sp>
        <p:grpSp>
          <p:nvGrpSpPr>
            <p:cNvPr id="42" name="Group 8"/>
            <p:cNvGrpSpPr/>
            <p:nvPr/>
          </p:nvGrpSpPr>
          <p:grpSpPr>
            <a:xfrm>
              <a:off x="5364760" y="4905241"/>
              <a:ext cx="762000" cy="381000"/>
              <a:chOff x="1066800" y="2057400"/>
              <a:chExt cx="762000" cy="381000"/>
            </a:xfrm>
          </p:grpSpPr>
          <p:sp>
            <p:nvSpPr>
              <p:cNvPr id="43" name="Rectangle 42"/>
              <p:cNvSpPr/>
              <p:nvPr/>
            </p:nvSpPr>
            <p:spPr bwMode="auto">
              <a:xfrm>
                <a:off x="1066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>
                <a:off x="1447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z</a:t>
                </a:r>
              </a:p>
            </p:txBody>
          </p:sp>
        </p:grpSp>
        <p:cxnSp>
          <p:nvCxnSpPr>
            <p:cNvPr id="45" name="Straight Arrow Connector 44"/>
            <p:cNvCxnSpPr/>
            <p:nvPr/>
          </p:nvCxnSpPr>
          <p:spPr bwMode="auto">
            <a:xfrm>
              <a:off x="3310624" y="5095741"/>
              <a:ext cx="2054136" cy="34597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6" name="Straight Arrow Connector 45"/>
            <p:cNvCxnSpPr/>
            <p:nvPr/>
          </p:nvCxnSpPr>
          <p:spPr bwMode="auto">
            <a:xfrm flipV="1">
              <a:off x="4892096" y="5286241"/>
              <a:ext cx="440667" cy="657639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Rectangle 46"/>
            <p:cNvSpPr/>
            <p:nvPr/>
          </p:nvSpPr>
          <p:spPr>
            <a:xfrm>
              <a:off x="4637935" y="5833132"/>
              <a:ext cx="3658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y</a:t>
              </a:r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0CDAEC-FCC0-EAFB-501E-40991704E85C}"/>
              </a:ext>
            </a:extLst>
          </p:cNvPr>
          <p:cNvSpPr txBox="1"/>
          <p:nvPr/>
        </p:nvSpPr>
        <p:spPr>
          <a:xfrm>
            <a:off x="5584259" y="1553364"/>
            <a:ext cx="29933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 “</a:t>
            </a:r>
            <a:r>
              <a:rPr lang="en-US" dirty="0" err="1">
                <a:solidFill>
                  <a:srgbClr val="00B050"/>
                </a:solidFill>
              </a:rPr>
              <a:t>heaplet</a:t>
            </a:r>
            <a:r>
              <a:rPr lang="en-US" dirty="0">
                <a:solidFill>
                  <a:srgbClr val="00B050"/>
                </a:solidFill>
              </a:rPr>
              <a:t>” is a model of a </a:t>
            </a:r>
          </a:p>
          <a:p>
            <a:r>
              <a:rPr lang="en-US" dirty="0">
                <a:solidFill>
                  <a:srgbClr val="00B050"/>
                </a:solidFill>
              </a:rPr>
              <a:t>separating conjunct; it’s a </a:t>
            </a:r>
          </a:p>
          <a:p>
            <a:r>
              <a:rPr lang="en-US" dirty="0">
                <a:solidFill>
                  <a:srgbClr val="00B050"/>
                </a:solidFill>
              </a:rPr>
              <a:t>(not necessarily contiguous)</a:t>
            </a:r>
          </a:p>
          <a:p>
            <a:r>
              <a:rPr lang="en-US" dirty="0">
                <a:solidFill>
                  <a:srgbClr val="00B050"/>
                </a:solidFill>
              </a:rPr>
              <a:t>part of memory with a</a:t>
            </a:r>
          </a:p>
          <a:p>
            <a:r>
              <a:rPr lang="en-US" dirty="0">
                <a:solidFill>
                  <a:srgbClr val="00B050"/>
                </a:solidFill>
              </a:rPr>
              <a:t>given footprint (domain)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6ABA9-F859-8910-30E6-F0FB3D0CB228}"/>
              </a:ext>
            </a:extLst>
          </p:cNvPr>
          <p:cNvSpPr txBox="1"/>
          <p:nvPr/>
        </p:nvSpPr>
        <p:spPr>
          <a:xfrm>
            <a:off x="6983882" y="4427240"/>
            <a:ext cx="1776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 separating </a:t>
            </a:r>
          </a:p>
          <a:p>
            <a:r>
              <a:rPr lang="en-US" dirty="0">
                <a:solidFill>
                  <a:srgbClr val="00B050"/>
                </a:solidFill>
              </a:rPr>
              <a:t>conjunction ∗  is</a:t>
            </a:r>
          </a:p>
          <a:p>
            <a:r>
              <a:rPr lang="en-US" dirty="0">
                <a:solidFill>
                  <a:srgbClr val="00B050"/>
                </a:solidFill>
              </a:rPr>
              <a:t>about the union</a:t>
            </a:r>
          </a:p>
          <a:p>
            <a:r>
              <a:rPr lang="en-US" dirty="0">
                <a:solidFill>
                  <a:srgbClr val="00B050"/>
                </a:solidFill>
              </a:rPr>
              <a:t>of two disjoint</a:t>
            </a:r>
          </a:p>
          <a:p>
            <a:r>
              <a:rPr lang="en-US" dirty="0">
                <a:solidFill>
                  <a:srgbClr val="00B050"/>
                </a:solidFill>
              </a:rPr>
              <a:t>footprints</a:t>
            </a:r>
          </a:p>
        </p:txBody>
      </p:sp>
    </p:spTree>
    <p:extLst>
      <p:ext uri="{BB962C8B-B14F-4D97-AF65-F5344CB8AC3E}">
        <p14:creationId xmlns:p14="http://schemas.microsoft.com/office/powerpoint/2010/main" val="2702610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469322" y="1860577"/>
            <a:ext cx="2495826" cy="843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Heaplets</a:t>
            </a:r>
            <a:r>
              <a:rPr lang="en-US" dirty="0"/>
              <a:t> in Separation Logic</a:t>
            </a:r>
          </a:p>
        </p:txBody>
      </p:sp>
      <p:grpSp>
        <p:nvGrpSpPr>
          <p:cNvPr id="18" name="Group 8"/>
          <p:cNvGrpSpPr/>
          <p:nvPr/>
        </p:nvGrpSpPr>
        <p:grpSpPr>
          <a:xfrm>
            <a:off x="2739124" y="2092218"/>
            <a:ext cx="762000" cy="381000"/>
            <a:chOff x="1066800" y="2057400"/>
            <a:chExt cx="762000" cy="381000"/>
          </a:xfrm>
        </p:grpSpPr>
        <p:sp>
          <p:nvSpPr>
            <p:cNvPr id="19" name="Rectangle 18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21" name="Straight Arrow Connector 20"/>
          <p:cNvCxnSpPr>
            <a:endCxn id="19" idx="2"/>
          </p:cNvCxnSpPr>
          <p:nvPr/>
        </p:nvCxnSpPr>
        <p:spPr bwMode="auto">
          <a:xfrm flipV="1">
            <a:off x="2617295" y="2473218"/>
            <a:ext cx="312329" cy="439413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2438400" y="2757183"/>
            <a:ext cx="357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x</a:t>
            </a:r>
            <a:endParaRPr lang="en-US" dirty="0"/>
          </a:p>
        </p:txBody>
      </p:sp>
      <p:grpSp>
        <p:nvGrpSpPr>
          <p:cNvPr id="30" name="Group 8"/>
          <p:cNvGrpSpPr/>
          <p:nvPr/>
        </p:nvGrpSpPr>
        <p:grpSpPr>
          <a:xfrm>
            <a:off x="3934521" y="2092218"/>
            <a:ext cx="762000" cy="381000"/>
            <a:chOff x="1066800" y="2057400"/>
            <a:chExt cx="762000" cy="38100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</p:grpSp>
      <p:cxnSp>
        <p:nvCxnSpPr>
          <p:cNvPr id="33" name="Straight Arrow Connector 32"/>
          <p:cNvCxnSpPr/>
          <p:nvPr/>
        </p:nvCxnSpPr>
        <p:spPr bwMode="auto">
          <a:xfrm>
            <a:off x="3401121" y="2317315"/>
            <a:ext cx="533400" cy="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3621772" y="2473218"/>
            <a:ext cx="280752" cy="47401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3318221" y="2744121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0E795-3EF6-7696-8065-1012A8852D9F}"/>
              </a:ext>
            </a:extLst>
          </p:cNvPr>
          <p:cNvSpPr/>
          <p:nvPr/>
        </p:nvSpPr>
        <p:spPr>
          <a:xfrm>
            <a:off x="302830" y="3663232"/>
            <a:ext cx="34948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{ x↦(1,y) ∗ y↦(2,z) 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B9DF0-1419-5A8B-2701-66CF369C89ED}"/>
              </a:ext>
            </a:extLst>
          </p:cNvPr>
          <p:cNvSpPr/>
          <p:nvPr/>
        </p:nvSpPr>
        <p:spPr>
          <a:xfrm>
            <a:off x="5401322" y="3637488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{ x↦(3,y) ∗ y↦(2,z) 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AA08D-72E7-29A3-F651-30FCE71EE9A3}"/>
              </a:ext>
            </a:extLst>
          </p:cNvPr>
          <p:cNvSpPr/>
          <p:nvPr/>
        </p:nvSpPr>
        <p:spPr>
          <a:xfrm>
            <a:off x="3852509" y="3713934"/>
            <a:ext cx="1454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x.data</a:t>
            </a:r>
            <a:r>
              <a:rPr lang="en-US" sz="2400" dirty="0"/>
              <a:t>=3;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F36262-6CBA-1726-8999-9DFFEEA0A09E}"/>
              </a:ext>
            </a:extLst>
          </p:cNvPr>
          <p:cNvCxnSpPr/>
          <p:nvPr/>
        </p:nvCxnSpPr>
        <p:spPr>
          <a:xfrm>
            <a:off x="4965148" y="1860577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5FAA05-91FD-97AF-67C0-D63DBB2FC3EC}"/>
              </a:ext>
            </a:extLst>
          </p:cNvPr>
          <p:cNvCxnSpPr/>
          <p:nvPr/>
        </p:nvCxnSpPr>
        <p:spPr>
          <a:xfrm>
            <a:off x="4965148" y="2704303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A9AA48-13DD-D2AD-ED9E-3D49F03E203D}"/>
              </a:ext>
            </a:extLst>
          </p:cNvPr>
          <p:cNvCxnSpPr>
            <a:cxnSpLocks/>
          </p:cNvCxnSpPr>
          <p:nvPr/>
        </p:nvCxnSpPr>
        <p:spPr>
          <a:xfrm>
            <a:off x="302830" y="1860577"/>
            <a:ext cx="216649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D6FF4-42A4-4FE6-6C32-E5904E46D939}"/>
              </a:ext>
            </a:extLst>
          </p:cNvPr>
          <p:cNvCxnSpPr>
            <a:cxnSpLocks/>
          </p:cNvCxnSpPr>
          <p:nvPr/>
        </p:nvCxnSpPr>
        <p:spPr>
          <a:xfrm>
            <a:off x="381000" y="2704303"/>
            <a:ext cx="208832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29192F4-B87A-9082-944A-0B57B41CE89D}"/>
              </a:ext>
            </a:extLst>
          </p:cNvPr>
          <p:cNvSpPr/>
          <p:nvPr/>
        </p:nvSpPr>
        <p:spPr>
          <a:xfrm>
            <a:off x="2469322" y="5125829"/>
            <a:ext cx="2495826" cy="843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8">
            <a:extLst>
              <a:ext uri="{FF2B5EF4-FFF2-40B4-BE49-F238E27FC236}">
                <a16:creationId xmlns:a16="http://schemas.microsoft.com/office/drawing/2014/main" id="{6EF7DD73-FF5C-A08B-4AD5-56053F32B40D}"/>
              </a:ext>
            </a:extLst>
          </p:cNvPr>
          <p:cNvGrpSpPr/>
          <p:nvPr/>
        </p:nvGrpSpPr>
        <p:grpSpPr>
          <a:xfrm>
            <a:off x="2739124" y="5357470"/>
            <a:ext cx="762000" cy="381000"/>
            <a:chOff x="1066800" y="2057400"/>
            <a:chExt cx="762000" cy="381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2F9DE4-D745-631D-7280-92D3849F31EB}"/>
                </a:ext>
              </a:extLst>
            </p:cNvPr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solidFill>
              <a:srgbClr val="FFFF00"/>
            </a:solidFill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554EC2-C769-F087-E606-D15A77D1F9DE}"/>
                </a:ext>
              </a:extLst>
            </p:cNvPr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9750D1-B16A-8B8E-EA26-73BD1E21407E}"/>
              </a:ext>
            </a:extLst>
          </p:cNvPr>
          <p:cNvCxnSpPr>
            <a:endCxn id="25" idx="2"/>
          </p:cNvCxnSpPr>
          <p:nvPr/>
        </p:nvCxnSpPr>
        <p:spPr bwMode="auto">
          <a:xfrm flipV="1">
            <a:off x="2617295" y="5738470"/>
            <a:ext cx="312329" cy="439413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4B1CB40-42B2-B8D0-608E-BD202D380FD9}"/>
              </a:ext>
            </a:extLst>
          </p:cNvPr>
          <p:cNvSpPr/>
          <p:nvPr/>
        </p:nvSpPr>
        <p:spPr>
          <a:xfrm>
            <a:off x="2438400" y="6022435"/>
            <a:ext cx="357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x</a:t>
            </a:r>
            <a:endParaRPr lang="en-US" dirty="0"/>
          </a:p>
        </p:txBody>
      </p:sp>
      <p:grpSp>
        <p:nvGrpSpPr>
          <p:cNvPr id="50" name="Group 8">
            <a:extLst>
              <a:ext uri="{FF2B5EF4-FFF2-40B4-BE49-F238E27FC236}">
                <a16:creationId xmlns:a16="http://schemas.microsoft.com/office/drawing/2014/main" id="{702C2DBA-E509-7084-5B7D-9938AD45F4E9}"/>
              </a:ext>
            </a:extLst>
          </p:cNvPr>
          <p:cNvGrpSpPr/>
          <p:nvPr/>
        </p:nvGrpSpPr>
        <p:grpSpPr>
          <a:xfrm>
            <a:off x="3934521" y="5357470"/>
            <a:ext cx="762000" cy="381000"/>
            <a:chOff x="1066800" y="2057400"/>
            <a:chExt cx="762000" cy="381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B324B7A-6EB9-C838-43A2-02E43EA74986}"/>
                </a:ext>
              </a:extLst>
            </p:cNvPr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0666FC1-A3CE-E349-E6F6-2D74F7A9874D}"/>
                </a:ext>
              </a:extLst>
            </p:cNvPr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0C8FD6-3858-9CD1-39C7-25E22BCFF924}"/>
              </a:ext>
            </a:extLst>
          </p:cNvPr>
          <p:cNvCxnSpPr/>
          <p:nvPr/>
        </p:nvCxnSpPr>
        <p:spPr bwMode="auto">
          <a:xfrm>
            <a:off x="3401121" y="5582567"/>
            <a:ext cx="533400" cy="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0F02462-3147-3D39-C633-3C6A37F1C5A8}"/>
              </a:ext>
            </a:extLst>
          </p:cNvPr>
          <p:cNvCxnSpPr/>
          <p:nvPr/>
        </p:nvCxnSpPr>
        <p:spPr bwMode="auto">
          <a:xfrm flipV="1">
            <a:off x="3621772" y="5738470"/>
            <a:ext cx="280752" cy="47401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7B9ABD8-AB69-C160-2292-152279C14512}"/>
              </a:ext>
            </a:extLst>
          </p:cNvPr>
          <p:cNvSpPr/>
          <p:nvPr/>
        </p:nvSpPr>
        <p:spPr>
          <a:xfrm>
            <a:off x="3318221" y="6009373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y</a:t>
            </a:r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0AFEE0-FDBF-0B48-4D06-BB454C74CA9F}"/>
              </a:ext>
            </a:extLst>
          </p:cNvPr>
          <p:cNvCxnSpPr/>
          <p:nvPr/>
        </p:nvCxnSpPr>
        <p:spPr>
          <a:xfrm>
            <a:off x="4965148" y="5125829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94CA45-F9FE-2DFA-E24E-9A782D33029C}"/>
              </a:ext>
            </a:extLst>
          </p:cNvPr>
          <p:cNvCxnSpPr/>
          <p:nvPr/>
        </p:nvCxnSpPr>
        <p:spPr>
          <a:xfrm>
            <a:off x="4965148" y="5969555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4998F46-07DC-B5BD-DE6E-1375C3B2FD2D}"/>
              </a:ext>
            </a:extLst>
          </p:cNvPr>
          <p:cNvCxnSpPr>
            <a:cxnSpLocks/>
          </p:cNvCxnSpPr>
          <p:nvPr/>
        </p:nvCxnSpPr>
        <p:spPr>
          <a:xfrm>
            <a:off x="302830" y="5125829"/>
            <a:ext cx="216649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D055495-5843-13F8-2937-13564675C032}"/>
              </a:ext>
            </a:extLst>
          </p:cNvPr>
          <p:cNvCxnSpPr>
            <a:cxnSpLocks/>
          </p:cNvCxnSpPr>
          <p:nvPr/>
        </p:nvCxnSpPr>
        <p:spPr>
          <a:xfrm>
            <a:off x="381000" y="5969555"/>
            <a:ext cx="208832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41ADCA-9F7D-047D-86E0-F4DBEB03ADC5}"/>
              </a:ext>
            </a:extLst>
          </p:cNvPr>
          <p:cNvSpPr txBox="1"/>
          <p:nvPr/>
        </p:nvSpPr>
        <p:spPr>
          <a:xfrm>
            <a:off x="6383413" y="4608650"/>
            <a:ext cx="2303387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We can safely say</a:t>
            </a:r>
          </a:p>
          <a:p>
            <a:r>
              <a:rPr lang="en-US" dirty="0">
                <a:solidFill>
                  <a:srgbClr val="00B050"/>
                </a:solidFill>
              </a:rPr>
              <a:t>that </a:t>
            </a:r>
            <a:r>
              <a:rPr lang="en-US" dirty="0" err="1">
                <a:solidFill>
                  <a:srgbClr val="00B050"/>
                </a:solidFill>
              </a:rPr>
              <a:t>x.data</a:t>
            </a:r>
            <a:r>
              <a:rPr lang="en-US" dirty="0">
                <a:solidFill>
                  <a:srgbClr val="00B050"/>
                </a:solidFill>
              </a:rPr>
              <a:t> is updated</a:t>
            </a:r>
          </a:p>
          <a:p>
            <a:r>
              <a:rPr lang="en-US" dirty="0">
                <a:solidFill>
                  <a:srgbClr val="00B050"/>
                </a:solidFill>
              </a:rPr>
              <a:t>and </a:t>
            </a:r>
            <a:r>
              <a:rPr lang="en-US" dirty="0" err="1">
                <a:solidFill>
                  <a:srgbClr val="00B050"/>
                </a:solidFill>
              </a:rPr>
              <a:t>y.data</a:t>
            </a:r>
            <a:r>
              <a:rPr lang="en-US" dirty="0">
                <a:solidFill>
                  <a:srgbClr val="00B050"/>
                </a:solidFill>
              </a:rPr>
              <a:t> is still 2,</a:t>
            </a:r>
          </a:p>
          <a:p>
            <a:r>
              <a:rPr lang="en-US" dirty="0">
                <a:solidFill>
                  <a:srgbClr val="00B050"/>
                </a:solidFill>
              </a:rPr>
              <a:t>because x cannot</a:t>
            </a:r>
          </a:p>
          <a:p>
            <a:r>
              <a:rPr lang="en-US" dirty="0">
                <a:solidFill>
                  <a:srgbClr val="00B050"/>
                </a:solidFill>
              </a:rPr>
              <a:t>be aliased with y</a:t>
            </a:r>
          </a:p>
          <a:p>
            <a:r>
              <a:rPr lang="en-US" dirty="0">
                <a:solidFill>
                  <a:srgbClr val="00B050"/>
                </a:solidFill>
              </a:rPr>
              <a:t>if the precondition</a:t>
            </a:r>
          </a:p>
          <a:p>
            <a:r>
              <a:rPr lang="en-US" dirty="0">
                <a:solidFill>
                  <a:srgbClr val="00B050"/>
                </a:solidFill>
              </a:rPr>
              <a:t>is satisfied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14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D3FA-03AD-2540-3813-C0067CB8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Concurrent Separation Logics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AD39C-3623-77F2-529A-38108641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E51E-A6D0-EF30-E2E8-48600C5F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0E6D9-6922-F128-D6EC-926AC3F9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13" name="Picture 12" descr="Chart&#10;&#10;Description automatically generated with medium confidence">
            <a:extLst>
              <a:ext uri="{FF2B5EF4-FFF2-40B4-BE49-F238E27FC236}">
                <a16:creationId xmlns:a16="http://schemas.microsoft.com/office/drawing/2014/main" id="{D7F74E71-0B28-807D-AA23-F5F2CF3478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156572"/>
            <a:ext cx="9144000" cy="514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2CC542-9F52-24F3-3703-9288A33B85FF}"/>
              </a:ext>
            </a:extLst>
          </p:cNvPr>
          <p:cNvSpPr txBox="1"/>
          <p:nvPr/>
        </p:nvSpPr>
        <p:spPr>
          <a:xfrm>
            <a:off x="6248400" y="6468906"/>
            <a:ext cx="218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diagram: Ilya Sergey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16252-C805-3715-E3E0-B3408C4A4037}"/>
              </a:ext>
            </a:extLst>
          </p:cNvPr>
          <p:cNvSpPr txBox="1"/>
          <p:nvPr/>
        </p:nvSpPr>
        <p:spPr>
          <a:xfrm>
            <a:off x="1459211" y="814151"/>
            <a:ext cx="616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CSL uses separating conjunction to do thread-local reasoning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05461-24C7-293C-5F8D-8D60CF4B9A59}"/>
              </a:ext>
            </a:extLst>
          </p:cNvPr>
          <p:cNvSpPr txBox="1"/>
          <p:nvPr/>
        </p:nvSpPr>
        <p:spPr>
          <a:xfrm>
            <a:off x="1459211" y="6115406"/>
            <a:ext cx="663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But there are many flavors of CSL since O’Hearn’s 2004 original</a:t>
            </a:r>
          </a:p>
        </p:txBody>
      </p:sp>
    </p:spTree>
    <p:extLst>
      <p:ext uri="{BB962C8B-B14F-4D97-AF65-F5344CB8AC3E}">
        <p14:creationId xmlns:p14="http://schemas.microsoft.com/office/powerpoint/2010/main" val="3505726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3762-FBB4-6A04-8E40-C3AE23F1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prove 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F59DB-4899-BB06-5346-43B5D338C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1534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Some of those CSLs are quite complicated (but very expressive).  But our needs here are simple: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Don’t need ghost state</a:t>
            </a:r>
          </a:p>
          <a:p>
            <a:r>
              <a:rPr lang="en-US" dirty="0"/>
              <a:t>Don’t need partial commutative monoid</a:t>
            </a:r>
          </a:p>
          <a:p>
            <a:r>
              <a:rPr lang="en-US" dirty="0"/>
              <a:t>Semaphores with “old-fashioned” lock invariants</a:t>
            </a:r>
          </a:p>
          <a:p>
            <a:r>
              <a:rPr lang="en-US" dirty="0"/>
              <a:t>Permission-splitting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∴ all the theory was in place by 2008!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634217-F7ED-FEC8-2545-1988599F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2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D3FA-03AD-2540-3813-C0067CB8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Concurrent Separation Logics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AD39C-3623-77F2-529A-38108641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E51E-A6D0-EF30-E2E8-48600C5F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0E6D9-6922-F128-D6EC-926AC3F9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13" name="Picture 12" descr="Chart&#10;&#10;Description automatically generated with medium confidence">
            <a:extLst>
              <a:ext uri="{FF2B5EF4-FFF2-40B4-BE49-F238E27FC236}">
                <a16:creationId xmlns:a16="http://schemas.microsoft.com/office/drawing/2014/main" id="{D7F74E71-0B28-807D-AA23-F5F2CF3478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156572"/>
            <a:ext cx="9144000" cy="51435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6F1B2F5-E298-7C73-98B7-712BD9440BF8}"/>
              </a:ext>
            </a:extLst>
          </p:cNvPr>
          <p:cNvSpPr/>
          <p:nvPr/>
        </p:nvSpPr>
        <p:spPr>
          <a:xfrm>
            <a:off x="533400" y="2438400"/>
            <a:ext cx="1371600" cy="609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561BA-EF09-F552-A376-466AEC773373}"/>
              </a:ext>
            </a:extLst>
          </p:cNvPr>
          <p:cNvSpPr txBox="1"/>
          <p:nvPr/>
        </p:nvSpPr>
        <p:spPr>
          <a:xfrm>
            <a:off x="304800" y="6159891"/>
            <a:ext cx="872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Times"/>
              </a:rPr>
              <a:t>Oracle Semantics for Concurrent Separation Logic,  by Aquinas Hobor, Andrew W. Appel, and Francesco Zappa Nardelli. </a:t>
            </a:r>
            <a:r>
              <a:rPr lang="en-US" sz="1600" b="0" i="1" dirty="0">
                <a:solidFill>
                  <a:srgbClr val="000000"/>
                </a:solidFill>
                <a:effectLst/>
                <a:latin typeface="Times"/>
              </a:rPr>
              <a:t>European Symposium on Programming (ESOP)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"/>
              </a:rPr>
              <a:t>, 2008.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09940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D3FA-03AD-2540-3813-C0067CB8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Concurrent Separation Logics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AD39C-3623-77F2-529A-38108641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E51E-A6D0-EF30-E2E8-48600C5F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0E6D9-6922-F128-D6EC-926AC3F9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3419475"/>
            <a:ext cx="19050" cy="19050"/>
          </a:xfrm>
          <a:prstGeom prst="rect">
            <a:avLst/>
          </a:prstGeom>
        </p:spPr>
      </p:pic>
      <p:pic>
        <p:nvPicPr>
          <p:cNvPr id="13" name="Picture 12" descr="Chart&#10;&#10;Description automatically generated with medium confidence">
            <a:extLst>
              <a:ext uri="{FF2B5EF4-FFF2-40B4-BE49-F238E27FC236}">
                <a16:creationId xmlns:a16="http://schemas.microsoft.com/office/drawing/2014/main" id="{D7F74E71-0B28-807D-AA23-F5F2CF3478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156572"/>
            <a:ext cx="9144000" cy="51435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6F1B2F5-E298-7C73-98B7-712BD9440BF8}"/>
              </a:ext>
            </a:extLst>
          </p:cNvPr>
          <p:cNvSpPr/>
          <p:nvPr/>
        </p:nvSpPr>
        <p:spPr>
          <a:xfrm>
            <a:off x="533400" y="2438400"/>
            <a:ext cx="1371600" cy="609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0B805-4EED-D508-6B68-2A50FF3AE6BB}"/>
              </a:ext>
            </a:extLst>
          </p:cNvPr>
          <p:cNvSpPr txBox="1"/>
          <p:nvPr/>
        </p:nvSpPr>
        <p:spPr>
          <a:xfrm>
            <a:off x="2209800" y="849216"/>
            <a:ext cx="465807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varieties does VST support, by the way?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6E9041-AD24-1564-90E6-C65D1C19B6A1}"/>
              </a:ext>
            </a:extLst>
          </p:cNvPr>
          <p:cNvSpPr/>
          <p:nvPr/>
        </p:nvSpPr>
        <p:spPr>
          <a:xfrm>
            <a:off x="3895725" y="5399184"/>
            <a:ext cx="1371600" cy="609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B6F8C-179A-A2AE-97C0-A97BB37449DB}"/>
              </a:ext>
            </a:extLst>
          </p:cNvPr>
          <p:cNvSpPr txBox="1"/>
          <p:nvPr/>
        </p:nvSpPr>
        <p:spPr>
          <a:xfrm>
            <a:off x="87937" y="6008784"/>
            <a:ext cx="4451347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Either Hobor-style or Iris-style, your choice</a:t>
            </a:r>
          </a:p>
        </p:txBody>
      </p:sp>
      <p:pic>
        <p:nvPicPr>
          <p:cNvPr id="7" name="Picture 6" descr="Verified Software Toolchain">
            <a:extLst>
              <a:ext uri="{FF2B5EF4-FFF2-40B4-BE49-F238E27FC236}">
                <a16:creationId xmlns:a16="http://schemas.microsoft.com/office/drawing/2014/main" id="{ECA0FF0E-C0B9-675C-A0D0-01B539A1684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6475" y="808577"/>
            <a:ext cx="1266375" cy="10338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7FBAA2-9E90-3A76-CBF6-124B4B0DE213}"/>
              </a:ext>
            </a:extLst>
          </p:cNvPr>
          <p:cNvSpPr txBox="1"/>
          <p:nvPr/>
        </p:nvSpPr>
        <p:spPr>
          <a:xfrm>
            <a:off x="304800" y="6382921"/>
            <a:ext cx="8186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 Iris Instance for Verifying </a:t>
            </a:r>
            <a:r>
              <a:rPr lang="en-US" sz="1600" dirty="0" err="1"/>
              <a:t>CompCert</a:t>
            </a:r>
            <a:r>
              <a:rPr lang="en-US" sz="1600" dirty="0"/>
              <a:t> C Programs, by William Mansky and Ke Du, POPL’24</a:t>
            </a:r>
          </a:p>
        </p:txBody>
      </p:sp>
    </p:spTree>
    <p:extLst>
      <p:ext uri="{BB962C8B-B14F-4D97-AF65-F5344CB8AC3E}">
        <p14:creationId xmlns:p14="http://schemas.microsoft.com/office/powerpoint/2010/main" val="1882856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C5F4-F3C6-57D1-CF9C-875B19CE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EAAB-EF42-088F-3590-9632498435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O’Hearn 2004</a:t>
                </a:r>
              </a:p>
              <a:p>
                <a:r>
                  <a:rPr lang="en-US" sz="2600" dirty="0" err="1"/>
                  <a:t>Gotsman</a:t>
                </a:r>
                <a:r>
                  <a:rPr lang="en-US" sz="2600" dirty="0"/>
                  <a:t> </a:t>
                </a:r>
                <a:r>
                  <a:rPr lang="en-US" sz="2600" i="1" dirty="0"/>
                  <a:t>et al.  </a:t>
                </a:r>
                <a:r>
                  <a:rPr lang="en-US" sz="2600" dirty="0"/>
                  <a:t>2007</a:t>
                </a:r>
              </a:p>
              <a:p>
                <a:r>
                  <a:rPr lang="en-US" sz="2600" dirty="0" err="1"/>
                  <a:t>Hobor</a:t>
                </a:r>
                <a:r>
                  <a:rPr lang="en-US" sz="2600" dirty="0"/>
                  <a:t>, Zappa Nardelli, Appel 2008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acquire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release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EAAB-EF42-088F-3590-9632498435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6873B-1123-CD95-0B48-B9B6E796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39026ED-3EED-D9DF-2775-DF3F7CFFB63B}"/>
              </a:ext>
            </a:extLst>
          </p:cNvPr>
          <p:cNvSpPr/>
          <p:nvPr/>
        </p:nvSpPr>
        <p:spPr>
          <a:xfrm rot="16200000">
            <a:off x="5452841" y="2929159"/>
            <a:ext cx="295718" cy="381000"/>
          </a:xfrm>
          <a:prstGeom prst="rightBrace">
            <a:avLst>
              <a:gd name="adj1" fmla="val 3181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44AE59-153A-66FA-576F-2ECEAD391C05}"/>
              </a:ext>
            </a:extLst>
          </p:cNvPr>
          <p:cNvCxnSpPr>
            <a:cxnSpLocks/>
            <a:stCxn id="5" idx="1"/>
          </p:cNvCxnSpPr>
          <p:nvPr/>
        </p:nvCxnSpPr>
        <p:spPr>
          <a:xfrm flipV="1">
            <a:off x="5600700" y="2667000"/>
            <a:ext cx="6096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251C40B-2BC5-7017-3819-AB05E1E1ACF0}"/>
              </a:ext>
            </a:extLst>
          </p:cNvPr>
          <p:cNvSpPr txBox="1"/>
          <p:nvPr/>
        </p:nvSpPr>
        <p:spPr>
          <a:xfrm>
            <a:off x="6127474" y="1853429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acquire the lock, gain the resource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B81ABFC-D93D-3AC7-EF50-86AF6F16A819}"/>
              </a:ext>
            </a:extLst>
          </p:cNvPr>
          <p:cNvSpPr/>
          <p:nvPr/>
        </p:nvSpPr>
        <p:spPr>
          <a:xfrm rot="16200000">
            <a:off x="2023842" y="4005041"/>
            <a:ext cx="295718" cy="381000"/>
          </a:xfrm>
          <a:prstGeom prst="rightBrace">
            <a:avLst>
              <a:gd name="adj1" fmla="val 3181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0F5BD5-AE94-F9E6-8FF0-300120563D0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409700" y="4047682"/>
            <a:ext cx="7620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D2B47B5-5649-A73D-1000-3622EDC736A4}"/>
              </a:ext>
            </a:extLst>
          </p:cNvPr>
          <p:cNvSpPr txBox="1"/>
          <p:nvPr/>
        </p:nvSpPr>
        <p:spPr>
          <a:xfrm>
            <a:off x="190500" y="3672681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release the lock,</a:t>
            </a:r>
          </a:p>
          <a:p>
            <a:r>
              <a:rPr lang="en-US" dirty="0">
                <a:solidFill>
                  <a:srgbClr val="FF0000"/>
                </a:solidFill>
              </a:rPr>
              <a:t>give up the</a:t>
            </a:r>
          </a:p>
          <a:p>
            <a:r>
              <a:rPr lang="en-US" dirty="0">
                <a:solidFill>
                  <a:srgbClr val="FF0000"/>
                </a:solidFill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3411126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469322" y="1860577"/>
            <a:ext cx="2495826" cy="8437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Heaplets</a:t>
            </a:r>
            <a:r>
              <a:rPr lang="en-US" dirty="0"/>
              <a:t> in Separation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18" name="Group 8"/>
          <p:cNvGrpSpPr/>
          <p:nvPr/>
        </p:nvGrpSpPr>
        <p:grpSpPr>
          <a:xfrm>
            <a:off x="2739124" y="2092218"/>
            <a:ext cx="762000" cy="381000"/>
            <a:chOff x="1066800" y="2057400"/>
            <a:chExt cx="762000" cy="381000"/>
          </a:xfrm>
        </p:grpSpPr>
        <p:sp>
          <p:nvSpPr>
            <p:cNvPr id="19" name="Rectangle 18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21" name="Straight Arrow Connector 20"/>
          <p:cNvCxnSpPr>
            <a:cxnSpLocks/>
            <a:endCxn id="19" idx="2"/>
          </p:cNvCxnSpPr>
          <p:nvPr/>
        </p:nvCxnSpPr>
        <p:spPr bwMode="auto">
          <a:xfrm flipV="1">
            <a:off x="2670888" y="2473218"/>
            <a:ext cx="258736" cy="283964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2408938" y="2633470"/>
            <a:ext cx="357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x</a:t>
            </a:r>
            <a:endParaRPr lang="en-US" dirty="0"/>
          </a:p>
        </p:txBody>
      </p:sp>
      <p:grpSp>
        <p:nvGrpSpPr>
          <p:cNvPr id="30" name="Group 8"/>
          <p:cNvGrpSpPr/>
          <p:nvPr/>
        </p:nvGrpSpPr>
        <p:grpSpPr>
          <a:xfrm>
            <a:off x="3934521" y="2092218"/>
            <a:ext cx="762000" cy="381000"/>
            <a:chOff x="1066800" y="2057400"/>
            <a:chExt cx="762000" cy="38100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066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447800" y="2057400"/>
              <a:ext cx="381000" cy="381000"/>
            </a:xfrm>
            <a:prstGeom prst="rect">
              <a:avLst/>
            </a:prstGeom>
            <a:noFill/>
            <a:ln w="1905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z</a:t>
              </a:r>
            </a:p>
          </p:txBody>
        </p:sp>
      </p:grpSp>
      <p:cxnSp>
        <p:nvCxnSpPr>
          <p:cNvPr id="33" name="Straight Arrow Connector 32"/>
          <p:cNvCxnSpPr/>
          <p:nvPr/>
        </p:nvCxnSpPr>
        <p:spPr bwMode="auto">
          <a:xfrm>
            <a:off x="3401121" y="2317315"/>
            <a:ext cx="533400" cy="0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cxnSpLocks/>
          </p:cNvCxnSpPr>
          <p:nvPr/>
        </p:nvCxnSpPr>
        <p:spPr bwMode="auto">
          <a:xfrm flipV="1">
            <a:off x="3577446" y="2473218"/>
            <a:ext cx="325078" cy="312662"/>
          </a:xfrm>
          <a:prstGeom prst="straightConnector1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3318221" y="2640062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y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0E795-3EF6-7696-8065-1012A8852D9F}"/>
              </a:ext>
            </a:extLst>
          </p:cNvPr>
          <p:cNvSpPr/>
          <p:nvPr/>
        </p:nvSpPr>
        <p:spPr>
          <a:xfrm>
            <a:off x="576508" y="3341468"/>
            <a:ext cx="62302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{ x↦(1,y) ∗ y↦(2,z) ∗ 𝑙↬(∃y.  x↦(1,y))}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AA08D-72E7-29A3-F651-30FCE71EE9A3}"/>
              </a:ext>
            </a:extLst>
          </p:cNvPr>
          <p:cNvSpPr/>
          <p:nvPr/>
        </p:nvSpPr>
        <p:spPr>
          <a:xfrm>
            <a:off x="2555613" y="3888255"/>
            <a:ext cx="1691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release(𝑙)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F36262-6CBA-1726-8999-9DFFEEA0A09E}"/>
              </a:ext>
            </a:extLst>
          </p:cNvPr>
          <p:cNvCxnSpPr/>
          <p:nvPr/>
        </p:nvCxnSpPr>
        <p:spPr>
          <a:xfrm>
            <a:off x="4965148" y="1860577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5FAA05-91FD-97AF-67C0-D63DBB2FC3EC}"/>
              </a:ext>
            </a:extLst>
          </p:cNvPr>
          <p:cNvCxnSpPr/>
          <p:nvPr/>
        </p:nvCxnSpPr>
        <p:spPr>
          <a:xfrm>
            <a:off x="4965148" y="2704303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A9AA48-13DD-D2AD-ED9E-3D49F03E203D}"/>
              </a:ext>
            </a:extLst>
          </p:cNvPr>
          <p:cNvCxnSpPr>
            <a:cxnSpLocks/>
          </p:cNvCxnSpPr>
          <p:nvPr/>
        </p:nvCxnSpPr>
        <p:spPr>
          <a:xfrm>
            <a:off x="302830" y="1860577"/>
            <a:ext cx="216649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D6FF4-42A4-4FE6-6C32-E5904E46D939}"/>
              </a:ext>
            </a:extLst>
          </p:cNvPr>
          <p:cNvCxnSpPr>
            <a:cxnSpLocks/>
          </p:cNvCxnSpPr>
          <p:nvPr/>
        </p:nvCxnSpPr>
        <p:spPr>
          <a:xfrm>
            <a:off x="381000" y="2704303"/>
            <a:ext cx="208832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0AA5D0-9D46-5C8F-5E6C-2A8A0179A8EB}"/>
              </a:ext>
            </a:extLst>
          </p:cNvPr>
          <p:cNvGrpSpPr/>
          <p:nvPr/>
        </p:nvGrpSpPr>
        <p:grpSpPr>
          <a:xfrm>
            <a:off x="302830" y="4378234"/>
            <a:ext cx="7698170" cy="2167421"/>
            <a:chOff x="302830" y="4378234"/>
            <a:chExt cx="7698170" cy="216742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9192F4-B87A-9082-944A-0B57B41CE89D}"/>
                </a:ext>
              </a:extLst>
            </p:cNvPr>
            <p:cNvSpPr/>
            <p:nvPr/>
          </p:nvSpPr>
          <p:spPr>
            <a:xfrm>
              <a:off x="3691624" y="5125829"/>
              <a:ext cx="1273524" cy="8437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B0F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8">
              <a:extLst>
                <a:ext uri="{FF2B5EF4-FFF2-40B4-BE49-F238E27FC236}">
                  <a16:creationId xmlns:a16="http://schemas.microsoft.com/office/drawing/2014/main" id="{6EF7DD73-FF5C-A08B-4AD5-56053F32B40D}"/>
                </a:ext>
              </a:extLst>
            </p:cNvPr>
            <p:cNvGrpSpPr/>
            <p:nvPr/>
          </p:nvGrpSpPr>
          <p:grpSpPr>
            <a:xfrm>
              <a:off x="2739124" y="5357470"/>
              <a:ext cx="762000" cy="381000"/>
              <a:chOff x="1066800" y="2057400"/>
              <a:chExt cx="762000" cy="381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32F9DE4-D745-631D-7280-92D3849F31EB}"/>
                  </a:ext>
                </a:extLst>
              </p:cNvPr>
              <p:cNvSpPr/>
              <p:nvPr/>
            </p:nvSpPr>
            <p:spPr bwMode="auto">
              <a:xfrm>
                <a:off x="1066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A554EC2-C769-F087-E606-D15A77D1F9DE}"/>
                  </a:ext>
                </a:extLst>
              </p:cNvPr>
              <p:cNvSpPr/>
              <p:nvPr/>
            </p:nvSpPr>
            <p:spPr bwMode="auto">
              <a:xfrm>
                <a:off x="1447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49750D1-B16A-8B8E-EA26-73BD1E21407E}"/>
                </a:ext>
              </a:extLst>
            </p:cNvPr>
            <p:cNvCxnSpPr>
              <a:endCxn id="25" idx="2"/>
            </p:cNvCxnSpPr>
            <p:nvPr/>
          </p:nvCxnSpPr>
          <p:spPr bwMode="auto">
            <a:xfrm flipV="1">
              <a:off x="2617295" y="5738470"/>
              <a:ext cx="312329" cy="439413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4B1CB40-42B2-B8D0-608E-BD202D380FD9}"/>
                </a:ext>
              </a:extLst>
            </p:cNvPr>
            <p:cNvSpPr/>
            <p:nvPr/>
          </p:nvSpPr>
          <p:spPr>
            <a:xfrm>
              <a:off x="2438400" y="6022435"/>
              <a:ext cx="35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x</a:t>
              </a:r>
              <a:endParaRPr lang="en-US" dirty="0"/>
            </a:p>
          </p:txBody>
        </p:sp>
        <p:grpSp>
          <p:nvGrpSpPr>
            <p:cNvPr id="50" name="Group 8">
              <a:extLst>
                <a:ext uri="{FF2B5EF4-FFF2-40B4-BE49-F238E27FC236}">
                  <a16:creationId xmlns:a16="http://schemas.microsoft.com/office/drawing/2014/main" id="{702C2DBA-E509-7084-5B7D-9938AD45F4E9}"/>
                </a:ext>
              </a:extLst>
            </p:cNvPr>
            <p:cNvGrpSpPr/>
            <p:nvPr/>
          </p:nvGrpSpPr>
          <p:grpSpPr>
            <a:xfrm>
              <a:off x="3934521" y="5357470"/>
              <a:ext cx="762000" cy="381000"/>
              <a:chOff x="1066800" y="2057400"/>
              <a:chExt cx="762000" cy="3810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B324B7A-6EB9-C838-43A2-02E43EA74986}"/>
                  </a:ext>
                </a:extLst>
              </p:cNvPr>
              <p:cNvSpPr/>
              <p:nvPr/>
            </p:nvSpPr>
            <p:spPr bwMode="auto">
              <a:xfrm>
                <a:off x="1066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0666FC1-A3CE-E349-E6F6-2D74F7A9874D}"/>
                  </a:ext>
                </a:extLst>
              </p:cNvPr>
              <p:cNvSpPr/>
              <p:nvPr/>
            </p:nvSpPr>
            <p:spPr bwMode="auto">
              <a:xfrm>
                <a:off x="1447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z</a:t>
                </a:r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20C8FD6-3858-9CD1-39C7-25E22BCFF924}"/>
                </a:ext>
              </a:extLst>
            </p:cNvPr>
            <p:cNvCxnSpPr/>
            <p:nvPr/>
          </p:nvCxnSpPr>
          <p:spPr bwMode="auto">
            <a:xfrm>
              <a:off x="3401121" y="5582567"/>
              <a:ext cx="5334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0F02462-3147-3D39-C633-3C6A37F1C5A8}"/>
                </a:ext>
              </a:extLst>
            </p:cNvPr>
            <p:cNvCxnSpPr/>
            <p:nvPr/>
          </p:nvCxnSpPr>
          <p:spPr bwMode="auto">
            <a:xfrm flipV="1">
              <a:off x="3621772" y="5738470"/>
              <a:ext cx="280752" cy="47401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B9ABD8-AB69-C160-2292-152279C14512}"/>
                </a:ext>
              </a:extLst>
            </p:cNvPr>
            <p:cNvSpPr/>
            <p:nvPr/>
          </p:nvSpPr>
          <p:spPr>
            <a:xfrm>
              <a:off x="3318221" y="6009373"/>
              <a:ext cx="3658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y</a:t>
              </a:r>
              <a:endParaRPr lang="en-US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0AFEE0-FDBF-0B48-4D06-BB454C74CA9F}"/>
                </a:ext>
              </a:extLst>
            </p:cNvPr>
            <p:cNvCxnSpPr/>
            <p:nvPr/>
          </p:nvCxnSpPr>
          <p:spPr>
            <a:xfrm>
              <a:off x="4965148" y="5125829"/>
              <a:ext cx="3035852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794CA45-F9FE-2DFA-E24E-9A782D33029C}"/>
                </a:ext>
              </a:extLst>
            </p:cNvPr>
            <p:cNvCxnSpPr/>
            <p:nvPr/>
          </p:nvCxnSpPr>
          <p:spPr>
            <a:xfrm>
              <a:off x="4965148" y="5969555"/>
              <a:ext cx="3035852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998F46-07DC-B5BD-DE6E-1375C3B2FD2D}"/>
                </a:ext>
              </a:extLst>
            </p:cNvPr>
            <p:cNvCxnSpPr>
              <a:cxnSpLocks/>
            </p:cNvCxnSpPr>
            <p:nvPr/>
          </p:nvCxnSpPr>
          <p:spPr>
            <a:xfrm>
              <a:off x="302830" y="5125829"/>
              <a:ext cx="3381197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D055495-5843-13F8-2937-13564675C032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" y="5969555"/>
              <a:ext cx="3310624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71521B-FE18-DDAB-4EF5-D80A7CEF00B4}"/>
                </a:ext>
              </a:extLst>
            </p:cNvPr>
            <p:cNvSpPr/>
            <p:nvPr/>
          </p:nvSpPr>
          <p:spPr>
            <a:xfrm>
              <a:off x="2036312" y="4378234"/>
              <a:ext cx="466249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{ y↦(2,z) ∗ 𝑙↬(∃y.  x↦(1,y))}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321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Heaplets</a:t>
            </a:r>
            <a:r>
              <a:rPr lang="en-US" dirty="0"/>
              <a:t> in Separation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0E795-3EF6-7696-8065-1012A8852D9F}"/>
              </a:ext>
            </a:extLst>
          </p:cNvPr>
          <p:cNvSpPr/>
          <p:nvPr/>
        </p:nvSpPr>
        <p:spPr>
          <a:xfrm>
            <a:off x="2389610" y="3118082"/>
            <a:ext cx="3025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{𝑙↬(∃y.  x↦(1,y))}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AA08D-72E7-29A3-F651-30FCE71EE9A3}"/>
              </a:ext>
            </a:extLst>
          </p:cNvPr>
          <p:cNvSpPr/>
          <p:nvPr/>
        </p:nvSpPr>
        <p:spPr>
          <a:xfrm>
            <a:off x="2828061" y="3644658"/>
            <a:ext cx="17439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acquire(𝑙)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F36262-6CBA-1726-8999-9DFFEEA0A09E}"/>
              </a:ext>
            </a:extLst>
          </p:cNvPr>
          <p:cNvCxnSpPr/>
          <p:nvPr/>
        </p:nvCxnSpPr>
        <p:spPr>
          <a:xfrm>
            <a:off x="4965148" y="1860577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5FAA05-91FD-97AF-67C0-D63DBB2FC3EC}"/>
              </a:ext>
            </a:extLst>
          </p:cNvPr>
          <p:cNvCxnSpPr/>
          <p:nvPr/>
        </p:nvCxnSpPr>
        <p:spPr>
          <a:xfrm>
            <a:off x="4965148" y="2704303"/>
            <a:ext cx="3035852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A9AA48-13DD-D2AD-ED9E-3D49F03E203D}"/>
              </a:ext>
            </a:extLst>
          </p:cNvPr>
          <p:cNvCxnSpPr>
            <a:cxnSpLocks/>
          </p:cNvCxnSpPr>
          <p:nvPr/>
        </p:nvCxnSpPr>
        <p:spPr>
          <a:xfrm>
            <a:off x="302830" y="1860577"/>
            <a:ext cx="4662318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D6FF4-42A4-4FE6-6C32-E5904E46D939}"/>
              </a:ext>
            </a:extLst>
          </p:cNvPr>
          <p:cNvCxnSpPr>
            <a:cxnSpLocks/>
          </p:cNvCxnSpPr>
          <p:nvPr/>
        </p:nvCxnSpPr>
        <p:spPr>
          <a:xfrm>
            <a:off x="381000" y="2704303"/>
            <a:ext cx="4584148" cy="0"/>
          </a:xfrm>
          <a:prstGeom prst="line">
            <a:avLst/>
          </a:prstGeom>
          <a:ln w="28575">
            <a:solidFill>
              <a:srgbClr val="00B0F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0AA5D0-9D46-5C8F-5E6C-2A8A0179A8EB}"/>
              </a:ext>
            </a:extLst>
          </p:cNvPr>
          <p:cNvGrpSpPr/>
          <p:nvPr/>
        </p:nvGrpSpPr>
        <p:grpSpPr>
          <a:xfrm>
            <a:off x="302830" y="4378234"/>
            <a:ext cx="7698170" cy="2167421"/>
            <a:chOff x="302830" y="4378234"/>
            <a:chExt cx="7698170" cy="216742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9192F4-B87A-9082-944A-0B57B41CE89D}"/>
                </a:ext>
              </a:extLst>
            </p:cNvPr>
            <p:cNvSpPr/>
            <p:nvPr/>
          </p:nvSpPr>
          <p:spPr>
            <a:xfrm>
              <a:off x="2547661" y="5114450"/>
              <a:ext cx="1273524" cy="8437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B0F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8">
              <a:extLst>
                <a:ext uri="{FF2B5EF4-FFF2-40B4-BE49-F238E27FC236}">
                  <a16:creationId xmlns:a16="http://schemas.microsoft.com/office/drawing/2014/main" id="{6EF7DD73-FF5C-A08B-4AD5-56053F32B40D}"/>
                </a:ext>
              </a:extLst>
            </p:cNvPr>
            <p:cNvGrpSpPr/>
            <p:nvPr/>
          </p:nvGrpSpPr>
          <p:grpSpPr>
            <a:xfrm>
              <a:off x="2739124" y="5357470"/>
              <a:ext cx="762000" cy="381000"/>
              <a:chOff x="1066800" y="2057400"/>
              <a:chExt cx="762000" cy="381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32F9DE4-D745-631D-7280-92D3849F31EB}"/>
                  </a:ext>
                </a:extLst>
              </p:cNvPr>
              <p:cNvSpPr/>
              <p:nvPr/>
            </p:nvSpPr>
            <p:spPr bwMode="auto">
              <a:xfrm>
                <a:off x="1066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A554EC2-C769-F087-E606-D15A77D1F9DE}"/>
                  </a:ext>
                </a:extLst>
              </p:cNvPr>
              <p:cNvSpPr/>
              <p:nvPr/>
            </p:nvSpPr>
            <p:spPr bwMode="auto">
              <a:xfrm>
                <a:off x="1447800" y="2057400"/>
                <a:ext cx="381000" cy="381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1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49750D1-B16A-8B8E-EA26-73BD1E21407E}"/>
                </a:ext>
              </a:extLst>
            </p:cNvPr>
            <p:cNvCxnSpPr>
              <a:cxnSpLocks/>
              <a:endCxn id="25" idx="2"/>
            </p:cNvCxnSpPr>
            <p:nvPr/>
          </p:nvCxnSpPr>
          <p:spPr bwMode="auto">
            <a:xfrm flipV="1">
              <a:off x="2617295" y="5738470"/>
              <a:ext cx="312329" cy="439413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4B1CB40-42B2-B8D0-608E-BD202D380FD9}"/>
                </a:ext>
              </a:extLst>
            </p:cNvPr>
            <p:cNvSpPr/>
            <p:nvPr/>
          </p:nvSpPr>
          <p:spPr>
            <a:xfrm>
              <a:off x="2438400" y="6022435"/>
              <a:ext cx="35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x</a:t>
              </a:r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B9ABD8-AB69-C160-2292-152279C14512}"/>
                </a:ext>
              </a:extLst>
            </p:cNvPr>
            <p:cNvSpPr/>
            <p:nvPr/>
          </p:nvSpPr>
          <p:spPr>
            <a:xfrm>
              <a:off x="3112446" y="5269243"/>
              <a:ext cx="3658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y</a:t>
              </a:r>
              <a:endParaRPr lang="en-US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0AFEE0-FDBF-0B48-4D06-BB454C74CA9F}"/>
                </a:ext>
              </a:extLst>
            </p:cNvPr>
            <p:cNvCxnSpPr>
              <a:cxnSpLocks/>
            </p:cNvCxnSpPr>
            <p:nvPr/>
          </p:nvCxnSpPr>
          <p:spPr>
            <a:xfrm>
              <a:off x="3821185" y="5125829"/>
              <a:ext cx="4179815" cy="0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794CA45-F9FE-2DFA-E24E-9A782D33029C}"/>
                </a:ext>
              </a:extLst>
            </p:cNvPr>
            <p:cNvCxnSpPr>
              <a:cxnSpLocks/>
            </p:cNvCxnSpPr>
            <p:nvPr/>
          </p:nvCxnSpPr>
          <p:spPr>
            <a:xfrm>
              <a:off x="3902524" y="5958176"/>
              <a:ext cx="4098476" cy="11379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998F46-07DC-B5BD-DE6E-1375C3B2F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830" y="5114450"/>
              <a:ext cx="2244831" cy="11379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D055495-5843-13F8-2937-13564675C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00" y="5958176"/>
              <a:ext cx="2166661" cy="11379"/>
            </a:xfrm>
            <a:prstGeom prst="line">
              <a:avLst/>
            </a:prstGeom>
            <a:ln w="28575">
              <a:solidFill>
                <a:srgbClr val="00B0F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71521B-FE18-DDAB-4EF5-D80A7CEF00B4}"/>
                </a:ext>
              </a:extLst>
            </p:cNvPr>
            <p:cNvSpPr/>
            <p:nvPr/>
          </p:nvSpPr>
          <p:spPr>
            <a:xfrm>
              <a:off x="2036312" y="4378234"/>
              <a:ext cx="467211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{ x↦(1,y) ∗ 𝑙↬(∃y.  x↦(1,y))}</a:t>
              </a:r>
            </a:p>
          </p:txBody>
        </p:sp>
      </p:grpSp>
      <p:sp>
        <p:nvSpPr>
          <p:cNvPr id="5" name="Right Brace 4">
            <a:extLst>
              <a:ext uri="{FF2B5EF4-FFF2-40B4-BE49-F238E27FC236}">
                <a16:creationId xmlns:a16="http://schemas.microsoft.com/office/drawing/2014/main" id="{B614E264-A8CA-5423-A2C0-6E83578EDBF7}"/>
              </a:ext>
            </a:extLst>
          </p:cNvPr>
          <p:cNvSpPr/>
          <p:nvPr/>
        </p:nvSpPr>
        <p:spPr>
          <a:xfrm rot="16200000">
            <a:off x="3918423" y="2041508"/>
            <a:ext cx="381000" cy="1992954"/>
          </a:xfrm>
          <a:prstGeom prst="rightBrace">
            <a:avLst>
              <a:gd name="adj1" fmla="val 3181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BF533B-E6D3-2125-0A19-E6E004847CBD}"/>
              </a:ext>
            </a:extLst>
          </p:cNvPr>
          <p:cNvCxnSpPr>
            <a:cxnSpLocks/>
            <a:stCxn id="5" idx="1"/>
          </p:cNvCxnSpPr>
          <p:nvPr/>
        </p:nvCxnSpPr>
        <p:spPr>
          <a:xfrm flipV="1">
            <a:off x="4108923" y="1295400"/>
            <a:ext cx="1682277" cy="155208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D335B6-A7DE-22DB-CEA4-B8892FD18FD0}"/>
              </a:ext>
            </a:extLst>
          </p:cNvPr>
          <p:cNvSpPr txBox="1"/>
          <p:nvPr/>
        </p:nvSpPr>
        <p:spPr>
          <a:xfrm>
            <a:off x="5791200" y="966545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the resource invariant of the lock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7CC1E01-AFFD-AC37-D5E1-E165F40F7A09}"/>
              </a:ext>
            </a:extLst>
          </p:cNvPr>
          <p:cNvSpPr/>
          <p:nvPr/>
        </p:nvSpPr>
        <p:spPr>
          <a:xfrm rot="16200000">
            <a:off x="2743200" y="3657600"/>
            <a:ext cx="381000" cy="1295400"/>
          </a:xfrm>
          <a:prstGeom prst="rightBrace">
            <a:avLst>
              <a:gd name="adj1" fmla="val 3181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BB7F51-FF70-FC37-45FD-7E855CB5759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403823" y="4114800"/>
            <a:ext cx="1529877" cy="504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AE5256-36D6-3834-61BA-2321C4198306}"/>
              </a:ext>
            </a:extLst>
          </p:cNvPr>
          <p:cNvSpPr txBox="1"/>
          <p:nvPr/>
        </p:nvSpPr>
        <p:spPr>
          <a:xfrm>
            <a:off x="234477" y="3554886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acquire the lock,</a:t>
            </a:r>
          </a:p>
          <a:p>
            <a:r>
              <a:rPr lang="en-US" dirty="0">
                <a:solidFill>
                  <a:srgbClr val="FF0000"/>
                </a:solidFill>
              </a:rPr>
              <a:t>gain the resource</a:t>
            </a:r>
          </a:p>
        </p:txBody>
      </p:sp>
    </p:spTree>
    <p:extLst>
      <p:ext uri="{BB962C8B-B14F-4D97-AF65-F5344CB8AC3E}">
        <p14:creationId xmlns:p14="http://schemas.microsoft.com/office/powerpoint/2010/main" val="486384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C5F4-F3C6-57D1-CF9C-875B19CE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Permission shares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EAAB-EF42-088F-3590-9632498435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600" dirty="0"/>
                  <a:t>O’Hearn 2004</a:t>
                </a:r>
              </a:p>
              <a:p>
                <a:r>
                  <a:rPr lang="en-US" sz="2600" dirty="0" err="1"/>
                  <a:t>Gotsman</a:t>
                </a:r>
                <a:r>
                  <a:rPr lang="en-US" sz="2600" dirty="0"/>
                  <a:t> </a:t>
                </a:r>
                <a:r>
                  <a:rPr lang="en-US" sz="2600" i="1" dirty="0"/>
                  <a:t>et al.  </a:t>
                </a:r>
                <a:r>
                  <a:rPr lang="en-US" sz="2600" dirty="0"/>
                  <a:t>2007</a:t>
                </a:r>
              </a:p>
              <a:p>
                <a:r>
                  <a:rPr lang="en-US" sz="2600" dirty="0" err="1"/>
                  <a:t>Hobor</a:t>
                </a:r>
                <a:r>
                  <a:rPr lang="en-US" sz="2600" dirty="0"/>
                  <a:t>, Zappa Nardelli, Appel 2008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emp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makelock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acquire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release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EAAB-EF42-088F-3590-9632498435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6873B-1123-CD95-0B48-B9B6E796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26F3F-96B4-2BF7-07D8-F8D1F065416E}"/>
              </a:ext>
            </a:extLst>
          </p:cNvPr>
          <p:cNvSpPr txBox="1"/>
          <p:nvPr/>
        </p:nvSpPr>
        <p:spPr>
          <a:xfrm>
            <a:off x="381000" y="45720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split the permission share</a:t>
            </a:r>
          </a:p>
          <a:p>
            <a:r>
              <a:rPr lang="en-US" dirty="0">
                <a:solidFill>
                  <a:srgbClr val="FF0000"/>
                </a:solidFill>
              </a:rPr>
              <a:t>into two parts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D299E0-56A0-47BC-CE4C-9FF45D8D91BE}"/>
              </a:ext>
            </a:extLst>
          </p:cNvPr>
          <p:cNvCxnSpPr>
            <a:cxnSpLocks/>
          </p:cNvCxnSpPr>
          <p:nvPr/>
        </p:nvCxnSpPr>
        <p:spPr>
          <a:xfrm>
            <a:off x="2971800" y="4800600"/>
            <a:ext cx="1676400" cy="228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0C3008-812C-5C4F-A19F-4B2802C4369E}"/>
              </a:ext>
            </a:extLst>
          </p:cNvPr>
          <p:cNvSpPr txBox="1"/>
          <p:nvPr/>
        </p:nvSpPr>
        <p:spPr>
          <a:xfrm>
            <a:off x="1828800" y="6031597"/>
            <a:ext cx="304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split the “maps-to” resource into two resources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8FE89E-AB7D-7993-AF21-705DBD683CB8}"/>
              </a:ext>
            </a:extLst>
          </p:cNvPr>
          <p:cNvCxnSpPr>
            <a:cxnSpLocks/>
          </p:cNvCxnSpPr>
          <p:nvPr/>
        </p:nvCxnSpPr>
        <p:spPr>
          <a:xfrm flipV="1">
            <a:off x="4800600" y="5943600"/>
            <a:ext cx="9144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868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 for </a:t>
            </a:r>
            <a:r>
              <a:rPr lang="en-US" dirty="0" err="1"/>
              <a:t>parsplit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E2D567-799C-513E-AA64-CCF0E1AF0209}"/>
              </a:ext>
            </a:extLst>
          </p:cNvPr>
          <p:cNvSpPr/>
          <p:nvPr/>
        </p:nvSpPr>
        <p:spPr>
          <a:xfrm>
            <a:off x="5334000" y="11391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9A5F7A-A5D2-1B0D-EBD5-7CA10C5D2F27}"/>
              </a:ext>
            </a:extLst>
          </p:cNvPr>
          <p:cNvSpPr/>
          <p:nvPr/>
        </p:nvSpPr>
        <p:spPr>
          <a:xfrm>
            <a:off x="457200" y="1143000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A9F1D4-D027-E26A-030E-46C3FED694E7}"/>
              </a:ext>
            </a:extLst>
          </p:cNvPr>
          <p:cNvCxnSpPr>
            <a:cxnSpLocks/>
          </p:cNvCxnSpPr>
          <p:nvPr/>
        </p:nvCxnSpPr>
        <p:spPr>
          <a:xfrm>
            <a:off x="2582944" y="1800520"/>
            <a:ext cx="3132056" cy="256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23683C-8113-58FA-477D-768D1E92258A}"/>
              </a:ext>
            </a:extLst>
          </p:cNvPr>
          <p:cNvCxnSpPr>
            <a:cxnSpLocks/>
          </p:cNvCxnSpPr>
          <p:nvPr/>
        </p:nvCxnSpPr>
        <p:spPr>
          <a:xfrm flipH="1" flipV="1">
            <a:off x="2733773" y="2403835"/>
            <a:ext cx="2903456" cy="94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5D8400A-CE4F-76E7-4E21-DCF49DFAD52F}"/>
              </a:ext>
            </a:extLst>
          </p:cNvPr>
          <p:cNvSpPr txBox="1"/>
          <p:nvPr/>
        </p:nvSpPr>
        <p:spPr>
          <a:xfrm>
            <a:off x="1143000" y="4237043"/>
            <a:ext cx="6721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Release the go-lock,   </a:t>
            </a:r>
            <a:r>
              <a:rPr lang="en-US" dirty="0" err="1"/>
              <a:t>thread_worker</a:t>
            </a:r>
            <a:r>
              <a:rPr lang="en-US" dirty="0"/>
              <a:t> acquires  it and starts working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1916C-AA78-C5F9-919A-E5BDC07E1F1F}"/>
              </a:ext>
            </a:extLst>
          </p:cNvPr>
          <p:cNvSpPr txBox="1"/>
          <p:nvPr/>
        </p:nvSpPr>
        <p:spPr>
          <a:xfrm>
            <a:off x="1066800" y="5259388"/>
            <a:ext cx="7268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Release the done-lock,  task manager resumes collecting “done” statuses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C669B0-4654-8EE8-CF24-9DB1DE5DF888}"/>
              </a:ext>
            </a:extLst>
          </p:cNvPr>
          <p:cNvCxnSpPr/>
          <p:nvPr/>
        </p:nvCxnSpPr>
        <p:spPr>
          <a:xfrm>
            <a:off x="1600200" y="4606375"/>
            <a:ext cx="5715000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67EF87-64AC-5F4A-8A86-E7E5723A59D5}"/>
              </a:ext>
            </a:extLst>
          </p:cNvPr>
          <p:cNvCxnSpPr>
            <a:cxnSpLocks/>
          </p:cNvCxnSpPr>
          <p:nvPr/>
        </p:nvCxnSpPr>
        <p:spPr>
          <a:xfrm flipH="1">
            <a:off x="1600200" y="5715000"/>
            <a:ext cx="5791200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246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 for </a:t>
            </a:r>
            <a:r>
              <a:rPr lang="en-US" dirty="0" err="1"/>
              <a:t>parsplit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E2D567-799C-513E-AA64-CCF0E1AF0209}"/>
              </a:ext>
            </a:extLst>
          </p:cNvPr>
          <p:cNvSpPr/>
          <p:nvPr/>
        </p:nvSpPr>
        <p:spPr>
          <a:xfrm>
            <a:off x="5334000" y="11391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9A5F7A-A5D2-1B0D-EBD5-7CA10C5D2F27}"/>
              </a:ext>
            </a:extLst>
          </p:cNvPr>
          <p:cNvSpPr/>
          <p:nvPr/>
        </p:nvSpPr>
        <p:spPr>
          <a:xfrm>
            <a:off x="457200" y="1143000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76BF95-842B-B74B-B56C-297B6AB123F6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918095-71E0-13EE-B0A6-80C2C1534864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157E509-FE2B-DF97-8F17-8682CDA9FEF8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161821-5018-8AA7-272B-C25684ADE13B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688D46-E105-3208-DE70-79E00AF1DB27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B8B4892-3EC5-6AA4-9FF3-C53C2D60CAF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DDFF2CF-1F16-4378-87A9-304CD1422272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06C757-6D79-778D-735B-CF7F1A849AF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6BA701-B4F9-A042-9B79-03499266CEF6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D968767-01B8-A1FC-1DB9-2A8F3A7F15E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5218B5-93F3-5906-E2CE-BE3CFFC5C473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775B2B8-24A3-3404-A258-7247D029075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2C9BD1F-04CF-AE79-D1C1-99878206D6E4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C0BF6C-1AF7-7BC3-EF9E-2B59E382A4AC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result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3FF735-0529-48DF-BBC1-9A296BFB3E2B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86C225-F43B-58DA-9EA1-504857D4C02B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6CF82E45-C2DB-FC85-052A-9BEE3DDFA74D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9EA071-593F-85BD-B700-17BB9D3492FA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7D74DA-10FF-0F7A-86AA-29E4EC28A578}"/>
              </a:ext>
            </a:extLst>
          </p:cNvPr>
          <p:cNvGrpSpPr/>
          <p:nvPr/>
        </p:nvGrpSpPr>
        <p:grpSpPr>
          <a:xfrm>
            <a:off x="2092204" y="3869318"/>
            <a:ext cx="838200" cy="609600"/>
            <a:chOff x="5715000" y="2940378"/>
            <a:chExt cx="838200" cy="6096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52BB373-0861-9CB6-2049-1252696D3532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DA9F85C-578D-7194-0111-060D77598C7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C74B0DB-1296-EE75-63E9-EA58EE76CB45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A8B4D91-1545-8928-4896-3DB09D25DFB0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68A26A7-7D2C-AF09-13E8-497ADB1E339E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1950075-90DA-361B-AF4D-B93F86831AB0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4F2D8E-C785-7789-9622-21A83E25F790}"/>
              </a:ext>
            </a:extLst>
          </p:cNvPr>
          <p:cNvGrpSpPr/>
          <p:nvPr/>
        </p:nvGrpSpPr>
        <p:grpSpPr>
          <a:xfrm>
            <a:off x="2689896" y="3250598"/>
            <a:ext cx="1628842" cy="1118252"/>
            <a:chOff x="4086158" y="2295409"/>
            <a:chExt cx="1628842" cy="111825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4EA4E9A-1606-2CC9-E4E1-6A82D99F6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0" y="2295409"/>
              <a:ext cx="457732" cy="769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8D14057-B283-1D05-FA47-8F8D60F34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158" y="320743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D7006F-45E3-3F10-5A5E-61F92978FF2C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D7006F-45E3-3F10-5A5E-61F92978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2"/>
                <a:stretch>
                  <a:fillRect l="-389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F09A913-5322-4C87-C26F-8962023821AC}"/>
              </a:ext>
            </a:extLst>
          </p:cNvPr>
          <p:cNvSpPr txBox="1"/>
          <p:nvPr/>
        </p:nvSpPr>
        <p:spPr>
          <a:xfrm>
            <a:off x="381000" y="5867400"/>
            <a:ext cx="8420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We will use this definition in constructing resource invariants for </a:t>
            </a:r>
            <a:r>
              <a:rPr lang="en-US" b="1" dirty="0">
                <a:solidFill>
                  <a:srgbClr val="00B050"/>
                </a:solidFill>
              </a:rPr>
              <a:t>go</a:t>
            </a:r>
            <a:r>
              <a:rPr lang="en-US" dirty="0">
                <a:solidFill>
                  <a:srgbClr val="00B050"/>
                </a:solidFill>
              </a:rPr>
              <a:t> and </a:t>
            </a:r>
            <a:r>
              <a:rPr lang="en-US" b="1" dirty="0">
                <a:solidFill>
                  <a:srgbClr val="00B050"/>
                </a:solidFill>
              </a:rPr>
              <a:t>done</a:t>
            </a:r>
            <a:r>
              <a:rPr lang="en-US" dirty="0">
                <a:solidFill>
                  <a:srgbClr val="00B050"/>
                </a:solidFill>
              </a:rPr>
              <a:t> locks. </a:t>
            </a:r>
          </a:p>
        </p:txBody>
      </p:sp>
    </p:spTree>
    <p:extLst>
      <p:ext uri="{BB962C8B-B14F-4D97-AF65-F5344CB8AC3E}">
        <p14:creationId xmlns:p14="http://schemas.microsoft.com/office/powerpoint/2010/main" val="1334445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0D7DF-03D7-2536-0F33-C365F541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C634-A492-C8E5-A959-F8336D60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 for </a:t>
            </a:r>
            <a:r>
              <a:rPr lang="en-US" dirty="0" err="1"/>
              <a:t>parsplit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615B9-7E95-7638-5F26-62DEC6C1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B3F057-4F63-8DA2-37D8-BD525AE6CD51}"/>
              </a:ext>
            </a:extLst>
          </p:cNvPr>
          <p:cNvSpPr/>
          <p:nvPr/>
        </p:nvSpPr>
        <p:spPr>
          <a:xfrm>
            <a:off x="5334000" y="11391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DC616E-7938-4C7D-6B09-62212079622A}"/>
              </a:ext>
            </a:extLst>
          </p:cNvPr>
          <p:cNvSpPr/>
          <p:nvPr/>
        </p:nvSpPr>
        <p:spPr>
          <a:xfrm>
            <a:off x="457200" y="1143000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942280-D0DF-C85B-C202-3701E7FD024D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AA0B57-0C23-EB44-A1CF-7929C421D553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CADCB3-4C2F-DA57-501E-6A766EDA4723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9A9451-ECBA-ACAC-233A-1E6293BA4ED1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2D01603-E1E2-2759-F26B-5D6646F5026C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8E724C-138B-CCFF-75E5-A633F9C5D50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1434580-384B-200D-62C5-5310874D383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300DF89-2398-FEE9-9C6B-26A32D731BC6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F3D132-0019-0A4D-8E05-1E0064BAFE02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5EEE0A2-EE50-3812-57C7-F59D8C5BB81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00EC2D5-A301-8341-F7B6-E5C0881A43B0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2F5A5DF-56DA-BF79-0375-AA741E4BA1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A5E5852-0BA2-EC28-DE14-B9F6F5BB2F9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30C6856-58FD-286A-55F2-4B12AECBAA85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result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2E3442-C9F6-1483-17B3-0084E14C5F4F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3B65E9E-281F-ED0B-A360-421301C0D336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E0C5E067-68D5-0BBE-AFED-3FED867976F0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0416563-BA34-01EF-D2D4-99263139525C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87B3D51-C018-ED97-DCB9-A499B1D8495C}"/>
              </a:ext>
            </a:extLst>
          </p:cNvPr>
          <p:cNvGrpSpPr/>
          <p:nvPr/>
        </p:nvGrpSpPr>
        <p:grpSpPr>
          <a:xfrm>
            <a:off x="2092204" y="3869318"/>
            <a:ext cx="838200" cy="609600"/>
            <a:chOff x="5715000" y="2940378"/>
            <a:chExt cx="838200" cy="6096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F7DC258-0544-DD09-A63F-0CC9C98AA94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62C5BBF-056E-D28F-4954-76A1B9124E8A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30B2EC-D37A-569C-2956-B81DB811A78F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EA3741E-D532-1A06-6C8D-74C997D397A6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06C6F9D-6F2E-7880-5C60-B21C92DB143E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61698B-044F-1DF8-55F2-A46A45A22BF1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4C237BE-7952-18FE-E213-6D54B21A6654}"/>
              </a:ext>
            </a:extLst>
          </p:cNvPr>
          <p:cNvGrpSpPr/>
          <p:nvPr/>
        </p:nvGrpSpPr>
        <p:grpSpPr>
          <a:xfrm>
            <a:off x="2689896" y="3250598"/>
            <a:ext cx="1628842" cy="1118252"/>
            <a:chOff x="4086158" y="2295409"/>
            <a:chExt cx="1628842" cy="111825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02952C6-0119-C7A2-0390-6B8286D98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0" y="2295409"/>
              <a:ext cx="457732" cy="769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6A59B1A-5E7B-C20D-8BFC-E7957C79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158" y="320743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C914A5-3D6F-9254-474B-BDCBBD94ACD7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C914A5-3D6F-9254-474B-BDCBBD94A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2"/>
                <a:stretch>
                  <a:fillRect l="-485" t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0F1FDF8-76DA-42E0-A5BA-423DABD392AE}"/>
              </a:ext>
            </a:extLst>
          </p:cNvPr>
          <p:cNvGrpSpPr/>
          <p:nvPr/>
        </p:nvGrpSpPr>
        <p:grpSpPr>
          <a:xfrm>
            <a:off x="2354898" y="4537157"/>
            <a:ext cx="266595" cy="970538"/>
            <a:chOff x="2354898" y="4537157"/>
            <a:chExt cx="266595" cy="97053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A382CCC-ED4B-4116-2731-E24ED49D6684}"/>
                </a:ext>
              </a:extLst>
            </p:cNvPr>
            <p:cNvSpPr/>
            <p:nvPr/>
          </p:nvSpPr>
          <p:spPr>
            <a:xfrm>
              <a:off x="2354898" y="5212464"/>
              <a:ext cx="266595" cy="2952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05B60FE-93E8-C278-4D34-679E48DEB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4240" y="4537157"/>
              <a:ext cx="33844" cy="6667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407BB3-9DD4-6FB1-9134-D31998F9228B}"/>
                  </a:ext>
                </a:extLst>
              </p:cNvPr>
              <p:cNvSpPr txBox="1"/>
              <p:nvPr/>
            </p:nvSpPr>
            <p:spPr>
              <a:xfrm>
                <a:off x="381000" y="5867400"/>
                <a:ext cx="6598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Argument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is the pointer to the task block        (</a:t>
                </a:r>
                <a:r>
                  <a:rPr lang="en-US" dirty="0" err="1">
                    <a:solidFill>
                      <a:srgbClr val="00B050"/>
                    </a:solidFill>
                  </a:rPr>
                  <a:t>go,done,f,closure</a:t>
                </a:r>
                <a:r>
                  <a:rPr lang="en-US" dirty="0">
                    <a:solidFill>
                      <a:srgbClr val="00B050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407BB3-9DD4-6FB1-9134-D31998F92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867400"/>
                <a:ext cx="6598409" cy="369332"/>
              </a:xfrm>
              <a:prstGeom prst="rect">
                <a:avLst/>
              </a:prstGeom>
              <a:blipFill>
                <a:blip r:embed="rId3"/>
                <a:stretch>
                  <a:fillRect l="-962" t="-10000" r="-57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481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3891-28B5-A854-55F4-6CEBECD5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C220-236F-ECF4-2197-D59E97A4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 for </a:t>
            </a:r>
            <a:r>
              <a:rPr lang="en-US" dirty="0" err="1"/>
              <a:t>parsplit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665C2-CE0A-388C-A5B0-34F15126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9B22E6-BD58-5256-5276-8C207D90CA57}"/>
              </a:ext>
            </a:extLst>
          </p:cNvPr>
          <p:cNvSpPr/>
          <p:nvPr/>
        </p:nvSpPr>
        <p:spPr>
          <a:xfrm>
            <a:off x="5334000" y="11391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CB061F-EFE2-EA0B-5D07-E2CD251C3A5A}"/>
              </a:ext>
            </a:extLst>
          </p:cNvPr>
          <p:cNvSpPr/>
          <p:nvPr/>
        </p:nvSpPr>
        <p:spPr>
          <a:xfrm>
            <a:off x="457200" y="1143000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B199AD-EF4E-261C-F682-0E52726EB88B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185BB5-4C55-7B0F-1A86-5EDAEBD8210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33419C-CD5E-FFE3-80A8-5F3CF20F22D9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231E34-3648-85E2-CA3D-DE4D709A2EC9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1C603B-0D22-57B9-B916-FA56550CFD61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76DB20-747D-9664-446F-539A76040FB8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856174-CA82-D1AD-8185-95C24171A25C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4C8180-FF25-48D5-F608-BE39695E8D81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1B09DC-CDF6-3640-195D-274EEADF65DF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958466-06ED-577E-47DD-D946A74B7536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FDE11C9-3F96-1668-F459-7422D9E63C56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14C5C25-44EC-269D-A81C-5A8ED78B502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F866248-DDF3-D427-9D19-4BBA97A7A77D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C581EE5-AD45-6215-4405-65CB5FE045FA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result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68A70DA-30A5-896D-F940-529FD14A110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540018D-8D16-6B65-5472-D186FAA3C67C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E2E35139-6E61-2C54-C63D-3F8E8ED2BCE4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5D1A60A-B4A0-5E81-A737-A0E816AA961D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B1FC02-FA4D-C868-BC4A-187AEAF59366}"/>
              </a:ext>
            </a:extLst>
          </p:cNvPr>
          <p:cNvGrpSpPr/>
          <p:nvPr/>
        </p:nvGrpSpPr>
        <p:grpSpPr>
          <a:xfrm>
            <a:off x="2092204" y="3869318"/>
            <a:ext cx="838200" cy="609600"/>
            <a:chOff x="5715000" y="2940378"/>
            <a:chExt cx="838200" cy="6096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8B6A0E-9707-9AAB-26D0-EF14B8B2EEC5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1FAAAA5-329A-9C3D-ECF8-79AC49D92C8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B804F2B-9694-CA33-D196-69573DF1CAD0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382E207-7543-B37B-59F0-EE34DA4E820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E48D582-136A-124F-D31F-AFEDCEFEE4CC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D96236F-61B4-E733-71E8-5B4E7F9042D6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450B97C-50E5-047E-D46E-77ADD684B62D}"/>
              </a:ext>
            </a:extLst>
          </p:cNvPr>
          <p:cNvGrpSpPr/>
          <p:nvPr/>
        </p:nvGrpSpPr>
        <p:grpSpPr>
          <a:xfrm>
            <a:off x="2689896" y="3250598"/>
            <a:ext cx="1628842" cy="1118252"/>
            <a:chOff x="4086158" y="2295409"/>
            <a:chExt cx="1628842" cy="111825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5F86A27-72DD-A65A-AD47-BE3E4D165A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0" y="2295409"/>
              <a:ext cx="457732" cy="769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DD1DFAD-C8CF-774F-B166-8A6835AEC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158" y="320743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6EF45B-AF7E-1FC5-E43B-9FA11107C462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6EF45B-AF7E-1FC5-E43B-9FA11107C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2"/>
                <a:stretch>
                  <a:fillRect l="-485" t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7E89169D-4CB6-BADB-8669-D20B15CB454C}"/>
              </a:ext>
            </a:extLst>
          </p:cNvPr>
          <p:cNvGrpSpPr/>
          <p:nvPr/>
        </p:nvGrpSpPr>
        <p:grpSpPr>
          <a:xfrm>
            <a:off x="3123317" y="4324833"/>
            <a:ext cx="2217162" cy="1733134"/>
            <a:chOff x="3123317" y="4324833"/>
            <a:chExt cx="2217162" cy="173313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9BB33B4-BAB5-0CC0-67B5-04FB0ABE12B1}"/>
                </a:ext>
              </a:extLst>
            </p:cNvPr>
            <p:cNvSpPr/>
            <p:nvPr/>
          </p:nvSpPr>
          <p:spPr>
            <a:xfrm>
              <a:off x="3123317" y="5221178"/>
              <a:ext cx="381000" cy="2952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6A4B04B5-4394-61A5-0316-4DB4634D94D5}"/>
                </a:ext>
              </a:extLst>
            </p:cNvPr>
            <p:cNvSpPr/>
            <p:nvPr/>
          </p:nvSpPr>
          <p:spPr>
            <a:xfrm>
              <a:off x="3349504" y="4324833"/>
              <a:ext cx="1990975" cy="1733134"/>
            </a:xfrm>
            <a:prstGeom prst="arc">
              <a:avLst>
                <a:gd name="adj1" fmla="val 10713847"/>
                <a:gd name="adj2" fmla="val 15874758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2D8555-53E3-7054-F163-E493EA957884}"/>
              </a:ext>
            </a:extLst>
          </p:cNvPr>
          <p:cNvGrpSpPr/>
          <p:nvPr/>
        </p:nvGrpSpPr>
        <p:grpSpPr>
          <a:xfrm>
            <a:off x="2354898" y="4537157"/>
            <a:ext cx="266595" cy="970538"/>
            <a:chOff x="2354898" y="4537157"/>
            <a:chExt cx="266595" cy="97053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EEAEA38-C016-715B-892D-D0E88D533EDD}"/>
                </a:ext>
              </a:extLst>
            </p:cNvPr>
            <p:cNvSpPr/>
            <p:nvPr/>
          </p:nvSpPr>
          <p:spPr>
            <a:xfrm>
              <a:off x="2354898" y="5212464"/>
              <a:ext cx="266595" cy="2952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2BE6A47-6F89-E61B-8189-66105F00A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4240" y="4537157"/>
              <a:ext cx="33844" cy="6667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3796BB5-A0D0-29B2-3726-C5249AF94D30}"/>
              </a:ext>
            </a:extLst>
          </p:cNvPr>
          <p:cNvSpPr txBox="1"/>
          <p:nvPr/>
        </p:nvSpPr>
        <p:spPr>
          <a:xfrm>
            <a:off x="381000" y="5867400"/>
            <a:ext cx="6930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(existentially quantified) </a:t>
            </a:r>
            <a:r>
              <a:rPr lang="en-US" i="1" dirty="0" err="1">
                <a:solidFill>
                  <a:srgbClr val="00B050"/>
                </a:solidFill>
              </a:rPr>
              <a:t>clo</a:t>
            </a:r>
            <a:r>
              <a:rPr lang="en-US" dirty="0">
                <a:solidFill>
                  <a:srgbClr val="00B050"/>
                </a:solidFill>
              </a:rPr>
              <a:t> is the pointer to the </a:t>
            </a:r>
            <a:r>
              <a:rPr lang="en-US" dirty="0" err="1">
                <a:solidFill>
                  <a:srgbClr val="00B050"/>
                </a:solidFill>
              </a:rPr>
              <a:t>dtask</a:t>
            </a:r>
            <a:r>
              <a:rPr lang="en-US" dirty="0">
                <a:solidFill>
                  <a:srgbClr val="00B050"/>
                </a:solidFill>
              </a:rPr>
              <a:t> descriptor </a:t>
            </a:r>
          </a:p>
        </p:txBody>
      </p:sp>
    </p:spTree>
    <p:extLst>
      <p:ext uri="{BB962C8B-B14F-4D97-AF65-F5344CB8AC3E}">
        <p14:creationId xmlns:p14="http://schemas.microsoft.com/office/powerpoint/2010/main" val="1346387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6072-7768-5A44-988D-4EB239E9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3FA8-A591-BF39-E4B4-7F75057E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 for </a:t>
            </a:r>
            <a:r>
              <a:rPr lang="en-US" dirty="0" err="1"/>
              <a:t>parsplit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85EC20-D209-4A4F-8A41-A54241CD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151E5D-5393-C1F6-D209-80D36CAA2771}"/>
              </a:ext>
            </a:extLst>
          </p:cNvPr>
          <p:cNvSpPr/>
          <p:nvPr/>
        </p:nvSpPr>
        <p:spPr>
          <a:xfrm>
            <a:off x="5334000" y="1139125"/>
            <a:ext cx="2870938" cy="20866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(void *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struct task *t = (struct task *)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arg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E9A249-097C-C3C7-FB96-B4F6271BC6FF}"/>
              </a:ext>
            </a:extLst>
          </p:cNvPr>
          <p:cNvSpPr/>
          <p:nvPr/>
        </p:nvSpPr>
        <p:spPr>
          <a:xfrm>
            <a:off x="457200" y="1143000"/>
            <a:ext cx="3861538" cy="1715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(struct task *tasks, unsigned T) {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tasks[0].f(tasks[0].closure);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1AEEB-6275-04A4-68DA-85E332AD5BEF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F275E22-F098-7BAB-84D3-321E4B5EEDE1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87FEB81-5564-EC5A-247F-15194D8EBC4C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51D885-A8DA-19E1-BFBE-99F9C3822F84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17EE38-C260-01B3-6ED1-0C2F6C279B2A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0CEDF9E-E013-0B1D-F1F2-0EE50EEAC0D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BA1682-C1CD-9D81-68E2-FD7C5563EF35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CB4DC-B993-7097-760E-FDDA25A8C9BB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BF60FB-BA36-E9AF-12A8-B0FC4DADE591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0463A05-9CD9-7828-CB15-9D96606E15B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58B2A23-30A3-A353-C3C6-CE618C3C8205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4D0CD55-BF39-7F00-4601-66849776CA4D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1598D88-E050-0B9E-3D56-815EC1CB3BDD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2C7306F-68CB-C6E9-EFCF-1DFF62E76FD2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result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63A73A-77EF-68C7-1AC0-5F707F27D0F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986E65-5F4C-6A2A-03EF-DA8C4043829E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374BE6A3-882E-14CB-449B-EE14F11D4599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E1E9170-74D5-69DD-22D3-786C6A021ECE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05C560A-CA44-1F3A-9FA9-034048D37E31}"/>
              </a:ext>
            </a:extLst>
          </p:cNvPr>
          <p:cNvGrpSpPr/>
          <p:nvPr/>
        </p:nvGrpSpPr>
        <p:grpSpPr>
          <a:xfrm>
            <a:off x="2092204" y="3869318"/>
            <a:ext cx="838200" cy="609600"/>
            <a:chOff x="5715000" y="2940378"/>
            <a:chExt cx="838200" cy="6096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9221590-CDCA-FA13-A7FF-834AC90C7757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273D1A0-AB51-A009-82B1-2B64424C9AB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spc="-15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EED223A-E16B-A5DE-739E-2E0CA70747B1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538FB1-CED1-B9F0-E8C3-C5102DE54AF8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98FFA50-C815-5610-D97E-93B7BF5FCEC5}"/>
                  </a:ext>
                </a:extLst>
              </p:cNvPr>
              <p:cNvSpPr/>
              <p:nvPr/>
            </p:nvSpPr>
            <p:spPr>
              <a:xfrm>
                <a:off x="1143000" y="4727441"/>
                <a:ext cx="381000" cy="304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713CD9-3144-08F7-E9B8-D4A4C3212995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1F4474-E5E1-4DF6-FD2F-2E073846377C}"/>
              </a:ext>
            </a:extLst>
          </p:cNvPr>
          <p:cNvGrpSpPr/>
          <p:nvPr/>
        </p:nvGrpSpPr>
        <p:grpSpPr>
          <a:xfrm>
            <a:off x="2689896" y="3250598"/>
            <a:ext cx="1628842" cy="1118252"/>
            <a:chOff x="4086158" y="2295409"/>
            <a:chExt cx="1628842" cy="111825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5BCD35A-ED9F-D438-2263-4B1CEEFF18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0" y="2295409"/>
              <a:ext cx="457732" cy="769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E8CA0E1-1737-BA76-5F36-D16A52CA6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158" y="3207435"/>
              <a:ext cx="1628842" cy="206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542590-008C-07EA-73B2-CDD319701F60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542590-008C-07EA-73B2-CDD319701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2"/>
                <a:stretch>
                  <a:fillRect l="-485" t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4F3715E-103D-D75C-C750-5B6E615C6016}"/>
              </a:ext>
            </a:extLst>
          </p:cNvPr>
          <p:cNvGrpSpPr/>
          <p:nvPr/>
        </p:nvGrpSpPr>
        <p:grpSpPr>
          <a:xfrm>
            <a:off x="4155704" y="3554502"/>
            <a:ext cx="3841750" cy="2007381"/>
            <a:chOff x="4155704" y="3554502"/>
            <a:chExt cx="3841750" cy="2007381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A01C798-AFB5-223C-180C-EE1515D0B5E0}"/>
                </a:ext>
              </a:extLst>
            </p:cNvPr>
            <p:cNvSpPr/>
            <p:nvPr/>
          </p:nvSpPr>
          <p:spPr>
            <a:xfrm>
              <a:off x="6750744" y="5158275"/>
              <a:ext cx="1246710" cy="40360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4DE2FDE-29FA-01DA-6EEF-4D065C2C2EA8}"/>
                </a:ext>
              </a:extLst>
            </p:cNvPr>
            <p:cNvCxnSpPr>
              <a:cxnSpLocks/>
              <a:stCxn id="65" idx="0"/>
              <a:endCxn id="70" idx="5"/>
            </p:cNvCxnSpPr>
            <p:nvPr/>
          </p:nvCxnSpPr>
          <p:spPr>
            <a:xfrm flipH="1" flipV="1">
              <a:off x="6902776" y="4624162"/>
              <a:ext cx="471323" cy="53411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19ABBA6-337D-05CC-074A-D7A38BB260B1}"/>
                </a:ext>
              </a:extLst>
            </p:cNvPr>
            <p:cNvSpPr/>
            <p:nvPr/>
          </p:nvSpPr>
          <p:spPr>
            <a:xfrm>
              <a:off x="4155704" y="3554502"/>
              <a:ext cx="3218395" cy="125318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6C43DB-AEAB-2A18-8D25-7EE3ED0E604B}"/>
                  </a:ext>
                </a:extLst>
              </p:cNvPr>
              <p:cNvSpPr txBox="1"/>
              <p:nvPr/>
            </p:nvSpPr>
            <p:spPr>
              <a:xfrm>
                <a:off x="381000" y="5867400"/>
                <a:ext cx="79007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solidFill>
                      <a:srgbClr val="00B050"/>
                    </a:solidFill>
                  </a:rPr>
                  <a:t>P </a:t>
                </a:r>
                <a:r>
                  <a:rPr lang="en-US" dirty="0">
                    <a:solidFill>
                      <a:srgbClr val="00B050"/>
                    </a:solidFill>
                  </a:rPr>
                  <a:t> is the (client-specific) task predicate (describing this slice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vectors)</a:t>
                </a:r>
                <a:endParaRPr lang="en-US" i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6C43DB-AEAB-2A18-8D25-7EE3ED0E6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867400"/>
                <a:ext cx="7900753" cy="369332"/>
              </a:xfrm>
              <a:prstGeom prst="rect">
                <a:avLst/>
              </a:prstGeom>
              <a:blipFill>
                <a:blip r:embed="rId3"/>
                <a:stretch>
                  <a:fillRect l="-803" t="-10000" r="-48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137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7AEC-7A8D-1312-746F-58C527C6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5B43-AB47-F41E-7A63-C42C6B44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Client-specific task predicate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BCD35A-9D37-FDC7-9FC9-C2914561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803DEE-E2E6-F70E-F28E-13E721D2CE0C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C55E7C-FCAE-B89D-BDA6-2DE7487AB279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5B96FB-26BC-FF8A-5492-2D20AA029B89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70D445-901A-3207-DBBE-3A10E79E8BD8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B67378-8947-93D1-4B1B-CBB2F20A5F9B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493ED4-A4F7-4F9C-FA79-B9FAEC53701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326741-D559-2246-8049-848A0222CCF5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7BD979-8A45-0A85-06ED-EB74304F3690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802570-8F3A-D7B8-91F5-BEF15C59A3AF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6D1D236-7550-AC7B-1B00-A1D72645502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09EC5AB-2B77-2928-F68C-E6C30D79DD85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B0DC51D-0920-1ABB-9D1A-B1ABA327A2BF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70BB377-33CE-121E-D2A7-78976438385A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E47ABA-DCF5-FDDA-D037-916AE14DD388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x⋅y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CEDC84A-2E2B-CBB5-699B-34FB19A5528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D946341-E63E-474B-B82F-7B19713C5230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EFC3E20D-32DC-BFC1-410D-BF9375A0F332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5E3DAA-400E-4758-4D64-79C765ED37C2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3948859-FAC7-2551-CEC8-A8FFEFAD76C1}"/>
              </a:ext>
            </a:extLst>
          </p:cNvPr>
          <p:cNvGrpSpPr/>
          <p:nvPr/>
        </p:nvGrpSpPr>
        <p:grpSpPr>
          <a:xfrm>
            <a:off x="6068490" y="2096008"/>
            <a:ext cx="381000" cy="633998"/>
            <a:chOff x="4724400" y="2951413"/>
            <a:chExt cx="381000" cy="63399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69617F-07D0-66FA-7194-E8E92340A9A0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887FBA9-6BE9-1C1C-2808-FDC8FEFD05DD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A1FBED1-D835-5416-AF2E-7CB0BF7F0D44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247E98F-509D-CD07-D2B5-0A229C074890}"/>
              </a:ext>
            </a:extLst>
          </p:cNvPr>
          <p:cNvGrpSpPr/>
          <p:nvPr/>
        </p:nvGrpSpPr>
        <p:grpSpPr>
          <a:xfrm>
            <a:off x="6604738" y="2092565"/>
            <a:ext cx="381000" cy="633998"/>
            <a:chOff x="4724400" y="2951413"/>
            <a:chExt cx="381000" cy="63399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6C08482-32A7-5FDA-9270-07779BCF083A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53B7B59-5474-CB1C-7DA7-1D40F52783D1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DE7B4C5-4B5A-45E6-9E16-A708C91D77CD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95D9007-7C63-D59B-D451-3478E4665C71}"/>
              </a:ext>
            </a:extLst>
          </p:cNvPr>
          <p:cNvGrpSpPr/>
          <p:nvPr/>
        </p:nvGrpSpPr>
        <p:grpSpPr>
          <a:xfrm>
            <a:off x="4318738" y="2084973"/>
            <a:ext cx="838200" cy="609600"/>
            <a:chOff x="5715000" y="2940378"/>
            <a:chExt cx="838200" cy="60960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A26E001-FCB2-1EAE-F357-34F3C76B80A1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0CBE8C2-ABD4-2541-6C47-FC7731A7568D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E161555-BAF5-47D3-3409-9B90EE4DDFB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C87830D-E3EF-DE53-98D4-36CD2D622647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C187507-C333-F341-517B-36FE5459CAE7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66FC2ED-667B-1F47-951B-F8CEDD331E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CAD87CB-DD65-3C21-8D7F-ED030431F97B}"/>
              </a:ext>
            </a:extLst>
          </p:cNvPr>
          <p:cNvGrpSpPr/>
          <p:nvPr/>
        </p:nvGrpSpPr>
        <p:grpSpPr>
          <a:xfrm>
            <a:off x="5156938" y="2133600"/>
            <a:ext cx="799715" cy="592963"/>
            <a:chOff x="5943600" y="2989005"/>
            <a:chExt cx="1409315" cy="592963"/>
          </a:xfrm>
        </p:grpSpPr>
        <p:sp>
          <p:nvSpPr>
            <p:cNvPr id="81" name="Left Brace 80">
              <a:extLst>
                <a:ext uri="{FF2B5EF4-FFF2-40B4-BE49-F238E27FC236}">
                  <a16:creationId xmlns:a16="http://schemas.microsoft.com/office/drawing/2014/main" id="{D6AD4756-B54E-325F-EB9E-4FD3DFEB5E97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0BED1E6-CF9D-8F40-50DC-C44AB13ECCE5}"/>
                </a:ext>
              </a:extLst>
            </p:cNvPr>
            <p:cNvCxnSpPr>
              <a:cxnSpLocks/>
              <a:stCxn id="72" idx="3"/>
              <a:endCxn id="81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5AFCE5-7646-9665-0694-15A7EE0EC34F}"/>
                  </a:ext>
                </a:extLst>
              </p:cNvPr>
              <p:cNvSpPr txBox="1"/>
              <p:nvPr/>
            </p:nvSpPr>
            <p:spPr>
              <a:xfrm>
                <a:off x="457200" y="2145609"/>
                <a:ext cx="15893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5AFCE5-7646-9665-0694-15A7EE0EC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45609"/>
                <a:ext cx="1589391" cy="369332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6AA58A1-ED90-EECB-0E8F-DAF67AD46706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6AA58A1-ED90-EECB-0E8F-DAF67AD46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3"/>
                <a:stretch>
                  <a:fillRect l="-485" t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9FE00F3-4403-6EAC-98F0-5029066E3CCB}"/>
              </a:ext>
            </a:extLst>
          </p:cNvPr>
          <p:cNvSpPr txBox="1"/>
          <p:nvPr/>
        </p:nvSpPr>
        <p:spPr>
          <a:xfrm>
            <a:off x="467139" y="977380"/>
            <a:ext cx="704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P  </a:t>
            </a:r>
            <a:r>
              <a:rPr lang="en-US" dirty="0">
                <a:solidFill>
                  <a:srgbClr val="00B050"/>
                </a:solidFill>
              </a:rPr>
              <a:t>is the client-specific (in this case, dot-product) predicate describing</a:t>
            </a:r>
            <a:endParaRPr lang="en-US" i="1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the state of the client task description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DD016-64DB-6CD5-C34F-9C5C90BA3B1A}"/>
              </a:ext>
            </a:extLst>
          </p:cNvPr>
          <p:cNvSpPr txBox="1"/>
          <p:nvPr/>
        </p:nvSpPr>
        <p:spPr>
          <a:xfrm>
            <a:off x="3495563" y="2736179"/>
            <a:ext cx="454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This is the state when the </a:t>
            </a:r>
            <a:r>
              <a:rPr lang="en-US" b="1" i="1" dirty="0">
                <a:solidFill>
                  <a:srgbClr val="00B050"/>
                </a:solidFill>
              </a:rPr>
              <a:t>go</a:t>
            </a:r>
            <a:r>
              <a:rPr lang="en-US" i="1" dirty="0">
                <a:solidFill>
                  <a:srgbClr val="00B050"/>
                </a:solidFill>
              </a:rPr>
              <a:t> lock is released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D3FE5-16B4-4183-E232-0B57AE57DB09}"/>
              </a:ext>
            </a:extLst>
          </p:cNvPr>
          <p:cNvSpPr txBox="1"/>
          <p:nvPr/>
        </p:nvSpPr>
        <p:spPr>
          <a:xfrm>
            <a:off x="3429000" y="4556900"/>
            <a:ext cx="480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This is the state when the </a:t>
            </a:r>
            <a:r>
              <a:rPr lang="en-US" b="1" i="1" dirty="0">
                <a:solidFill>
                  <a:srgbClr val="00B050"/>
                </a:solidFill>
              </a:rPr>
              <a:t>done</a:t>
            </a:r>
            <a:r>
              <a:rPr lang="en-US" i="1" dirty="0">
                <a:solidFill>
                  <a:srgbClr val="00B050"/>
                </a:solidFill>
              </a:rPr>
              <a:t> lock is released</a:t>
            </a:r>
            <a:endParaRPr 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E7245F-C8B2-09BC-DF98-532BD43F30E6}"/>
                  </a:ext>
                </a:extLst>
              </p:cNvPr>
              <p:cNvSpPr txBox="1"/>
              <p:nvPr/>
            </p:nvSpPr>
            <p:spPr>
              <a:xfrm>
                <a:off x="3733800" y="1673720"/>
                <a:ext cx="41686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>
                    <a:solidFill>
                      <a:srgbClr val="00B050"/>
                    </a:solidFill>
                  </a:rPr>
                  <a:t>th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dtask</a:t>
                </a:r>
                <a:r>
                  <a:rPr lang="en-US" dirty="0">
                    <a:solidFill>
                      <a:srgbClr val="00B050"/>
                    </a:solidFill>
                  </a:rPr>
                  <a:t>    +    the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>
                    <a:solidFill>
                      <a:srgbClr val="00B050"/>
                    </a:solidFill>
                  </a:rPr>
                  <a:t>th</a:t>
                </a:r>
                <a:r>
                  <a:rPr lang="en-US" dirty="0">
                    <a:solidFill>
                      <a:srgbClr val="00B050"/>
                    </a:solidFill>
                  </a:rPr>
                  <a:t>  vector slices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E7245F-C8B2-09BC-DF98-532BD43F3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1673720"/>
                <a:ext cx="4168615" cy="369332"/>
              </a:xfrm>
              <a:prstGeom prst="rect">
                <a:avLst/>
              </a:prstGeom>
              <a:blipFill>
                <a:blip r:embed="rId4"/>
                <a:stretch>
                  <a:fillRect l="-1520" t="-13793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984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 and answers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76BF95-842B-B74B-B56C-297B6AB123F6}"/>
              </a:ext>
            </a:extLst>
          </p:cNvPr>
          <p:cNvGrpSpPr/>
          <p:nvPr/>
        </p:nvGrpSpPr>
        <p:grpSpPr>
          <a:xfrm>
            <a:off x="6068490" y="3906602"/>
            <a:ext cx="381000" cy="633998"/>
            <a:chOff x="4724400" y="2951413"/>
            <a:chExt cx="381000" cy="633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918095-71E0-13EE-B0A6-80C2C1534864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157E509-FE2B-DF97-8F17-8682CDA9FEF8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161821-5018-8AA7-272B-C25684ADE13B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688D46-E105-3208-DE70-79E00AF1DB27}"/>
              </a:ext>
            </a:extLst>
          </p:cNvPr>
          <p:cNvGrpSpPr/>
          <p:nvPr/>
        </p:nvGrpSpPr>
        <p:grpSpPr>
          <a:xfrm>
            <a:off x="6604738" y="3903159"/>
            <a:ext cx="381000" cy="633998"/>
            <a:chOff x="4724400" y="2951413"/>
            <a:chExt cx="381000" cy="63399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B8B4892-3EC5-6AA4-9FF3-C53C2D60CAFF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DDFF2CF-1F16-4378-87A9-304CD1422272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06C757-6D79-778D-735B-CF7F1A849AF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6BA701-B4F9-A042-9B79-03499266CEF6}"/>
              </a:ext>
            </a:extLst>
          </p:cNvPr>
          <p:cNvGrpSpPr/>
          <p:nvPr/>
        </p:nvGrpSpPr>
        <p:grpSpPr>
          <a:xfrm>
            <a:off x="4318738" y="3895567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D968767-01B8-A1FC-1DB9-2A8F3A7F15E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5218B5-93F3-5906-E2CE-BE3CFFC5C473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775B2B8-24A3-3404-A258-7247D029075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2C9BD1F-04CF-AE79-D1C1-99878206D6E4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C0BF6C-1AF7-7BC3-EF9E-2B59E382A4AC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x⋅y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3FF735-0529-48DF-BBC1-9A296BFB3E2B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86C225-F43B-58DA-9EA1-504857D4C02B}"/>
              </a:ext>
            </a:extLst>
          </p:cNvPr>
          <p:cNvGrpSpPr/>
          <p:nvPr/>
        </p:nvGrpSpPr>
        <p:grpSpPr>
          <a:xfrm>
            <a:off x="5156938" y="3944194"/>
            <a:ext cx="799715" cy="592963"/>
            <a:chOff x="5943600" y="2989005"/>
            <a:chExt cx="1409315" cy="592963"/>
          </a:xfrm>
        </p:grpSpPr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6CF82E45-C2DB-FC85-052A-9BEE3DDFA74D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9EA071-593F-85BD-B700-17BB9D3492FA}"/>
                </a:ext>
              </a:extLst>
            </p:cNvPr>
            <p:cNvCxnSpPr>
              <a:cxnSpLocks/>
              <a:stCxn id="37" idx="3"/>
              <a:endCxn id="43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7C67C58-0E14-05EB-34C1-08A25BAA5F96}"/>
              </a:ext>
            </a:extLst>
          </p:cNvPr>
          <p:cNvGrpSpPr/>
          <p:nvPr/>
        </p:nvGrpSpPr>
        <p:grpSpPr>
          <a:xfrm>
            <a:off x="6068490" y="2096008"/>
            <a:ext cx="381000" cy="633998"/>
            <a:chOff x="4724400" y="2951413"/>
            <a:chExt cx="381000" cy="63399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6FCAAA9-7465-E59C-0664-0A4808F89C98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E1A7EBF-03FF-4ECD-C79D-DF0DCE64C1BF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5367815-A14F-C2A8-00BA-29A873E02E7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540297A-F1AD-C102-3EDF-522E940CC4C3}"/>
              </a:ext>
            </a:extLst>
          </p:cNvPr>
          <p:cNvGrpSpPr/>
          <p:nvPr/>
        </p:nvGrpSpPr>
        <p:grpSpPr>
          <a:xfrm>
            <a:off x="6604738" y="2092565"/>
            <a:ext cx="381000" cy="633998"/>
            <a:chOff x="4724400" y="2951413"/>
            <a:chExt cx="381000" cy="63399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B5CA25-E57A-4AAF-616F-D7739AF72743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8AC22A-D36D-18D8-FC92-D65B2D2D39F8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4F4A69-F836-DFBC-0080-468E29E989EC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DAA6579-B96D-3D60-A784-BF57559E2DA5}"/>
              </a:ext>
            </a:extLst>
          </p:cNvPr>
          <p:cNvGrpSpPr/>
          <p:nvPr/>
        </p:nvGrpSpPr>
        <p:grpSpPr>
          <a:xfrm>
            <a:off x="4318738" y="2084973"/>
            <a:ext cx="838200" cy="609600"/>
            <a:chOff x="5715000" y="2940378"/>
            <a:chExt cx="838200" cy="60960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B688814-C818-21C2-450A-A5C04BBFDAC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F317D81-E7E4-2ADB-E376-C4A4A9693E1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8B6E510B-3B3F-5ECC-6461-BC6A1359B7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FB88668-F668-6D52-DAB2-84E7FCF321F3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B5B1860-7915-244F-48FB-C52EE46DBFC3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299CB2-5E6A-4B04-0DB8-A3464CF6334E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2FE9D36-79E3-98B9-0CBA-D43FD989690D}"/>
              </a:ext>
            </a:extLst>
          </p:cNvPr>
          <p:cNvGrpSpPr/>
          <p:nvPr/>
        </p:nvGrpSpPr>
        <p:grpSpPr>
          <a:xfrm>
            <a:off x="5156938" y="2133600"/>
            <a:ext cx="799715" cy="592963"/>
            <a:chOff x="5943600" y="2989005"/>
            <a:chExt cx="1409315" cy="592963"/>
          </a:xfrm>
        </p:grpSpPr>
        <p:sp>
          <p:nvSpPr>
            <p:cNvPr id="81" name="Left Brace 80">
              <a:extLst>
                <a:ext uri="{FF2B5EF4-FFF2-40B4-BE49-F238E27FC236}">
                  <a16:creationId xmlns:a16="http://schemas.microsoft.com/office/drawing/2014/main" id="{F000FD15-919C-A04D-A37C-6B2A74586696}"/>
                </a:ext>
              </a:extLst>
            </p:cNvPr>
            <p:cNvSpPr/>
            <p:nvPr/>
          </p:nvSpPr>
          <p:spPr>
            <a:xfrm>
              <a:off x="7017881" y="2989005"/>
              <a:ext cx="335034" cy="592963"/>
            </a:xfrm>
            <a:prstGeom prst="leftBrace">
              <a:avLst>
                <a:gd name="adj1" fmla="val 60860"/>
                <a:gd name="adj2" fmla="val 50000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6627E20-1A5D-2072-4F02-62BEFA288591}"/>
                </a:ext>
              </a:extLst>
            </p:cNvPr>
            <p:cNvCxnSpPr>
              <a:cxnSpLocks/>
              <a:stCxn id="72" idx="3"/>
              <a:endCxn id="81" idx="1"/>
            </p:cNvCxnSpPr>
            <p:nvPr/>
          </p:nvCxnSpPr>
          <p:spPr>
            <a:xfrm>
              <a:off x="5943600" y="3247454"/>
              <a:ext cx="1074281" cy="3803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2032F2-7F9C-205B-1D86-D8197D18755A}"/>
                  </a:ext>
                </a:extLst>
              </p:cNvPr>
              <p:cNvSpPr txBox="1"/>
              <p:nvPr/>
            </p:nvSpPr>
            <p:spPr>
              <a:xfrm>
                <a:off x="2704813" y="2135907"/>
                <a:ext cx="890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=ASK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2032F2-7F9C-205B-1D86-D8197D18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813" y="2135907"/>
                <a:ext cx="890372" cy="369332"/>
              </a:xfrm>
              <a:prstGeom prst="rect">
                <a:avLst/>
              </a:prstGeom>
              <a:blipFill>
                <a:blip r:embed="rId2"/>
                <a:stretch>
                  <a:fillRect t="-9836" r="-479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A9B24A9-DAF9-EF29-1206-5A4697A4BEC3}"/>
                  </a:ext>
                </a:extLst>
              </p:cNvPr>
              <p:cNvSpPr txBox="1"/>
              <p:nvPr/>
            </p:nvSpPr>
            <p:spPr>
              <a:xfrm>
                <a:off x="2360482" y="4009321"/>
                <a:ext cx="1445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=ANSWER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A9B24A9-DAF9-EF29-1206-5A4697A4B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482" y="4009321"/>
                <a:ext cx="1445204" cy="369332"/>
              </a:xfrm>
              <a:prstGeom prst="rect">
                <a:avLst/>
              </a:prstGeom>
              <a:blipFill>
                <a:blip r:embed="rId3"/>
                <a:stretch>
                  <a:fillRect t="-11667" r="-42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A0F4676-7B66-53FC-D5EA-AB4569048DC5}"/>
                  </a:ext>
                </a:extLst>
              </p:cNvPr>
              <p:cNvSpPr txBox="1"/>
              <p:nvPr/>
            </p:nvSpPr>
            <p:spPr>
              <a:xfrm>
                <a:off x="457200" y="2145609"/>
                <a:ext cx="15893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A0F4676-7B66-53FC-D5EA-AB4569048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45609"/>
                <a:ext cx="158939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EE5674F-16E2-912F-D64B-8BB6E8E6866E}"/>
                  </a:ext>
                </a:extLst>
              </p:cNvPr>
              <p:cNvSpPr txBox="1"/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Definition </a:t>
                </a:r>
                <a:r>
                  <a:rPr lang="en-US" sz="1600" dirty="0" err="1"/>
                  <a:t>task_inv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≔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closure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EE5674F-16E2-912F-D64B-8BB6E8E68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42" y="5174864"/>
                <a:ext cx="7837980" cy="338554"/>
              </a:xfrm>
              <a:prstGeom prst="rect">
                <a:avLst/>
              </a:prstGeom>
              <a:blipFill>
                <a:blip r:embed="rId5"/>
                <a:stretch>
                  <a:fillRect l="-389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62D82E97-A508-76AC-7293-CEC363871E5B}"/>
              </a:ext>
            </a:extLst>
          </p:cNvPr>
          <p:cNvSpPr/>
          <p:nvPr/>
        </p:nvSpPr>
        <p:spPr>
          <a:xfrm>
            <a:off x="1219199" y="2209800"/>
            <a:ext cx="194821" cy="29543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54EC11-3FA2-C2DD-A287-827F35057001}"/>
              </a:ext>
            </a:extLst>
          </p:cNvPr>
          <p:cNvSpPr/>
          <p:nvPr/>
        </p:nvSpPr>
        <p:spPr>
          <a:xfrm>
            <a:off x="2764409" y="2186537"/>
            <a:ext cx="194821" cy="29543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AF20993-0577-18B0-90CF-914B05532629}"/>
              </a:ext>
            </a:extLst>
          </p:cNvPr>
          <p:cNvSpPr/>
          <p:nvPr/>
        </p:nvSpPr>
        <p:spPr>
          <a:xfrm>
            <a:off x="2410120" y="4072301"/>
            <a:ext cx="194821" cy="29543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6C6FAA8F-E221-F34E-D31C-8D6CEBBB7204}"/>
              </a:ext>
            </a:extLst>
          </p:cNvPr>
          <p:cNvSpPr/>
          <p:nvPr/>
        </p:nvSpPr>
        <p:spPr>
          <a:xfrm>
            <a:off x="1316609" y="1970338"/>
            <a:ext cx="1536520" cy="479849"/>
          </a:xfrm>
          <a:prstGeom prst="arc">
            <a:avLst>
              <a:gd name="adj1" fmla="val 10889652"/>
              <a:gd name="adj2" fmla="val 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E3D3E1-2AFA-7F79-A3B4-02786DB4333D}"/>
              </a:ext>
            </a:extLst>
          </p:cNvPr>
          <p:cNvCxnSpPr>
            <a:stCxn id="5" idx="5"/>
            <a:endCxn id="50" idx="1"/>
          </p:cNvCxnSpPr>
          <p:nvPr/>
        </p:nvCxnSpPr>
        <p:spPr>
          <a:xfrm>
            <a:off x="1385489" y="2461973"/>
            <a:ext cx="1053162" cy="16535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4C3D4-D886-1B24-5C6C-C39A81ACDCDD}"/>
                  </a:ext>
                </a:extLst>
              </p:cNvPr>
              <p:cNvSpPr txBox="1"/>
              <p:nvPr/>
            </p:nvSpPr>
            <p:spPr>
              <a:xfrm>
                <a:off x="467139" y="977380"/>
                <a:ext cx="845725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By releasing the </a:t>
                </a:r>
                <a:r>
                  <a:rPr lang="en-US" b="1" dirty="0">
                    <a:solidFill>
                      <a:srgbClr val="00B050"/>
                    </a:solidFill>
                  </a:rPr>
                  <a:t>go</a:t>
                </a:r>
                <a:r>
                  <a:rPr lang="en-US" dirty="0">
                    <a:solidFill>
                      <a:srgbClr val="00B050"/>
                    </a:solidFill>
                  </a:rPr>
                  <a:t> lock, we ask a question: what’s the dot-product of this slice?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By releasing the </a:t>
                </a:r>
                <a:r>
                  <a:rPr lang="en-US" b="1" dirty="0">
                    <a:solidFill>
                      <a:srgbClr val="00B050"/>
                    </a:solidFill>
                  </a:rPr>
                  <a:t>done</a:t>
                </a:r>
                <a:r>
                  <a:rPr lang="en-US" dirty="0">
                    <a:solidFill>
                      <a:srgbClr val="00B050"/>
                    </a:solidFill>
                  </a:rPr>
                  <a:t> lock, worker thread answers the question.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parameter specifies whether we’re asking or answering (go lock or done lock)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4C3D4-D886-1B24-5C6C-C39A81ACD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39" y="977380"/>
                <a:ext cx="8457252" cy="923330"/>
              </a:xfrm>
              <a:prstGeom prst="rect">
                <a:avLst/>
              </a:prstGeom>
              <a:blipFill>
                <a:blip r:embed="rId6"/>
                <a:stretch>
                  <a:fillRect l="-600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459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invariants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5C0E176-405C-B31F-4632-B663345A38DF}"/>
              </a:ext>
            </a:extLst>
          </p:cNvPr>
          <p:cNvSpPr/>
          <p:nvPr/>
        </p:nvSpPr>
        <p:spPr>
          <a:xfrm>
            <a:off x="5334000" y="948257"/>
            <a:ext cx="2005862" cy="13530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u="sng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thread_worker</a:t>
            </a:r>
            <a:endParaRPr lang="en-US" sz="1400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while (1)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acquire(t-&gt;go);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t-&gt;f(t-&gt;closure);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release(t-&gt;done);</a:t>
            </a:r>
          </a:p>
          <a:p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EBB1660-0271-02E6-11F6-B0993FCD26F7}"/>
              </a:ext>
            </a:extLst>
          </p:cNvPr>
          <p:cNvSpPr/>
          <p:nvPr/>
        </p:nvSpPr>
        <p:spPr>
          <a:xfrm>
            <a:off x="1524000" y="968738"/>
            <a:ext cx="2513841" cy="12999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u="sng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do_tasks</a:t>
            </a:r>
            <a:endParaRPr lang="en-US" sz="1400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release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].go);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(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=1;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&lt;T; </a:t>
            </a:r>
            <a:r>
              <a:rPr lang="en-US" sz="1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++)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acquire (tasks[</a:t>
            </a:r>
            <a:r>
              <a:rPr lang="en-US" sz="14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].done);</a:t>
            </a:r>
          </a:p>
          <a:p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F72B05-495F-1547-94CF-187FA741FCE2}"/>
              </a:ext>
            </a:extLst>
          </p:cNvPr>
          <p:cNvGrpSpPr/>
          <p:nvPr/>
        </p:nvGrpSpPr>
        <p:grpSpPr>
          <a:xfrm>
            <a:off x="384048" y="3098438"/>
            <a:ext cx="7843263" cy="711562"/>
            <a:chOff x="384048" y="3098438"/>
            <a:chExt cx="7843263" cy="711562"/>
          </a:xfrm>
        </p:grpSpPr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F906F1B8-42A1-A4E2-270B-BD3BC793935A}"/>
                </a:ext>
              </a:extLst>
            </p:cNvPr>
            <p:cNvSpPr/>
            <p:nvPr/>
          </p:nvSpPr>
          <p:spPr>
            <a:xfrm>
              <a:off x="2362200" y="3301360"/>
              <a:ext cx="3962400" cy="39213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E72DEC-3608-422A-B049-8722E5AACB18}"/>
                </a:ext>
              </a:extLst>
            </p:cNvPr>
            <p:cNvGrpSpPr/>
            <p:nvPr/>
          </p:nvGrpSpPr>
          <p:grpSpPr>
            <a:xfrm>
              <a:off x="3768854" y="3200400"/>
              <a:ext cx="838200" cy="609600"/>
              <a:chOff x="5715000" y="2940378"/>
              <a:chExt cx="838200" cy="60960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D29152F-079F-A572-C586-C1ECA072A895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32CC01D-357E-629F-4DA7-88D1887D41B4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2BC7240-1107-E286-0521-992036906449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CD55378-BF49-2768-4528-3B917919FFCC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965DD4D4-73A7-1EA9-BB61-57F1C93C1302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22F44EB-108D-E189-4C58-4F5703786F30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A9E18-3285-EA41-65DF-F1FEEC1AEAEC}"/>
                </a:ext>
              </a:extLst>
            </p:cNvPr>
            <p:cNvSpPr txBox="1"/>
            <p:nvPr/>
          </p:nvSpPr>
          <p:spPr>
            <a:xfrm>
              <a:off x="3196984" y="3098438"/>
              <a:ext cx="585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ASK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4F9EDB3-3BC4-E9F8-6188-0C3628D1C753}"/>
                </a:ext>
              </a:extLst>
            </p:cNvPr>
            <p:cNvSpPr txBox="1"/>
            <p:nvPr/>
          </p:nvSpPr>
          <p:spPr>
            <a:xfrm>
              <a:off x="384048" y="3255802"/>
              <a:ext cx="14836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release(go)</a:t>
              </a:r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AB31C80-D638-FD72-4EE0-409D1C145B38}"/>
                </a:ext>
              </a:extLst>
            </p:cNvPr>
            <p:cNvSpPr txBox="1"/>
            <p:nvPr/>
          </p:nvSpPr>
          <p:spPr>
            <a:xfrm>
              <a:off x="6743700" y="3255802"/>
              <a:ext cx="14836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acquire(go)</a:t>
              </a:r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518FFCE-5C68-664F-D876-628968D30AFB}"/>
              </a:ext>
            </a:extLst>
          </p:cNvPr>
          <p:cNvGrpSpPr/>
          <p:nvPr/>
        </p:nvGrpSpPr>
        <p:grpSpPr>
          <a:xfrm>
            <a:off x="384048" y="4555616"/>
            <a:ext cx="8074152" cy="674132"/>
            <a:chOff x="384048" y="4555616"/>
            <a:chExt cx="8074152" cy="674132"/>
          </a:xfrm>
        </p:grpSpPr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3EDFA727-0199-FFCA-1D4C-C1691647BC7F}"/>
                </a:ext>
              </a:extLst>
            </p:cNvPr>
            <p:cNvSpPr/>
            <p:nvPr/>
          </p:nvSpPr>
          <p:spPr>
            <a:xfrm rot="10800000">
              <a:off x="2362200" y="4773379"/>
              <a:ext cx="3962400" cy="39213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3BF582-C144-5158-9DA7-2CE20A7F8B31}"/>
                </a:ext>
              </a:extLst>
            </p:cNvPr>
            <p:cNvSpPr txBox="1"/>
            <p:nvPr/>
          </p:nvSpPr>
          <p:spPr>
            <a:xfrm>
              <a:off x="2869784" y="4555616"/>
              <a:ext cx="1088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ANSWER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0B74EF1-6107-0FAD-154A-5ED5E5B0D77E}"/>
                </a:ext>
              </a:extLst>
            </p:cNvPr>
            <p:cNvGrpSpPr/>
            <p:nvPr/>
          </p:nvGrpSpPr>
          <p:grpSpPr>
            <a:xfrm>
              <a:off x="3884272" y="4620148"/>
              <a:ext cx="838200" cy="609600"/>
              <a:chOff x="5715000" y="2940378"/>
              <a:chExt cx="838200" cy="609600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3A5CDD05-C648-52D7-395F-07A7152F08DD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FD84F4F-A61B-35D6-D6D8-B721AD46FB67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451A377A-1DDA-D952-D1C8-DF4BAF81F355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EFD546B-5BDA-F1EF-BACF-8C262C6A517F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2F6B511B-DA32-D156-04BA-A97E0FC3FB3C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</a:rPr>
                    <a:t>x⋅y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D443A90-937C-6CA5-02E9-F21B526CEABC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D5A2522-41CD-CE25-CCE9-32DB4C5693AE}"/>
                </a:ext>
              </a:extLst>
            </p:cNvPr>
            <p:cNvSpPr txBox="1"/>
            <p:nvPr/>
          </p:nvSpPr>
          <p:spPr>
            <a:xfrm>
              <a:off x="384048" y="4726166"/>
              <a:ext cx="16333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acquire(done)</a:t>
              </a:r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1759F2B-B221-62CD-7555-9360BCA60F6F}"/>
                </a:ext>
              </a:extLst>
            </p:cNvPr>
            <p:cNvSpPr txBox="1"/>
            <p:nvPr/>
          </p:nvSpPr>
          <p:spPr>
            <a:xfrm>
              <a:off x="6743700" y="4726166"/>
              <a:ext cx="1714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release(done)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0549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070678-616F-902A-DDB2-16F0C04048E6}"/>
              </a:ext>
            </a:extLst>
          </p:cNvPr>
          <p:cNvSpPr/>
          <p:nvPr/>
        </p:nvSpPr>
        <p:spPr>
          <a:xfrm>
            <a:off x="228600" y="1143000"/>
            <a:ext cx="8077200" cy="2362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0BD75730-948E-4E3D-8907-264FE3715F87}"/>
              </a:ext>
            </a:extLst>
          </p:cNvPr>
          <p:cNvSpPr/>
          <p:nvPr/>
        </p:nvSpPr>
        <p:spPr>
          <a:xfrm rot="10800000">
            <a:off x="1524000" y="2885866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493DADC-5ABA-0658-B0C5-DB0244BD17FE}"/>
              </a:ext>
            </a:extLst>
          </p:cNvPr>
          <p:cNvSpPr/>
          <p:nvPr/>
        </p:nvSpPr>
        <p:spPr>
          <a:xfrm>
            <a:off x="1524000" y="1742420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question did I ask?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6BA701-B4F9-A042-9B79-03499266CEF6}"/>
              </a:ext>
            </a:extLst>
          </p:cNvPr>
          <p:cNvGrpSpPr/>
          <p:nvPr/>
        </p:nvGrpSpPr>
        <p:grpSpPr>
          <a:xfrm>
            <a:off x="3086100" y="2755259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D968767-01B8-A1FC-1DB9-2A8F3A7F15E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5218B5-93F3-5906-E2CE-BE3CFFC5C473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775B2B8-24A3-3404-A258-7247D029075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2C9BD1F-04CF-AE79-D1C1-99878206D6E4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C0BF6C-1AF7-7BC3-EF9E-2B59E382A4AC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x⋅y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3FF735-0529-48DF-BBC1-9A296BFB3E2B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DAA6579-B96D-3D60-A784-BF57559E2DA5}"/>
              </a:ext>
            </a:extLst>
          </p:cNvPr>
          <p:cNvGrpSpPr/>
          <p:nvPr/>
        </p:nvGrpSpPr>
        <p:grpSpPr>
          <a:xfrm>
            <a:off x="2930654" y="1641460"/>
            <a:ext cx="838200" cy="609600"/>
            <a:chOff x="5715000" y="2940378"/>
            <a:chExt cx="838200" cy="60960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B688814-C818-21C2-450A-A5C04BBFDAC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F317D81-E7E4-2ADB-E376-C4A4A9693E17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8B6E510B-3B3F-5ECC-6461-BC6A1359B743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FB88668-F668-6D52-DAB2-84E7FCF321F3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B5B1860-7915-244F-48FB-C52EE46DBFC3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299CB2-5E6A-4B04-0DB8-A3464CF6334E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2032F2-7F9C-205B-1D86-D8197D18755A}"/>
              </a:ext>
            </a:extLst>
          </p:cNvPr>
          <p:cNvSpPr txBox="1"/>
          <p:nvPr/>
        </p:nvSpPr>
        <p:spPr>
          <a:xfrm>
            <a:off x="2358784" y="1539498"/>
            <a:ext cx="58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9B24A9-DAF9-EF29-1206-5A4697A4BEC3}"/>
              </a:ext>
            </a:extLst>
          </p:cNvPr>
          <p:cNvSpPr txBox="1"/>
          <p:nvPr/>
        </p:nvSpPr>
        <p:spPr>
          <a:xfrm>
            <a:off x="2031584" y="2668103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BBEEB-1A62-9D53-B0F5-57BC3076A3AA}"/>
              </a:ext>
            </a:extLst>
          </p:cNvPr>
          <p:cNvSpPr txBox="1"/>
          <p:nvPr/>
        </p:nvSpPr>
        <p:spPr>
          <a:xfrm>
            <a:off x="990600" y="121920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EFE3C5-5828-327C-7F00-DF07E9FBA0A2}"/>
              </a:ext>
            </a:extLst>
          </p:cNvPr>
          <p:cNvSpPr txBox="1"/>
          <p:nvPr/>
        </p:nvSpPr>
        <p:spPr>
          <a:xfrm>
            <a:off x="5666808" y="1251498"/>
            <a:ext cx="118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A5985C-F035-70FC-837C-1307C927ABA9}"/>
              </a:ext>
            </a:extLst>
          </p:cNvPr>
          <p:cNvGrpSpPr/>
          <p:nvPr/>
        </p:nvGrpSpPr>
        <p:grpSpPr>
          <a:xfrm>
            <a:off x="228600" y="3733800"/>
            <a:ext cx="8077200" cy="2362200"/>
            <a:chOff x="228600" y="3994150"/>
            <a:chExt cx="8077200" cy="236220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DFDA9DF-3BFD-DDF0-776F-D9A2DE54B6FD}"/>
                </a:ext>
              </a:extLst>
            </p:cNvPr>
            <p:cNvSpPr/>
            <p:nvPr/>
          </p:nvSpPr>
          <p:spPr>
            <a:xfrm>
              <a:off x="228600" y="3994150"/>
              <a:ext cx="8077200" cy="23622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D48A8038-AAEF-5F12-F320-A707525B3307}"/>
                </a:ext>
              </a:extLst>
            </p:cNvPr>
            <p:cNvSpPr/>
            <p:nvPr/>
          </p:nvSpPr>
          <p:spPr>
            <a:xfrm rot="10800000">
              <a:off x="1524000" y="5737016"/>
              <a:ext cx="3962400" cy="39213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56A44AB4-E00D-64E5-727D-38FE3A8473A8}"/>
                </a:ext>
              </a:extLst>
            </p:cNvPr>
            <p:cNvSpPr/>
            <p:nvPr/>
          </p:nvSpPr>
          <p:spPr>
            <a:xfrm>
              <a:off x="1524000" y="4593570"/>
              <a:ext cx="3962400" cy="39213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D65159A-049F-4AF0-0C84-65382542F48D}"/>
                </a:ext>
              </a:extLst>
            </p:cNvPr>
            <p:cNvGrpSpPr/>
            <p:nvPr/>
          </p:nvGrpSpPr>
          <p:grpSpPr>
            <a:xfrm>
              <a:off x="3086100" y="5606409"/>
              <a:ext cx="838200" cy="609600"/>
              <a:chOff x="5715000" y="2940378"/>
              <a:chExt cx="838200" cy="60960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90E95D30-2E6D-AE2C-F3C4-4DE6F8E52516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465F3EA2-41BD-D323-223C-6C601C5354EB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x7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C2E0F875-BF2B-B40E-E354-41BDB1C4F4A7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y7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37DA7730-80C3-FA47-7739-E00C4B4D411F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C1722BE3-A5AA-1430-1AC9-F37558B71DC7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x7y7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19EC2AF-2EA0-76CD-2E8F-616E105D77B3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F040F9A-830F-83BD-C013-0D04E7F3E73A}"/>
                </a:ext>
              </a:extLst>
            </p:cNvPr>
            <p:cNvGrpSpPr/>
            <p:nvPr/>
          </p:nvGrpSpPr>
          <p:grpSpPr>
            <a:xfrm>
              <a:off x="2930654" y="4492610"/>
              <a:ext cx="838200" cy="609600"/>
              <a:chOff x="5715000" y="2940378"/>
              <a:chExt cx="838200" cy="609600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F8082539-2EB0-B830-3086-EEA8A6073D15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1F111DE-33C1-C9ED-775E-7AFEF8873AB6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E2747839-66F9-2147-C724-B5A5D4398C3F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19A1E7A5-994E-4A5A-37B9-C65905C54CBA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10A6A-A57C-D9B7-5546-35BC9D227B27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9FA2CBD-D630-AE9A-6973-7022C9F96835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45CDBAD-67F3-8405-011B-3B4A7FBF93A3}"/>
                </a:ext>
              </a:extLst>
            </p:cNvPr>
            <p:cNvSpPr txBox="1"/>
            <p:nvPr/>
          </p:nvSpPr>
          <p:spPr>
            <a:xfrm>
              <a:off x="2358784" y="4390648"/>
              <a:ext cx="585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ASK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DD50D6A-FD63-327F-B1EC-571F8BE26246}"/>
                </a:ext>
              </a:extLst>
            </p:cNvPr>
            <p:cNvSpPr txBox="1"/>
            <p:nvPr/>
          </p:nvSpPr>
          <p:spPr>
            <a:xfrm>
              <a:off x="2031584" y="5519253"/>
              <a:ext cx="1088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ANSWER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81F85E-A9FE-8600-5D7D-013426C451CA}"/>
                </a:ext>
              </a:extLst>
            </p:cNvPr>
            <p:cNvSpPr txBox="1"/>
            <p:nvPr/>
          </p:nvSpPr>
          <p:spPr>
            <a:xfrm>
              <a:off x="990600" y="4070350"/>
              <a:ext cx="10807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Client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A8742F8-223E-50A8-C5C8-473A29E883A4}"/>
                </a:ext>
              </a:extLst>
            </p:cNvPr>
            <p:cNvSpPr txBox="1"/>
            <p:nvPr/>
          </p:nvSpPr>
          <p:spPr>
            <a:xfrm>
              <a:off x="5666808" y="4102648"/>
              <a:ext cx="11843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Server</a:t>
              </a:r>
            </a:p>
          </p:txBody>
        </p:sp>
        <p:pic>
          <p:nvPicPr>
            <p:cNvPr id="10" name="Graphic 9" descr="Devil face with solid fill with solid fill">
              <a:extLst>
                <a:ext uri="{FF2B5EF4-FFF2-40B4-BE49-F238E27FC236}">
                  <a16:creationId xmlns:a16="http://schemas.microsoft.com/office/drawing/2014/main" id="{6533E1A4-7724-1FE6-CC30-E20F7C800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96000" y="4844409"/>
              <a:ext cx="914400" cy="914400"/>
            </a:xfrm>
            <a:prstGeom prst="rect">
              <a:avLst/>
            </a:prstGeom>
          </p:spPr>
        </p:pic>
      </p:grpSp>
      <p:pic>
        <p:nvPicPr>
          <p:cNvPr id="95" name="Graphic 94" descr="Angel face with solid fill with solid fill">
            <a:extLst>
              <a:ext uri="{FF2B5EF4-FFF2-40B4-BE49-F238E27FC236}">
                <a16:creationId xmlns:a16="http://schemas.microsoft.com/office/drawing/2014/main" id="{8EC54637-87ED-27AD-9E4A-E5A1D8B1B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81700" y="2020289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8F0E28-6B82-FB78-4F0F-92AAFC5DBF24}"/>
              </a:ext>
            </a:extLst>
          </p:cNvPr>
          <p:cNvSpPr txBox="1"/>
          <p:nvPr/>
        </p:nvSpPr>
        <p:spPr>
          <a:xfrm>
            <a:off x="1122772" y="6148492"/>
            <a:ext cx="6497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must prevent the worker thread from changing the question,</a:t>
            </a:r>
          </a:p>
          <a:p>
            <a:r>
              <a:rPr lang="en-US" dirty="0"/>
              <a:t>while permitting it to fill in the answer!</a:t>
            </a:r>
          </a:p>
        </p:txBody>
      </p:sp>
    </p:spTree>
    <p:extLst>
      <p:ext uri="{BB962C8B-B14F-4D97-AF65-F5344CB8AC3E}">
        <p14:creationId xmlns:p14="http://schemas.microsoft.com/office/powerpoint/2010/main" val="2598295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Splitting shares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BBEEB-1A62-9D53-B0F5-57BC3076A3AA}"/>
              </a:ext>
            </a:extLst>
          </p:cNvPr>
          <p:cNvSpPr txBox="1"/>
          <p:nvPr/>
        </p:nvSpPr>
        <p:spPr>
          <a:xfrm>
            <a:off x="990600" y="244858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EFE3C5-5828-327C-7F00-DF07E9FBA0A2}"/>
              </a:ext>
            </a:extLst>
          </p:cNvPr>
          <p:cNvSpPr txBox="1"/>
          <p:nvPr/>
        </p:nvSpPr>
        <p:spPr>
          <a:xfrm>
            <a:off x="5666808" y="2480878"/>
            <a:ext cx="118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E5C3C3-F05E-632D-47E2-0AC3947745E9}"/>
                  </a:ext>
                </a:extLst>
              </p:cNvPr>
              <p:cNvSpPr txBox="1"/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E5C3C3-F05E-632D-47E2-0AC394774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6EA1382-F196-EE37-17FE-17BEF2608D0F}"/>
              </a:ext>
            </a:extLst>
          </p:cNvPr>
          <p:cNvGrpSpPr/>
          <p:nvPr/>
        </p:nvGrpSpPr>
        <p:grpSpPr>
          <a:xfrm>
            <a:off x="1530972" y="2982380"/>
            <a:ext cx="838200" cy="609600"/>
            <a:chOff x="5715000" y="2940378"/>
            <a:chExt cx="838200" cy="6096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112085C-8336-0EAA-96BC-ACE22E2CC87E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DB6AFF2-0746-153B-AF21-BE5867F7BF06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49E5306-43B3-F3BC-F8EB-98DF48A6C9AB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34E1185-3645-DF4D-D8FE-FE181D29E92B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FE668C7-EC64-F2BD-94DD-86948D36CEA6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51268F-FF01-E6E2-AA49-B826FFF0CD08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EEACC9-00E5-31C9-C55B-287C27C310D3}"/>
                  </a:ext>
                </a:extLst>
              </p:cNvPr>
              <p:cNvSpPr txBox="1"/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EEACC9-00E5-31C9-C55B-287C27C31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4B0FDDB-6C5E-E4B0-D580-7E56F2EBC8EB}"/>
              </a:ext>
            </a:extLst>
          </p:cNvPr>
          <p:cNvGrpSpPr/>
          <p:nvPr/>
        </p:nvGrpSpPr>
        <p:grpSpPr>
          <a:xfrm>
            <a:off x="3160013" y="2982380"/>
            <a:ext cx="838200" cy="609600"/>
            <a:chOff x="5715000" y="2940378"/>
            <a:chExt cx="838200" cy="6096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7A0F9A8-FDD2-865F-3BBB-64FAE6205B7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ACC2E2E-5C66-C00B-8585-AB3BB647C406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64C80E1-497E-97E0-1BA8-CD30CBACEF4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106A4FCA-463A-7645-C5B1-37AB494711A9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343650F-4B1E-CCB6-CFA2-FBBB8378B46D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847D418-9F22-7CEF-6EAB-2AD1642989D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BCFB6F5-866A-6CCD-81F5-F81D2155F213}"/>
                  </a:ext>
                </a:extLst>
              </p:cNvPr>
              <p:cNvSpPr txBox="1"/>
              <p:nvPr/>
            </p:nvSpPr>
            <p:spPr>
              <a:xfrm>
                <a:off x="3953624" y="3361249"/>
                <a:ext cx="474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BCFB6F5-866A-6CCD-81F5-F81D2155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624" y="3361249"/>
                <a:ext cx="474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792AD70-3122-4311-9C2F-15731CF246A2}"/>
              </a:ext>
            </a:extLst>
          </p:cNvPr>
          <p:cNvSpPr txBox="1"/>
          <p:nvPr/>
        </p:nvSpPr>
        <p:spPr>
          <a:xfrm>
            <a:off x="2573944" y="2993283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FB1BBB3-DDB9-81FA-3292-56338FC25F51}"/>
              </a:ext>
            </a:extLst>
          </p:cNvPr>
          <p:cNvGrpSpPr/>
          <p:nvPr/>
        </p:nvGrpSpPr>
        <p:grpSpPr>
          <a:xfrm>
            <a:off x="4663943" y="2982380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78A79F5-2A96-FA07-4EE4-E08749C1D8D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A73D9B5E-F728-901B-B8BE-DA415E44E0F4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AE3E6D6-5AD0-F9A8-1941-8FCDEAC77D47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5B8CE3E-CA63-71A4-3A04-AC91EF5C0511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9B525C-DE46-998E-D26A-B464A684499B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ECFB019-D1C1-4CCE-A180-92386C704432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466F72B-9153-048E-EFAE-C5F41949BCF9}"/>
                  </a:ext>
                </a:extLst>
              </p:cNvPr>
              <p:cNvSpPr txBox="1"/>
              <p:nvPr/>
            </p:nvSpPr>
            <p:spPr>
              <a:xfrm>
                <a:off x="5457554" y="3361249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466F72B-9153-048E-EFAE-C5F41949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554" y="3361249"/>
                <a:ext cx="479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51D877E8-ECC3-936A-BD4A-F7162782D3AD}"/>
              </a:ext>
            </a:extLst>
          </p:cNvPr>
          <p:cNvSpPr txBox="1"/>
          <p:nvPr/>
        </p:nvSpPr>
        <p:spPr>
          <a:xfrm>
            <a:off x="4162878" y="2993283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∗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451D774D-F524-6FDB-CBE5-53D8C1E57427}"/>
              </a:ext>
            </a:extLst>
          </p:cNvPr>
          <p:cNvSpPr/>
          <p:nvPr/>
        </p:nvSpPr>
        <p:spPr>
          <a:xfrm>
            <a:off x="1143000" y="4419600"/>
            <a:ext cx="1080745" cy="828722"/>
          </a:xfrm>
          <a:prstGeom prst="wedgeEllipseCallout">
            <a:avLst>
              <a:gd name="adj1" fmla="val 22831"/>
              <a:gd name="adj2" fmla="val -13611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read/write</a:t>
            </a: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C1B45B50-F0D7-4687-6173-8074532784BA}"/>
              </a:ext>
            </a:extLst>
          </p:cNvPr>
          <p:cNvSpPr/>
          <p:nvPr/>
        </p:nvSpPr>
        <p:spPr>
          <a:xfrm>
            <a:off x="3792748" y="4419600"/>
            <a:ext cx="1080745" cy="828722"/>
          </a:xfrm>
          <a:prstGeom prst="wedgeEllipseCallout">
            <a:avLst>
              <a:gd name="adj1" fmla="val 47254"/>
              <a:gd name="adj2" fmla="val -13857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read/write</a:t>
            </a:r>
          </a:p>
        </p:txBody>
      </p:sp>
      <p:sp>
        <p:nvSpPr>
          <p:cNvPr id="55" name="Speech Bubble: Oval 54">
            <a:extLst>
              <a:ext uri="{FF2B5EF4-FFF2-40B4-BE49-F238E27FC236}">
                <a16:creationId xmlns:a16="http://schemas.microsoft.com/office/drawing/2014/main" id="{79367956-8FC9-B154-A00B-D88769446479}"/>
              </a:ext>
            </a:extLst>
          </p:cNvPr>
          <p:cNvSpPr/>
          <p:nvPr/>
        </p:nvSpPr>
        <p:spPr>
          <a:xfrm>
            <a:off x="3796055" y="4419600"/>
            <a:ext cx="1080745" cy="828722"/>
          </a:xfrm>
          <a:prstGeom prst="wedgeEllipseCallout">
            <a:avLst>
              <a:gd name="adj1" fmla="val -55956"/>
              <a:gd name="adj2" fmla="val -13599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read-only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F630A-569C-3F9C-634F-1F0E12C43589}"/>
              </a:ext>
            </a:extLst>
          </p:cNvPr>
          <p:cNvSpPr txBox="1"/>
          <p:nvPr/>
        </p:nvSpPr>
        <p:spPr>
          <a:xfrm>
            <a:off x="1585634" y="5611993"/>
            <a:ext cx="587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 “writable” share may be split into two “readable” shares.</a:t>
            </a:r>
          </a:p>
        </p:txBody>
      </p:sp>
    </p:spTree>
    <p:extLst>
      <p:ext uri="{BB962C8B-B14F-4D97-AF65-F5344CB8AC3E}">
        <p14:creationId xmlns:p14="http://schemas.microsoft.com/office/powerpoint/2010/main" val="913851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rrow: Right 51">
            <a:extLst>
              <a:ext uri="{FF2B5EF4-FFF2-40B4-BE49-F238E27FC236}">
                <a16:creationId xmlns:a16="http://schemas.microsoft.com/office/drawing/2014/main" id="{0BD75730-948E-4E3D-8907-264FE3715F87}"/>
              </a:ext>
            </a:extLst>
          </p:cNvPr>
          <p:cNvSpPr/>
          <p:nvPr/>
        </p:nvSpPr>
        <p:spPr>
          <a:xfrm rot="10800000">
            <a:off x="3276600" y="5120668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493DADC-5ABA-0658-B0C5-DB0244BD17FE}"/>
              </a:ext>
            </a:extLst>
          </p:cNvPr>
          <p:cNvSpPr/>
          <p:nvPr/>
        </p:nvSpPr>
        <p:spPr>
          <a:xfrm>
            <a:off x="3276600" y="3977222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Splitting shares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6BA701-B4F9-A042-9B79-03499266CEF6}"/>
              </a:ext>
            </a:extLst>
          </p:cNvPr>
          <p:cNvGrpSpPr/>
          <p:nvPr/>
        </p:nvGrpSpPr>
        <p:grpSpPr>
          <a:xfrm>
            <a:off x="4838700" y="4990061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D968767-01B8-A1FC-1DB9-2A8F3A7F15ED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5218B5-93F3-5906-E2CE-BE3CFFC5C473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775B2B8-24A3-3404-A258-7247D029075E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2C9BD1F-04CF-AE79-D1C1-99878206D6E4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C0BF6C-1AF7-7BC3-EF9E-2B59E382A4AC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x⋅y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3FF735-0529-48DF-BBC1-9A296BFB3E2B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A9B24A9-DAF9-EF29-1206-5A4697A4BEC3}"/>
              </a:ext>
            </a:extLst>
          </p:cNvPr>
          <p:cNvSpPr txBox="1"/>
          <p:nvPr/>
        </p:nvSpPr>
        <p:spPr>
          <a:xfrm>
            <a:off x="3824530" y="531294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BBEEB-1A62-9D53-B0F5-57BC3076A3AA}"/>
              </a:ext>
            </a:extLst>
          </p:cNvPr>
          <p:cNvSpPr txBox="1"/>
          <p:nvPr/>
        </p:nvSpPr>
        <p:spPr>
          <a:xfrm>
            <a:off x="990600" y="244858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EFE3C5-5828-327C-7F00-DF07E9FBA0A2}"/>
              </a:ext>
            </a:extLst>
          </p:cNvPr>
          <p:cNvSpPr txBox="1"/>
          <p:nvPr/>
        </p:nvSpPr>
        <p:spPr>
          <a:xfrm>
            <a:off x="5666808" y="2480878"/>
            <a:ext cx="118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E5C3C3-F05E-632D-47E2-0AC3947745E9}"/>
                  </a:ext>
                </a:extLst>
              </p:cNvPr>
              <p:cNvSpPr txBox="1"/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E5C3C3-F05E-632D-47E2-0AC394774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6EA1382-F196-EE37-17FE-17BEF2608D0F}"/>
              </a:ext>
            </a:extLst>
          </p:cNvPr>
          <p:cNvGrpSpPr/>
          <p:nvPr/>
        </p:nvGrpSpPr>
        <p:grpSpPr>
          <a:xfrm>
            <a:off x="1530972" y="2982380"/>
            <a:ext cx="838200" cy="609600"/>
            <a:chOff x="5715000" y="2940378"/>
            <a:chExt cx="838200" cy="6096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112085C-8336-0EAA-96BC-ACE22E2CC87E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DB6AFF2-0746-153B-AF21-BE5867F7BF06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49E5306-43B3-F3BC-F8EB-98DF48A6C9AB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34E1185-3645-DF4D-D8FE-FE181D29E92B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FE668C7-EC64-F2BD-94DD-86948D36CEA6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51268F-FF01-E6E2-AA49-B826FFF0CD08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EEACC9-00E5-31C9-C55B-287C27C310D3}"/>
                  </a:ext>
                </a:extLst>
              </p:cNvPr>
              <p:cNvSpPr txBox="1"/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EEACC9-00E5-31C9-C55B-287C27C31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4B0FDDB-6C5E-E4B0-D580-7E56F2EBC8EB}"/>
              </a:ext>
            </a:extLst>
          </p:cNvPr>
          <p:cNvGrpSpPr/>
          <p:nvPr/>
        </p:nvGrpSpPr>
        <p:grpSpPr>
          <a:xfrm>
            <a:off x="3160013" y="2982380"/>
            <a:ext cx="838200" cy="609600"/>
            <a:chOff x="5715000" y="2940378"/>
            <a:chExt cx="838200" cy="6096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7A0F9A8-FDD2-865F-3BBB-64FAE6205B7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ACC2E2E-5C66-C00B-8585-AB3BB647C406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64C80E1-497E-97E0-1BA8-CD30CBACEF4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106A4FCA-463A-7645-C5B1-37AB494711A9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343650F-4B1E-CCB6-CFA2-FBBB8378B46D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847D418-9F22-7CEF-6EAB-2AD1642989D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BCFB6F5-866A-6CCD-81F5-F81D2155F213}"/>
              </a:ext>
            </a:extLst>
          </p:cNvPr>
          <p:cNvSpPr txBox="1"/>
          <p:nvPr/>
        </p:nvSpPr>
        <p:spPr>
          <a:xfrm>
            <a:off x="3144289" y="354280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REMEMBER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2AD70-3122-4311-9C2F-15731CF246A2}"/>
              </a:ext>
            </a:extLst>
          </p:cNvPr>
          <p:cNvSpPr txBox="1"/>
          <p:nvPr/>
        </p:nvSpPr>
        <p:spPr>
          <a:xfrm>
            <a:off x="2573944" y="2993283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FB1BBB3-DDB9-81FA-3292-56338FC25F51}"/>
              </a:ext>
            </a:extLst>
          </p:cNvPr>
          <p:cNvGrpSpPr/>
          <p:nvPr/>
        </p:nvGrpSpPr>
        <p:grpSpPr>
          <a:xfrm>
            <a:off x="4663943" y="2982380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78A79F5-2A96-FA07-4EE4-E08749C1D8D8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A73D9B5E-F728-901B-B8BE-DA415E44E0F4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AE3E6D6-5AD0-F9A8-1941-8FCDEAC77D47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5B8CE3E-CA63-71A4-3A04-AC91EF5C0511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9B525C-DE46-998E-D26A-B464A684499B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ECFB019-D1C1-4CCE-A180-92386C704432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51D877E8-ECC3-936A-BD4A-F7162782D3AD}"/>
              </a:ext>
            </a:extLst>
          </p:cNvPr>
          <p:cNvSpPr txBox="1"/>
          <p:nvPr/>
        </p:nvSpPr>
        <p:spPr>
          <a:xfrm>
            <a:off x="4162878" y="2993283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8B85DA4-7F35-BC3D-35D1-7182C979B308}"/>
                  </a:ext>
                </a:extLst>
              </p:cNvPr>
              <p:cNvSpPr txBox="1"/>
              <p:nvPr/>
            </p:nvSpPr>
            <p:spPr>
              <a:xfrm>
                <a:off x="5468533" y="4191300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8B85DA4-7F35-BC3D-35D1-7182C979B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33" y="4191300"/>
                <a:ext cx="479554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5778B94-16FA-5E62-788F-33EEA2CF574E}"/>
                  </a:ext>
                </a:extLst>
              </p:cNvPr>
              <p:cNvSpPr txBox="1"/>
              <p:nvPr/>
            </p:nvSpPr>
            <p:spPr>
              <a:xfrm>
                <a:off x="5597085" y="5328334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5778B94-16FA-5E62-788F-33EEA2CF5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85" y="5328334"/>
                <a:ext cx="479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95435DAD-8936-AA83-E728-ED8ACA498FBE}"/>
              </a:ext>
            </a:extLst>
          </p:cNvPr>
          <p:cNvSpPr txBox="1"/>
          <p:nvPr/>
        </p:nvSpPr>
        <p:spPr>
          <a:xfrm>
            <a:off x="4767742" y="3541037"/>
            <a:ext cx="451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ASK</a:t>
            </a:r>
            <a:endParaRPr lang="en-US" b="0" dirty="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FA7EE0E-D581-79DC-BFDE-74E696C040B9}"/>
              </a:ext>
            </a:extLst>
          </p:cNvPr>
          <p:cNvGrpSpPr/>
          <p:nvPr/>
        </p:nvGrpSpPr>
        <p:grpSpPr>
          <a:xfrm>
            <a:off x="4648200" y="3890823"/>
            <a:ext cx="838200" cy="609600"/>
            <a:chOff x="5715000" y="2940378"/>
            <a:chExt cx="838200" cy="60960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41998C2-3A5C-9805-8FA3-136A19FC21E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10451471-DE3E-E3BF-1706-6D595B5C2D3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F65C4FF-D140-8FDB-9BD0-09B1D1E4D8BD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60A3C215-D859-20F0-849C-B92F401F2CD3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2736887-41CC-FAB7-9212-30CA3B5E624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37CB9D1-208B-E965-E0FA-E68B75ADCFE7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1E6E052B-1506-E1B9-62B8-68066CF8B59B}"/>
              </a:ext>
            </a:extLst>
          </p:cNvPr>
          <p:cNvSpPr txBox="1"/>
          <p:nvPr/>
        </p:nvSpPr>
        <p:spPr>
          <a:xfrm>
            <a:off x="4056720" y="4258003"/>
            <a:ext cx="58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ASK</a:t>
            </a:r>
            <a:endParaRPr lang="en-US" sz="24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B5E42-4DB1-808A-258F-6F76BE702783}"/>
              </a:ext>
            </a:extLst>
          </p:cNvPr>
          <p:cNvSpPr txBox="1"/>
          <p:nvPr/>
        </p:nvSpPr>
        <p:spPr>
          <a:xfrm>
            <a:off x="471145" y="5879498"/>
            <a:ext cx="7760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Split a “Top” share into a “Remember” share (readable </a:t>
            </a:r>
            <a:r>
              <a:rPr lang="en-US" dirty="0" err="1">
                <a:solidFill>
                  <a:srgbClr val="00B050"/>
                </a:solidFill>
              </a:rPr>
              <a:t>x,y,n</a:t>
            </a:r>
            <a:r>
              <a:rPr lang="en-US" dirty="0">
                <a:solidFill>
                  <a:srgbClr val="00B050"/>
                </a:solidFill>
              </a:rPr>
              <a:t>; no-access result)</a:t>
            </a:r>
          </a:p>
          <a:p>
            <a:r>
              <a:rPr lang="en-US" dirty="0">
                <a:solidFill>
                  <a:srgbClr val="00B050"/>
                </a:solidFill>
              </a:rPr>
              <a:t>and an “Ask/Answer” share (readable </a:t>
            </a:r>
            <a:r>
              <a:rPr lang="en-US" dirty="0" err="1">
                <a:solidFill>
                  <a:srgbClr val="00B050"/>
                </a:solidFill>
              </a:rPr>
              <a:t>x,y,n</a:t>
            </a:r>
            <a:r>
              <a:rPr lang="en-US" dirty="0">
                <a:solidFill>
                  <a:srgbClr val="00B050"/>
                </a:solidFill>
              </a:rPr>
              <a:t>; writable result)</a:t>
            </a:r>
          </a:p>
        </p:txBody>
      </p:sp>
    </p:spTree>
    <p:extLst>
      <p:ext uri="{BB962C8B-B14F-4D97-AF65-F5344CB8AC3E}">
        <p14:creationId xmlns:p14="http://schemas.microsoft.com/office/powerpoint/2010/main" val="2196650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5C99-962C-31D5-92AC-84FF4C9B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A4D9AD-3C4C-4FFD-8002-2C0176C39B26}"/>
              </a:ext>
            </a:extLst>
          </p:cNvPr>
          <p:cNvSpPr/>
          <p:nvPr/>
        </p:nvSpPr>
        <p:spPr>
          <a:xfrm rot="10800000">
            <a:off x="3276600" y="4931207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202CE9-8FFD-6F37-AF11-AE00D7A861AD}"/>
              </a:ext>
            </a:extLst>
          </p:cNvPr>
          <p:cNvSpPr/>
          <p:nvPr/>
        </p:nvSpPr>
        <p:spPr>
          <a:xfrm>
            <a:off x="3276600" y="3977222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56816-C746-B484-F8F5-F9C653EC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Splitting shares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BF931-12C5-CA53-D19A-D1694190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82BC04-3B01-49EB-D9E1-E8D65F1497D6}"/>
              </a:ext>
            </a:extLst>
          </p:cNvPr>
          <p:cNvGrpSpPr/>
          <p:nvPr/>
        </p:nvGrpSpPr>
        <p:grpSpPr>
          <a:xfrm>
            <a:off x="4838700" y="4800600"/>
            <a:ext cx="838200" cy="609600"/>
            <a:chOff x="5715000" y="2940378"/>
            <a:chExt cx="838200" cy="609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9A2814F-284C-44AE-6660-78758E00D5A0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AEDDAEA-D418-D693-67CE-96E3895CF2F8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8464388-579A-96D8-0708-04DC223E91B5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F445DDB-AE88-FB8E-0FF2-E9C8D59402BE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0B69C86-31A6-67CA-D61F-54F4999AD661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x⋅y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3D423C8-59AD-F8C6-7FD0-EC6EDDDF2777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86F1A44-5057-E921-40E2-9509AA2DBE54}"/>
              </a:ext>
            </a:extLst>
          </p:cNvPr>
          <p:cNvSpPr txBox="1"/>
          <p:nvPr/>
        </p:nvSpPr>
        <p:spPr>
          <a:xfrm>
            <a:off x="3824530" y="512348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3F8AB-9192-191C-9D67-CA1B4FB42941}"/>
              </a:ext>
            </a:extLst>
          </p:cNvPr>
          <p:cNvSpPr txBox="1"/>
          <p:nvPr/>
        </p:nvSpPr>
        <p:spPr>
          <a:xfrm>
            <a:off x="990600" y="244858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36BF4E-80AA-7E66-ECCF-DCCD31442AA5}"/>
              </a:ext>
            </a:extLst>
          </p:cNvPr>
          <p:cNvSpPr txBox="1"/>
          <p:nvPr/>
        </p:nvSpPr>
        <p:spPr>
          <a:xfrm>
            <a:off x="5666808" y="2480878"/>
            <a:ext cx="118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5A914A7-B79D-BA5E-5224-46641236AFF2}"/>
                  </a:ext>
                </a:extLst>
              </p:cNvPr>
              <p:cNvSpPr txBox="1"/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5A914A7-B79D-BA5E-5224-46641236A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49" y="1152478"/>
                <a:ext cx="4572000" cy="890628"/>
              </a:xfrm>
              <a:prstGeom prst="rect">
                <a:avLst/>
              </a:prstGeom>
              <a:blipFill>
                <a:blip r:embed="rId2"/>
                <a:stretch>
                  <a:fillRect l="-277" r="-1108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5D9D729-D111-DF32-E453-4647327A7D73}"/>
              </a:ext>
            </a:extLst>
          </p:cNvPr>
          <p:cNvGrpSpPr/>
          <p:nvPr/>
        </p:nvGrpSpPr>
        <p:grpSpPr>
          <a:xfrm>
            <a:off x="1530972" y="2982380"/>
            <a:ext cx="838200" cy="609600"/>
            <a:chOff x="5715000" y="2940378"/>
            <a:chExt cx="838200" cy="6096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19C0AB8-E0FD-4576-6839-C75F4F8B0F7E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2854DD4-7EC8-D770-240F-C40B484CF95B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97490A8-E3AE-D3CB-3D10-FAC8B58EBE90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FD1E5E7-EF18-09D8-021B-DEF463D73488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9DE5ABF-4EDE-4075-E3A5-244159D2CAA3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E7AB256-8A29-6ABD-0823-A116199C4FE9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13977E-0336-028A-C9D3-BCBBDEBE80EF}"/>
                  </a:ext>
                </a:extLst>
              </p:cNvPr>
              <p:cNvSpPr txBox="1"/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13977E-0336-028A-C9D3-BCBBDEBE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583" y="3361249"/>
                <a:ext cx="388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4472E15B-0E83-DA7E-FD1C-9EF1E417CFA5}"/>
              </a:ext>
            </a:extLst>
          </p:cNvPr>
          <p:cNvGrpSpPr/>
          <p:nvPr/>
        </p:nvGrpSpPr>
        <p:grpSpPr>
          <a:xfrm>
            <a:off x="3160013" y="2982380"/>
            <a:ext cx="838200" cy="609600"/>
            <a:chOff x="5715000" y="2940378"/>
            <a:chExt cx="838200" cy="6096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30287D4-0452-545B-FD17-C29D28D14612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FD215EF3-C3C0-B91F-63C3-0EA81C1CB77F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F6A0F37E-59A8-53EB-2F3B-A622A8BF6626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0BEBBE1-902A-3EE8-C9A4-DA4F05709244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50AD35A1-E736-E054-55CD-893CAA59368A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D6E4AC3-6283-8632-1B0F-AE3E0A5AE65C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C0741097-1567-9350-6AE0-D5DE7F986675}"/>
              </a:ext>
            </a:extLst>
          </p:cNvPr>
          <p:cNvSpPr txBox="1"/>
          <p:nvPr/>
        </p:nvSpPr>
        <p:spPr>
          <a:xfrm>
            <a:off x="3144289" y="354280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REMEMBER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02FBD-9901-17BE-BF90-5385AE039D45}"/>
              </a:ext>
            </a:extLst>
          </p:cNvPr>
          <p:cNvSpPr txBox="1"/>
          <p:nvPr/>
        </p:nvSpPr>
        <p:spPr>
          <a:xfrm>
            <a:off x="2573944" y="2993283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4F5B8EB-9AE4-8918-C9AC-E801946E5E38}"/>
              </a:ext>
            </a:extLst>
          </p:cNvPr>
          <p:cNvGrpSpPr/>
          <p:nvPr/>
        </p:nvGrpSpPr>
        <p:grpSpPr>
          <a:xfrm>
            <a:off x="4663943" y="2982380"/>
            <a:ext cx="838200" cy="609600"/>
            <a:chOff x="5715000" y="2940378"/>
            <a:chExt cx="838200" cy="60960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9887BE0-C5A9-B87A-A06A-2267959EDDCF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68CDF8D-D821-B29C-D505-29E5935DA2A5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7C13FC1-171B-6586-8D7F-E8C1A7BE8C34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30901B0-23FB-7CAE-2B68-F82A76FC688B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00E8772-21C4-8955-CA53-EF3BAF915E80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A313382-555A-F7C5-476A-CD13F71F408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24FC5B2C-5259-71BA-4753-12BC6B0F8B54}"/>
              </a:ext>
            </a:extLst>
          </p:cNvPr>
          <p:cNvSpPr txBox="1"/>
          <p:nvPr/>
        </p:nvSpPr>
        <p:spPr>
          <a:xfrm>
            <a:off x="4162878" y="2993283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E54CE9C-6753-8117-90F5-8E925B32EDD1}"/>
                  </a:ext>
                </a:extLst>
              </p:cNvPr>
              <p:cNvSpPr txBox="1"/>
              <p:nvPr/>
            </p:nvSpPr>
            <p:spPr>
              <a:xfrm>
                <a:off x="5468533" y="4191300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E54CE9C-6753-8117-90F5-8E925B32E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33" y="4191300"/>
                <a:ext cx="4795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35C7F0E-AB33-DA31-88EB-D09547599F5A}"/>
                  </a:ext>
                </a:extLst>
              </p:cNvPr>
              <p:cNvSpPr txBox="1"/>
              <p:nvPr/>
            </p:nvSpPr>
            <p:spPr>
              <a:xfrm>
                <a:off x="5597085" y="5138873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35C7F0E-AB33-DA31-88EB-D09547599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85" y="5138873"/>
                <a:ext cx="479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B2BCF64-7FAD-3D0C-C6AE-6BB2C796F74B}"/>
              </a:ext>
            </a:extLst>
          </p:cNvPr>
          <p:cNvGrpSpPr/>
          <p:nvPr/>
        </p:nvGrpSpPr>
        <p:grpSpPr>
          <a:xfrm>
            <a:off x="2209800" y="5606210"/>
            <a:ext cx="5715000" cy="923292"/>
            <a:chOff x="2209800" y="5795671"/>
            <a:chExt cx="5715000" cy="92329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04425A8-6B92-772C-2E35-DBC0661255D4}"/>
                </a:ext>
              </a:extLst>
            </p:cNvPr>
            <p:cNvSpPr/>
            <p:nvPr/>
          </p:nvSpPr>
          <p:spPr>
            <a:xfrm>
              <a:off x="2209800" y="5795671"/>
              <a:ext cx="5715000" cy="923292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F31EED6-0D6D-F35B-DC8F-5A8311208081}"/>
                </a:ext>
              </a:extLst>
            </p:cNvPr>
            <p:cNvGrpSpPr/>
            <p:nvPr/>
          </p:nvGrpSpPr>
          <p:grpSpPr>
            <a:xfrm>
              <a:off x="2696065" y="5970762"/>
              <a:ext cx="838200" cy="609600"/>
              <a:chOff x="5715000" y="2940378"/>
              <a:chExt cx="838200" cy="6096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A668F175-3353-44EB-881C-AFA7213D5D4F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F7AE4D72-DE39-3608-59FA-FB42B97837BC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843778DB-0753-3298-E9C8-C8E7EEEBA7B4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23932968-1037-5E7A-F91C-7C5303003F22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0F228BA2-D649-1DC3-5BCD-3E5E7B48A72F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2A468D4D-7894-9C4D-6B0E-F1F010787E04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D845F4E7-282C-E820-A000-325474C6C9E3}"/>
                    </a:ext>
                  </a:extLst>
                </p:cNvPr>
                <p:cNvSpPr txBox="1"/>
                <p:nvPr/>
              </p:nvSpPr>
              <p:spPr>
                <a:xfrm>
                  <a:off x="3489676" y="6349631"/>
                  <a:ext cx="4742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D845F4E7-282C-E820-A000-325474C6C9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9676" y="6349631"/>
                  <a:ext cx="47423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8B47D1D-B72C-9552-470A-EE4ED8DF8093}"/>
                </a:ext>
              </a:extLst>
            </p:cNvPr>
            <p:cNvGrpSpPr/>
            <p:nvPr/>
          </p:nvGrpSpPr>
          <p:grpSpPr>
            <a:xfrm>
              <a:off x="4199995" y="5970762"/>
              <a:ext cx="838200" cy="609600"/>
              <a:chOff x="5715000" y="2940378"/>
              <a:chExt cx="838200" cy="609600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C7C1BC65-8D78-AB63-F1D4-D5BA54996BD0}"/>
                  </a:ext>
                </a:extLst>
              </p:cNvPr>
              <p:cNvGrpSpPr/>
              <p:nvPr/>
            </p:nvGrpSpPr>
            <p:grpSpPr>
              <a:xfrm>
                <a:off x="5715000" y="2940378"/>
                <a:ext cx="838200" cy="609600"/>
                <a:chOff x="762000" y="4423042"/>
                <a:chExt cx="762000" cy="60960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2E7ABBD0-78BF-50B2-E539-66E53BE54706}"/>
                    </a:ext>
                  </a:extLst>
                </p:cNvPr>
                <p:cNvSpPr/>
                <p:nvPr/>
              </p:nvSpPr>
              <p:spPr>
                <a:xfrm>
                  <a:off x="762000" y="4423844"/>
                  <a:ext cx="381000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pc="-150" dirty="0">
                      <a:solidFill>
                        <a:schemeClr val="tx1"/>
                      </a:solidFill>
                    </a:rPr>
                    <a:t>x’</a:t>
                  </a:r>
                  <a:endParaRPr lang="en-US" sz="900" spc="-1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9F884DCD-9769-75A5-CEFD-9C5CB2414743}"/>
                    </a:ext>
                  </a:extLst>
                </p:cNvPr>
                <p:cNvSpPr/>
                <p:nvPr/>
              </p:nvSpPr>
              <p:spPr>
                <a:xfrm>
                  <a:off x="1143000" y="4423042"/>
                  <a:ext cx="381000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pc="-150" dirty="0">
                      <a:solidFill>
                        <a:schemeClr val="tx1"/>
                      </a:solidFill>
                      <a:latin typeface="Cambria Math"/>
                    </a:rPr>
                    <a:t>y’</a:t>
                  </a:r>
                  <a:endParaRPr kumimoji="0" lang="en-US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96CC9D0-87B8-7BDF-FE70-6F9495A2639F}"/>
                    </a:ext>
                  </a:extLst>
                </p:cNvPr>
                <p:cNvSpPr/>
                <p:nvPr/>
              </p:nvSpPr>
              <p:spPr>
                <a:xfrm>
                  <a:off x="762000" y="4727842"/>
                  <a:ext cx="312417" cy="304800"/>
                </a:xfrm>
                <a:prstGeom prst="rect">
                  <a:avLst/>
                </a:prstGeom>
                <a:pattFill prst="dkHorz">
                  <a:fgClr>
                    <a:schemeClr val="accent3">
                      <a:lumMod val="40000"/>
                      <a:lumOff val="60000"/>
                    </a:schemeClr>
                  </a:fgClr>
                  <a:bgClr>
                    <a:schemeClr val="bg1"/>
                  </a:bgClr>
                </a:patt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DCDFF3A5-6A2C-8583-7C1D-7CA95DE7B588}"/>
                    </a:ext>
                  </a:extLst>
                </p:cNvPr>
                <p:cNvSpPr/>
                <p:nvPr/>
              </p:nvSpPr>
              <p:spPr>
                <a:xfrm>
                  <a:off x="1074417" y="4727441"/>
                  <a:ext cx="449583" cy="304800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rPr>
                    <a:t>x’⋅y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rPr>
                    <a:t>’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A79D5C1-7BAF-CEFE-E00F-DD9E524A1C6B}"/>
                  </a:ext>
                </a:extLst>
              </p:cNvPr>
              <p:cNvSpPr/>
              <p:nvPr/>
            </p:nvSpPr>
            <p:spPr>
              <a:xfrm>
                <a:off x="5715000" y="2945331"/>
                <a:ext cx="838200" cy="6042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206BB2-5E4F-FDA8-A981-A150DD9583A1}"/>
                    </a:ext>
                  </a:extLst>
                </p:cNvPr>
                <p:cNvSpPr txBox="1"/>
                <p:nvPr/>
              </p:nvSpPr>
              <p:spPr>
                <a:xfrm>
                  <a:off x="4993606" y="6349631"/>
                  <a:ext cx="479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206BB2-5E4F-FDA8-A981-A150DD958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3606" y="6349631"/>
                  <a:ext cx="47955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DAEF90B-656B-78EE-71BD-3F130E8452DE}"/>
                </a:ext>
              </a:extLst>
            </p:cNvPr>
            <p:cNvSpPr txBox="1"/>
            <p:nvPr/>
          </p:nvSpPr>
          <p:spPr>
            <a:xfrm>
              <a:off x="3698930" y="5981665"/>
              <a:ext cx="357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∗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2A4D0BB-B812-1D0B-8C47-E566DABA1723}"/>
                </a:ext>
              </a:extLst>
            </p:cNvPr>
            <p:cNvSpPr txBox="1"/>
            <p:nvPr/>
          </p:nvSpPr>
          <p:spPr>
            <a:xfrm>
              <a:off x="5381069" y="5970762"/>
              <a:ext cx="23913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⊢  x=x’ ∧ y=y’  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095A99E-1C5C-AF99-D0F0-11C0E72DA02A}"/>
              </a:ext>
            </a:extLst>
          </p:cNvPr>
          <p:cNvSpPr txBox="1"/>
          <p:nvPr/>
        </p:nvSpPr>
        <p:spPr>
          <a:xfrm>
            <a:off x="4767742" y="3541037"/>
            <a:ext cx="451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ASK</a:t>
            </a:r>
            <a:endParaRPr lang="en-US" b="0" dirty="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45ED4B0-49C6-0619-C04D-6788D643147D}"/>
              </a:ext>
            </a:extLst>
          </p:cNvPr>
          <p:cNvGrpSpPr/>
          <p:nvPr/>
        </p:nvGrpSpPr>
        <p:grpSpPr>
          <a:xfrm>
            <a:off x="4648200" y="3890823"/>
            <a:ext cx="838200" cy="609600"/>
            <a:chOff x="5715000" y="2940378"/>
            <a:chExt cx="838200" cy="60960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B384D3C-38AD-1926-CA52-556F1CB84D1E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D0330480-52C8-6293-54B1-8C45F6BF061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86276653-1284-2E54-248B-C2F6FB873CCB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50AB74DC-2681-F66E-641F-6EB426F7C4CB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AE4D020-8FBE-CDB8-A899-8728122FCD4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7EAB567-2001-267C-A08A-51C95DA21AF4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85FF7DA-FE93-4657-2229-83A86224C1F3}"/>
              </a:ext>
            </a:extLst>
          </p:cNvPr>
          <p:cNvSpPr txBox="1"/>
          <p:nvPr/>
        </p:nvSpPr>
        <p:spPr>
          <a:xfrm>
            <a:off x="4056720" y="4258003"/>
            <a:ext cx="58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ASK</a:t>
            </a:r>
            <a:endParaRPr lang="en-US" sz="24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8C8CC-24AE-5638-16A6-45DA55511C65}"/>
              </a:ext>
            </a:extLst>
          </p:cNvPr>
          <p:cNvSpPr txBox="1"/>
          <p:nvPr/>
        </p:nvSpPr>
        <p:spPr>
          <a:xfrm>
            <a:off x="184160" y="5323338"/>
            <a:ext cx="65976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Fact: If you join two readable</a:t>
            </a:r>
          </a:p>
          <a:p>
            <a:r>
              <a:rPr lang="en-US" dirty="0">
                <a:solidFill>
                  <a:srgbClr val="00B050"/>
                </a:solidFill>
              </a:rPr>
              <a:t> shares, the values</a:t>
            </a:r>
          </a:p>
          <a:p>
            <a:r>
              <a:rPr lang="en-US" dirty="0">
                <a:solidFill>
                  <a:srgbClr val="00B050"/>
                </a:solidFill>
              </a:rPr>
              <a:t>must be the same!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So we make sure the answer corresponds to the </a:t>
            </a:r>
            <a:r>
              <a:rPr lang="en-US" u="sng" dirty="0">
                <a:solidFill>
                  <a:srgbClr val="00B050"/>
                </a:solidFill>
              </a:rPr>
              <a:t>original</a:t>
            </a:r>
            <a:r>
              <a:rPr lang="en-US" dirty="0">
                <a:solidFill>
                  <a:srgbClr val="00B050"/>
                </a:solidFill>
              </a:rPr>
              <a:t> question.</a:t>
            </a:r>
          </a:p>
        </p:txBody>
      </p:sp>
    </p:spTree>
    <p:extLst>
      <p:ext uri="{BB962C8B-B14F-4D97-AF65-F5344CB8AC3E}">
        <p14:creationId xmlns:p14="http://schemas.microsoft.com/office/powerpoint/2010/main" val="3296733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6493DADC-5ABA-0658-B0C5-DB0244BD17FE}"/>
              </a:ext>
            </a:extLst>
          </p:cNvPr>
          <p:cNvSpPr/>
          <p:nvPr/>
        </p:nvSpPr>
        <p:spPr>
          <a:xfrm>
            <a:off x="2543496" y="3120589"/>
            <a:ext cx="3962400" cy="3921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20F9B-2C36-395D-6706-6B8B6AF9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Must also split shares of . . 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932AE-2831-B597-2212-5B095332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8B85DA4-7F35-BC3D-35D1-7182C979B308}"/>
                  </a:ext>
                </a:extLst>
              </p:cNvPr>
              <p:cNvSpPr txBox="1"/>
              <p:nvPr/>
            </p:nvSpPr>
            <p:spPr>
              <a:xfrm>
                <a:off x="4735429" y="3334667"/>
                <a:ext cx="479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8B85DA4-7F35-BC3D-35D1-7182C979B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429" y="3334667"/>
                <a:ext cx="4795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FA7EE0E-D581-79DC-BFDE-74E696C040B9}"/>
              </a:ext>
            </a:extLst>
          </p:cNvPr>
          <p:cNvGrpSpPr/>
          <p:nvPr/>
        </p:nvGrpSpPr>
        <p:grpSpPr>
          <a:xfrm>
            <a:off x="3915096" y="3034190"/>
            <a:ext cx="838200" cy="609600"/>
            <a:chOff x="5715000" y="2940378"/>
            <a:chExt cx="838200" cy="60960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41998C2-3A5C-9805-8FA3-136A19FC21E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10451471-DE3E-E3BF-1706-6D595B5C2D31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F65C4FF-D140-8FDB-9BD0-09B1D1E4D8BD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60A3C215-D859-20F0-849C-B92F401F2CD3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2736887-41CC-FAB7-9212-30CA3B5E6244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37CB9D1-208B-E965-E0FA-E68B75ADCFE7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1E6E052B-1506-E1B9-62B8-68066CF8B59B}"/>
              </a:ext>
            </a:extLst>
          </p:cNvPr>
          <p:cNvSpPr txBox="1"/>
          <p:nvPr/>
        </p:nvSpPr>
        <p:spPr>
          <a:xfrm>
            <a:off x="3323616" y="3401370"/>
            <a:ext cx="58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ASK</a:t>
            </a:r>
            <a:endParaRPr lang="en-US" sz="2400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7B5BA85-095C-A546-A150-75975284C45D}"/>
              </a:ext>
            </a:extLst>
          </p:cNvPr>
          <p:cNvGrpSpPr/>
          <p:nvPr/>
        </p:nvGrpSpPr>
        <p:grpSpPr>
          <a:xfrm>
            <a:off x="5024483" y="2228608"/>
            <a:ext cx="381000" cy="633998"/>
            <a:chOff x="4724400" y="2951413"/>
            <a:chExt cx="381000" cy="633998"/>
          </a:xfrm>
          <a:pattFill prst="dkHorz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07C76CC-296A-9F77-A5BF-D257812172A9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E24D82-7E2D-38E8-E837-4BD51385835A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2B4C029-5910-09FD-EAAA-3A3803F6F4D6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13BB53-5ECF-7CA5-5E2F-ED8BEB02C1E9}"/>
              </a:ext>
            </a:extLst>
          </p:cNvPr>
          <p:cNvGrpSpPr/>
          <p:nvPr/>
        </p:nvGrpSpPr>
        <p:grpSpPr>
          <a:xfrm>
            <a:off x="5560731" y="2225165"/>
            <a:ext cx="381000" cy="633998"/>
            <a:chOff x="4724400" y="2951413"/>
            <a:chExt cx="381000" cy="633998"/>
          </a:xfrm>
          <a:pattFill prst="dkHorz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37573CD-6CB4-869F-8261-38978D73D474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D423D59-63E8-20AD-4BA7-8307F451BC70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BC01E7-E5C4-9123-DCB9-B3ED580A2DE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34EEBE-6AF9-47F1-DE3A-4FB6D1FC4C8A}"/>
              </a:ext>
            </a:extLst>
          </p:cNvPr>
          <p:cNvCxnSpPr>
            <a:cxnSpLocks/>
            <a:endCxn id="78" idx="1"/>
          </p:cNvCxnSpPr>
          <p:nvPr/>
        </p:nvCxnSpPr>
        <p:spPr>
          <a:xfrm flipV="1">
            <a:off x="4543231" y="2331327"/>
            <a:ext cx="1017500" cy="84034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2150653-772B-BD78-8134-F74E5C63AD3D}"/>
              </a:ext>
            </a:extLst>
          </p:cNvPr>
          <p:cNvCxnSpPr>
            <a:cxnSpLocks/>
          </p:cNvCxnSpPr>
          <p:nvPr/>
        </p:nvCxnSpPr>
        <p:spPr>
          <a:xfrm flipV="1">
            <a:off x="4110745" y="2331327"/>
            <a:ext cx="904030" cy="8279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106257F-F3F4-46F7-1526-ADC62613729B}"/>
              </a:ext>
            </a:extLst>
          </p:cNvPr>
          <p:cNvGrpSpPr/>
          <p:nvPr/>
        </p:nvGrpSpPr>
        <p:grpSpPr>
          <a:xfrm>
            <a:off x="1191194" y="2219590"/>
            <a:ext cx="838200" cy="609600"/>
            <a:chOff x="5715000" y="2940378"/>
            <a:chExt cx="838200" cy="6096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4712D5-37F3-FAB1-0E12-5734BF6B6C93}"/>
                </a:ext>
              </a:extLst>
            </p:cNvPr>
            <p:cNvGrpSpPr/>
            <p:nvPr/>
          </p:nvGrpSpPr>
          <p:grpSpPr>
            <a:xfrm>
              <a:off x="5715000" y="2940378"/>
              <a:ext cx="838200" cy="609600"/>
              <a:chOff x="762000" y="4423042"/>
              <a:chExt cx="762000" cy="6096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9D3D39-9BCB-8E10-F5F3-9D0745C95E22}"/>
                  </a:ext>
                </a:extLst>
              </p:cNvPr>
              <p:cNvSpPr/>
              <p:nvPr/>
            </p:nvSpPr>
            <p:spPr>
              <a:xfrm>
                <a:off x="762000" y="4423844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spc="-150" dirty="0">
                    <a:solidFill>
                      <a:schemeClr val="tx1"/>
                    </a:solidFill>
                  </a:rPr>
                  <a:t>x</a:t>
                </a:r>
                <a:endParaRPr lang="en-US" sz="9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9689A0-4B7D-2DD8-6B6B-5A6EAFA80E58}"/>
                  </a:ext>
                </a:extLst>
              </p:cNvPr>
              <p:cNvSpPr/>
              <p:nvPr/>
            </p:nvSpPr>
            <p:spPr>
              <a:xfrm>
                <a:off x="1143000" y="4423042"/>
                <a:ext cx="381000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pc="-150" dirty="0">
                    <a:solidFill>
                      <a:schemeClr val="tx1"/>
                    </a:solidFill>
                    <a:latin typeface="Cambria Math"/>
                  </a:rPr>
                  <a:t>y</a:t>
                </a:r>
                <a:endParaRPr kumimoji="0" lang="en-US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AF2626-06F4-E45C-DF82-119E2B68BB52}"/>
                  </a:ext>
                </a:extLst>
              </p:cNvPr>
              <p:cNvSpPr/>
              <p:nvPr/>
            </p:nvSpPr>
            <p:spPr>
              <a:xfrm>
                <a:off x="762000" y="4727842"/>
                <a:ext cx="312417" cy="304800"/>
              </a:xfrm>
              <a:prstGeom prst="rect">
                <a:avLst/>
              </a:prstGeom>
              <a:pattFill prst="dkHorz">
                <a:fgClr>
                  <a:schemeClr val="accent3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1A2E18-B09B-9131-7BAE-468A8D5F766D}"/>
                  </a:ext>
                </a:extLst>
              </p:cNvPr>
              <p:cNvSpPr/>
              <p:nvPr/>
            </p:nvSpPr>
            <p:spPr>
              <a:xfrm>
                <a:off x="1074417" y="4727441"/>
                <a:ext cx="449583" cy="304800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8585A-BCA8-6209-87F7-8596288AAA0D}"/>
                </a:ext>
              </a:extLst>
            </p:cNvPr>
            <p:cNvSpPr/>
            <p:nvPr/>
          </p:nvSpPr>
          <p:spPr>
            <a:xfrm>
              <a:off x="5715000" y="2945331"/>
              <a:ext cx="838200" cy="604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0D02D1-F39A-2851-190A-1E5220D3BDB4}"/>
              </a:ext>
            </a:extLst>
          </p:cNvPr>
          <p:cNvSpPr txBox="1"/>
          <p:nvPr/>
        </p:nvSpPr>
        <p:spPr>
          <a:xfrm>
            <a:off x="1175470" y="2780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REMEMBER</a:t>
            </a:r>
            <a:endParaRPr lang="en-US" b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C17F36-591B-967A-95B9-2234BB66FDD2}"/>
              </a:ext>
            </a:extLst>
          </p:cNvPr>
          <p:cNvGrpSpPr/>
          <p:nvPr/>
        </p:nvGrpSpPr>
        <p:grpSpPr>
          <a:xfrm>
            <a:off x="2286890" y="1448836"/>
            <a:ext cx="381000" cy="633998"/>
            <a:chOff x="4724400" y="2951413"/>
            <a:chExt cx="381000" cy="633998"/>
          </a:xfrm>
          <a:pattFill prst="dkHorz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50E8AF-A4D4-8731-2910-BD423C787A3E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5913ED-00BC-4732-FDE6-B3AABF1ED5B9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0789B3-D1D8-B18D-AC5D-ADBF5B937CF3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EE1DD8-318F-E1ED-5341-5E8C2A318178}"/>
              </a:ext>
            </a:extLst>
          </p:cNvPr>
          <p:cNvGrpSpPr/>
          <p:nvPr/>
        </p:nvGrpSpPr>
        <p:grpSpPr>
          <a:xfrm>
            <a:off x="2823138" y="1445393"/>
            <a:ext cx="381000" cy="633998"/>
            <a:chOff x="4724400" y="2951413"/>
            <a:chExt cx="381000" cy="633998"/>
          </a:xfrm>
          <a:pattFill prst="dkHorz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A33B91-2C7C-6C08-3909-A0BBF2A9E800}"/>
                </a:ext>
              </a:extLst>
            </p:cNvPr>
            <p:cNvSpPr/>
            <p:nvPr/>
          </p:nvSpPr>
          <p:spPr>
            <a:xfrm>
              <a:off x="4724400" y="2951413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0ECFD2-AD92-89D8-4239-949A278C2CB6}"/>
                </a:ext>
              </a:extLst>
            </p:cNvPr>
            <p:cNvSpPr/>
            <p:nvPr/>
          </p:nvSpPr>
          <p:spPr>
            <a:xfrm>
              <a:off x="4724400" y="316373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322FE00-FEF7-C8B2-DAD2-50C201CAAA1A}"/>
                </a:ext>
              </a:extLst>
            </p:cNvPr>
            <p:cNvSpPr/>
            <p:nvPr/>
          </p:nvSpPr>
          <p:spPr>
            <a:xfrm>
              <a:off x="4724400" y="3373087"/>
              <a:ext cx="381000" cy="212324"/>
            </a:xfrm>
            <a:prstGeom prst="rect">
              <a:avLst/>
            </a:prstGeom>
            <a:grp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AED3C7-7E43-1605-389F-8247794B9D4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805638" y="1551555"/>
            <a:ext cx="1017500" cy="84034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853E0A-F27A-913E-5BEF-60136A2E60D3}"/>
              </a:ext>
            </a:extLst>
          </p:cNvPr>
          <p:cNvCxnSpPr>
            <a:cxnSpLocks/>
          </p:cNvCxnSpPr>
          <p:nvPr/>
        </p:nvCxnSpPr>
        <p:spPr>
          <a:xfrm flipV="1">
            <a:off x="1373152" y="1551555"/>
            <a:ext cx="904030" cy="8279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06657C-B645-4475-057D-9804C041BD33}"/>
                  </a:ext>
                </a:extLst>
              </p:cNvPr>
              <p:cNvSpPr txBox="1"/>
              <p:nvPr/>
            </p:nvSpPr>
            <p:spPr>
              <a:xfrm>
                <a:off x="1303388" y="4585730"/>
                <a:ext cx="61888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Not just the pointers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but also the pointed-to data 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must be split into “Remember” share and “Ask/Answer” share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06657C-B645-4475-057D-9804C041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388" y="4585730"/>
                <a:ext cx="6188810" cy="646331"/>
              </a:xfrm>
              <a:prstGeom prst="rect">
                <a:avLst/>
              </a:prstGeom>
              <a:blipFill>
                <a:blip r:embed="rId3"/>
                <a:stretch>
                  <a:fillRect l="-820" t="-1923" r="-820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4849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DFE0-69D8-71BB-6B83-F8D9CE04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functional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D7F09-4D73-E7B6-154D-8226E5B6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1066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Floating-point add is not associative, so cannot prove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83B49C-786B-24DC-12DA-114BB411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50107D-9957-F4C2-2BEA-AA6FF3E34B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33600" y="1913730"/>
                <a:ext cx="4038600" cy="17589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50107D-9957-F4C2-2BEA-AA6FF3E34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913730"/>
                <a:ext cx="4038600" cy="1758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42EC7FC-0AAB-B1C6-33AB-A3DE6AA469A0}"/>
              </a:ext>
            </a:extLst>
          </p:cNvPr>
          <p:cNvGrpSpPr/>
          <p:nvPr/>
        </p:nvGrpSpPr>
        <p:grpSpPr>
          <a:xfrm>
            <a:off x="453081" y="3505200"/>
            <a:ext cx="8229600" cy="3047999"/>
            <a:chOff x="453081" y="3505200"/>
            <a:chExt cx="8229600" cy="3047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ontent Placeholder 5">
                  <a:extLst>
                    <a:ext uri="{FF2B5EF4-FFF2-40B4-BE49-F238E27FC236}">
                      <a16:creationId xmlns:a16="http://schemas.microsoft.com/office/drawing/2014/main" id="{C2E74C8E-96B3-080A-E870-9B75E6524C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05000" y="4099718"/>
                  <a:ext cx="4038600" cy="185896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342900" indent="-3429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Content Placeholder 5">
                  <a:extLst>
                    <a:ext uri="{FF2B5EF4-FFF2-40B4-BE49-F238E27FC236}">
                      <a16:creationId xmlns:a16="http://schemas.microsoft.com/office/drawing/2014/main" id="{C2E74C8E-96B3-080A-E870-9B75E6524C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00" y="4099718"/>
                  <a:ext cx="4038600" cy="18589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ontent Placeholder 3">
              <a:extLst>
                <a:ext uri="{FF2B5EF4-FFF2-40B4-BE49-F238E27FC236}">
                  <a16:creationId xmlns:a16="http://schemas.microsoft.com/office/drawing/2014/main" id="{029E2279-60CF-6EE6-903E-03FF7B651490}"/>
                </a:ext>
              </a:extLst>
            </p:cNvPr>
            <p:cNvSpPr txBox="1">
              <a:spLocks/>
            </p:cNvSpPr>
            <p:nvPr/>
          </p:nvSpPr>
          <p:spPr>
            <a:xfrm>
              <a:off x="453081" y="3505200"/>
              <a:ext cx="8229600" cy="10668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dirty="0"/>
                <a:t>Instead we prove</a:t>
              </a:r>
            </a:p>
          </p:txBody>
        </p:sp>
        <p:sp>
          <p:nvSpPr>
            <p:cNvPr id="8" name="Content Placeholder 3">
              <a:extLst>
                <a:ext uri="{FF2B5EF4-FFF2-40B4-BE49-F238E27FC236}">
                  <a16:creationId xmlns:a16="http://schemas.microsoft.com/office/drawing/2014/main" id="{42E19092-1F6C-90C7-39D6-B76069737102}"/>
                </a:ext>
              </a:extLst>
            </p:cNvPr>
            <p:cNvSpPr txBox="1">
              <a:spLocks/>
            </p:cNvSpPr>
            <p:nvPr/>
          </p:nvSpPr>
          <p:spPr>
            <a:xfrm>
              <a:off x="453081" y="5486399"/>
              <a:ext cx="8229600" cy="10668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dirty="0"/>
                <a:t>                                                   and let the upper-layer proofs worry about accuracy of associativity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203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D2D5-EC39-3E1F-15C2-B6BA3705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Q.E.D.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FFB2E-5BBB-23E1-CD30-405D46C5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935C2-C6E6-EB4C-6343-1033E1BE468F}"/>
              </a:ext>
            </a:extLst>
          </p:cNvPr>
          <p:cNvSpPr txBox="1"/>
          <p:nvPr/>
        </p:nvSpPr>
        <p:spPr>
          <a:xfrm>
            <a:off x="2219208" y="2521059"/>
            <a:ext cx="470558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That’s my proof!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In Coq it’s a bit more verbose.</a:t>
            </a:r>
          </a:p>
        </p:txBody>
      </p:sp>
    </p:spTree>
    <p:extLst>
      <p:ext uri="{BB962C8B-B14F-4D97-AF65-F5344CB8AC3E}">
        <p14:creationId xmlns:p14="http://schemas.microsoft.com/office/powerpoint/2010/main" val="1094918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CBF1-3911-D244-B801-DA499800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does the program work?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0190A-36DA-EF39-6C60-8C000B6D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325D5-FC2E-8E42-62C5-6129762376F5}"/>
              </a:ext>
            </a:extLst>
          </p:cNvPr>
          <p:cNvSpPr txBox="1"/>
          <p:nvPr/>
        </p:nvSpPr>
        <p:spPr>
          <a:xfrm>
            <a:off x="990600" y="2435045"/>
            <a:ext cx="45961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 time 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dotprod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1000000 4 10000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N=1000000  T=4  R=10000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    10.415s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    40.703s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sys      0.140s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4530C95-6C70-2165-2E4E-7F6F58DE2C39}"/>
              </a:ext>
            </a:extLst>
          </p:cNvPr>
          <p:cNvSpPr/>
          <p:nvPr/>
        </p:nvSpPr>
        <p:spPr>
          <a:xfrm>
            <a:off x="3352800" y="3312208"/>
            <a:ext cx="304800" cy="802592"/>
          </a:xfrm>
          <a:prstGeom prst="rightBrace">
            <a:avLst>
              <a:gd name="adj1" fmla="val 5570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E13DD-FED8-3213-72DD-AE26269CE6CC}"/>
              </a:ext>
            </a:extLst>
          </p:cNvPr>
          <p:cNvSpPr txBox="1"/>
          <p:nvPr/>
        </p:nvSpPr>
        <p:spPr>
          <a:xfrm>
            <a:off x="3758597" y="3475847"/>
            <a:ext cx="318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speedup 3.9 with 4 processors</a:t>
            </a:r>
          </a:p>
        </p:txBody>
      </p:sp>
    </p:spTree>
    <p:extLst>
      <p:ext uri="{BB962C8B-B14F-4D97-AF65-F5344CB8AC3E}">
        <p14:creationId xmlns:p14="http://schemas.microsoft.com/office/powerpoint/2010/main" val="439510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EED8-0F8F-DD23-2C41-CEAE1E0E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Lines of program and proof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F475FE-903A-5B15-3BDB-8B4F1559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D91D4B-145C-B993-05B2-E69E6D379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25894"/>
              </p:ext>
            </p:extLst>
          </p:nvPr>
        </p:nvGraphicFramePr>
        <p:xfrm>
          <a:off x="990600" y="1397000"/>
          <a:ext cx="5486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305">
                  <a:extLst>
                    <a:ext uri="{9D8B030D-6E8A-4147-A177-3AD203B41FA5}">
                      <a16:colId xmlns:a16="http://schemas.microsoft.com/office/drawing/2014/main" val="4162764450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1850193845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1389392934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600636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Coq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27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dotprod</a:t>
                      </a:r>
                      <a:r>
                        <a:rPr lang="en-US" dirty="0"/>
                        <a:t>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4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12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parallelizer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7137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BB8CE-69B0-C2DA-0BCD-70E584CF64D2}"/>
              </a:ext>
            </a:extLst>
          </p:cNvPr>
          <p:cNvSpPr/>
          <p:nvPr/>
        </p:nvSpPr>
        <p:spPr>
          <a:xfrm>
            <a:off x="5334000" y="2873141"/>
            <a:ext cx="1295400" cy="6858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Ugh!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Too much.</a:t>
            </a:r>
          </a:p>
        </p:txBody>
      </p:sp>
    </p:spTree>
    <p:extLst>
      <p:ext uri="{BB962C8B-B14F-4D97-AF65-F5344CB8AC3E}">
        <p14:creationId xmlns:p14="http://schemas.microsoft.com/office/powerpoint/2010/main" val="2307048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75A0-8F74-E3A3-23C5-D72B3A7E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to find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5A4B8-24EF-F7FC-15B3-3380B5AD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678BB-D4CE-1C99-1CB6-25F2C5F54EF5}"/>
              </a:ext>
            </a:extLst>
          </p:cNvPr>
          <p:cNvSpPr txBox="1"/>
          <p:nvPr/>
        </p:nvSpPr>
        <p:spPr>
          <a:xfrm>
            <a:off x="2895600" y="1828800"/>
            <a:ext cx="579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https://github.com/VeriNum/pardotprod</a:t>
            </a:r>
            <a:endParaRPr lang="en-US" sz="2400" dirty="0"/>
          </a:p>
        </p:txBody>
      </p:sp>
      <p:pic>
        <p:nvPicPr>
          <p:cNvPr id="6" name="Picture 2" descr="@VeriNum">
            <a:extLst>
              <a:ext uri="{FF2B5EF4-FFF2-40B4-BE49-F238E27FC236}">
                <a16:creationId xmlns:a16="http://schemas.microsoft.com/office/drawing/2014/main" id="{CD78A6DD-8A28-B80D-C630-B3C5F4B4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3933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20ADFD-C6E3-659E-05A6-6AB2E8F7F8FB}"/>
              </a:ext>
            </a:extLst>
          </p:cNvPr>
          <p:cNvSpPr txBox="1"/>
          <p:nvPr/>
        </p:nvSpPr>
        <p:spPr>
          <a:xfrm>
            <a:off x="762000" y="3657600"/>
            <a:ext cx="72460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program:   </a:t>
            </a:r>
            <a:r>
              <a:rPr lang="en-US" dirty="0" err="1"/>
              <a:t>parsplit.h</a:t>
            </a:r>
            <a:r>
              <a:rPr lang="en-US" dirty="0"/>
              <a:t>, </a:t>
            </a:r>
            <a:r>
              <a:rPr lang="en-US" dirty="0" err="1"/>
              <a:t>parsplit.c</a:t>
            </a:r>
            <a:r>
              <a:rPr lang="en-US" dirty="0"/>
              <a:t>, </a:t>
            </a:r>
            <a:r>
              <a:rPr lang="en-US" dirty="0" err="1"/>
              <a:t>dotprod.h</a:t>
            </a:r>
            <a:r>
              <a:rPr lang="en-US" dirty="0"/>
              <a:t>, </a:t>
            </a:r>
            <a:r>
              <a:rPr lang="en-US" dirty="0" err="1"/>
              <a:t>dotprod.c</a:t>
            </a:r>
            <a:endParaRPr lang="en-US" dirty="0"/>
          </a:p>
          <a:p>
            <a:endParaRPr lang="en-US" dirty="0"/>
          </a:p>
          <a:p>
            <a:r>
              <a:rPr lang="en-US" dirty="0"/>
              <a:t>Specifications: </a:t>
            </a:r>
            <a:r>
              <a:rPr lang="en-US" dirty="0" err="1"/>
              <a:t>spec_parsplit.v</a:t>
            </a:r>
            <a:r>
              <a:rPr lang="en-US" dirty="0"/>
              <a:t>, and  </a:t>
            </a:r>
            <a:r>
              <a:rPr lang="en-US" dirty="0" err="1"/>
              <a:t>dotprod_spec</a:t>
            </a:r>
            <a:r>
              <a:rPr lang="en-US" dirty="0"/>
              <a:t> within </a:t>
            </a:r>
            <a:r>
              <a:rPr lang="en-US" dirty="0" err="1"/>
              <a:t>verif_dotprod.v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Proofs:  </a:t>
            </a:r>
            <a:r>
              <a:rPr lang="en-US" dirty="0" err="1"/>
              <a:t>verif_parsplit.v</a:t>
            </a:r>
            <a:r>
              <a:rPr lang="en-US" dirty="0"/>
              <a:t>, </a:t>
            </a:r>
            <a:r>
              <a:rPr lang="en-US" dirty="0" err="1"/>
              <a:t>verif_dotprod.v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3183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0B1C-7DED-B905-36DF-799F29AF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A4B6A5-3E09-8DD3-1F53-70C4A397A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800" dirty="0"/>
              <a:t>Barrier synchronization is a simple parallel programming model, easy to implement with ordinary semaphores, quite useful in many parallel applications</a:t>
            </a:r>
          </a:p>
          <a:p>
            <a:endParaRPr lang="en-US" sz="2800" dirty="0"/>
          </a:p>
          <a:p>
            <a:r>
              <a:rPr lang="en-US" sz="2800" dirty="0"/>
              <a:t>It’s straightforward to specify and verify barrier-synch. parallelism in VST</a:t>
            </a:r>
          </a:p>
          <a:p>
            <a:endParaRPr lang="en-US" sz="2800" dirty="0"/>
          </a:p>
          <a:p>
            <a:r>
              <a:rPr lang="en-US" sz="2800" dirty="0"/>
              <a:t>We have verified correctness of a simple task manager, useful for T-way fork-join parallelism.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45D92C-42AD-DCDE-C579-6F0A807E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86C0-20AF-4436-9657-2E51CD12131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7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/>
        <a:ea typeface=""/>
        <a:cs typeface=""/>
      </a:majorFont>
      <a:minorFont>
        <a:latin typeface="Cambria Mat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107145</TotalTime>
  <Words>5910</Words>
  <Application>Microsoft Macintosh PowerPoint</Application>
  <PresentationFormat>On-screen Show (4:3)</PresentationFormat>
  <Paragraphs>1034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Calibri</vt:lpstr>
      <vt:lpstr>Cambria</vt:lpstr>
      <vt:lpstr>Cambria Math</vt:lpstr>
      <vt:lpstr>Courier New</vt:lpstr>
      <vt:lpstr>Source Sans Pro</vt:lpstr>
      <vt:lpstr>Times</vt:lpstr>
      <vt:lpstr>Times New Roman</vt:lpstr>
      <vt:lpstr>Office Theme</vt:lpstr>
      <vt:lpstr>Parallel Dot Product</vt:lpstr>
      <vt:lpstr>Abstract</vt:lpstr>
      <vt:lpstr>Part 1:  The client program and API</vt:lpstr>
      <vt:lpstr>Simple Task Parallelism</vt:lpstr>
      <vt:lpstr>API for work-splitting</vt:lpstr>
      <vt:lpstr>Scenario</vt:lpstr>
      <vt:lpstr>Example: n=10, T=4</vt:lpstr>
      <vt:lpstr>Application-specific subtask function</vt:lpstr>
      <vt:lpstr>How the client uses the API</vt:lpstr>
      <vt:lpstr>Creating the task-descriptions</vt:lpstr>
      <vt:lpstr>dotprod_worker</vt:lpstr>
      <vt:lpstr>do_tasks( )</vt:lpstr>
      <vt:lpstr>make_tasks( ), initialize_task( )</vt:lpstr>
      <vt:lpstr>do_tasks( )</vt:lpstr>
      <vt:lpstr>That’s the entire dotprod.c client</vt:lpstr>
      <vt:lpstr>Part 2:  How the parallelism is implemented</vt:lpstr>
      <vt:lpstr>thread_worker( ), make_tasks( )</vt:lpstr>
      <vt:lpstr>thread_worker( ), make_tasks( )</vt:lpstr>
      <vt:lpstr>initialize_task ( )</vt:lpstr>
      <vt:lpstr>do_tasks ( )</vt:lpstr>
      <vt:lpstr>That’s the entire parsplit.c</vt:lpstr>
      <vt:lpstr>How to prove it</vt:lpstr>
      <vt:lpstr>Separation Logic</vt:lpstr>
      <vt:lpstr>Separation Logic</vt:lpstr>
      <vt:lpstr>Heaplets in Separation Logic</vt:lpstr>
      <vt:lpstr>Heaplets in Separation Logic</vt:lpstr>
      <vt:lpstr>Concurrent Separation Logics</vt:lpstr>
      <vt:lpstr>How to prove it</vt:lpstr>
      <vt:lpstr>Concurrent Separation Logics</vt:lpstr>
      <vt:lpstr>Concurrent Separation Logics</vt:lpstr>
      <vt:lpstr>Resource invariants</vt:lpstr>
      <vt:lpstr>Heaplets in Separation Logic</vt:lpstr>
      <vt:lpstr>Heaplets in Separation Logic</vt:lpstr>
      <vt:lpstr>Permission shares</vt:lpstr>
      <vt:lpstr>Resource invariants for parsplit</vt:lpstr>
      <vt:lpstr>Resource invariants for parsplit</vt:lpstr>
      <vt:lpstr>Resource invariants for parsplit</vt:lpstr>
      <vt:lpstr>Resource invariants for parsplit</vt:lpstr>
      <vt:lpstr>Resource invariants for parsplit</vt:lpstr>
      <vt:lpstr>Client-specific task predicate</vt:lpstr>
      <vt:lpstr>Questions and answers</vt:lpstr>
      <vt:lpstr>Resource invariants</vt:lpstr>
      <vt:lpstr>What question did I ask?</vt:lpstr>
      <vt:lpstr>Splitting shares</vt:lpstr>
      <vt:lpstr>Splitting shares</vt:lpstr>
      <vt:lpstr>Splitting shares</vt:lpstr>
      <vt:lpstr>Must also split shares of . . .</vt:lpstr>
      <vt:lpstr>The functional model</vt:lpstr>
      <vt:lpstr>Q.E.D.</vt:lpstr>
      <vt:lpstr>But does the program work?</vt:lpstr>
      <vt:lpstr>Lines of program and proof</vt:lpstr>
      <vt:lpstr>Where to find it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Verified Smallfoot</dc:title>
  <dc:creator>appel</dc:creator>
  <cp:lastModifiedBy>Andrew W. Appel</cp:lastModifiedBy>
  <cp:revision>406</cp:revision>
  <cp:lastPrinted>2025-05-20T17:25:17Z</cp:lastPrinted>
  <dcterms:created xsi:type="dcterms:W3CDTF">2011-07-15T14:05:55Z</dcterms:created>
  <dcterms:modified xsi:type="dcterms:W3CDTF">2025-05-20T18:34:45Z</dcterms:modified>
</cp:coreProperties>
</file>